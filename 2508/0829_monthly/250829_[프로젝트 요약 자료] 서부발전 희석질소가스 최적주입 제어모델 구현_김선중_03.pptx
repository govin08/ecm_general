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7"/>
  </p:notesMasterIdLst>
  <p:handoutMasterIdLst>
    <p:handoutMasterId r:id="rId8"/>
  </p:handoutMasterIdLst>
  <p:sldIdLst>
    <p:sldId id="3187" r:id="rId2"/>
    <p:sldId id="9585" r:id="rId3"/>
    <p:sldId id="9586" r:id="rId4"/>
    <p:sldId id="3195" r:id="rId5"/>
    <p:sldId id="8813" r:id="rId6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072C2"/>
    <a:srgbClr val="F38F15"/>
    <a:srgbClr val="FFFFCC"/>
    <a:srgbClr val="31859C"/>
    <a:srgbClr val="325F96"/>
    <a:srgbClr val="EE541E"/>
    <a:srgbClr val="A6A6A6"/>
    <a:srgbClr val="00FF00"/>
    <a:srgbClr val="31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90" autoAdjust="0"/>
    <p:restoredTop sz="92539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1152" y="108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8E540-B6E3-BF0D-9FDE-E71A3691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5515B3-EA4E-F8C6-CBDE-680362BF7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6F525F-FD9D-12B5-8F6A-D711CF494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7C07F-A632-803B-00F3-17B12B676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772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8CB6-F189-A88F-F9BB-3C30C751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043791-7E64-4922-208B-D02E91071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6328C-731B-0047-4028-17446AB06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171D79-EEBD-B32B-EE1F-787E17B4F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9570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 userDrawn="1"/>
        </p:nvSpPr>
        <p:spPr bwMode="auto">
          <a:xfrm>
            <a:off x="4797199" y="6525344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Text Box 1068"/>
          <p:cNvSpPr txBox="1">
            <a:spLocks noChangeArrowheads="1"/>
          </p:cNvSpPr>
          <p:nvPr userDrawn="1"/>
        </p:nvSpPr>
        <p:spPr bwMode="auto">
          <a:xfrm>
            <a:off x="-1513" y="6525344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Copyright © 2016 ECMiner.com.</a:t>
            </a:r>
            <a:r>
              <a:rPr kumimoji="0" lang="en-US" altLang="ko-KR" sz="700" b="0" i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7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All rights reserved   | 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2016. </a:t>
            </a:r>
            <a:r>
              <a:rPr kumimoji="0" lang="en-US" altLang="ko-KR" sz="700" b="0" i="0" dirty="0" err="1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3894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3" r:id="rId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/>
        </p:nvSpPr>
        <p:spPr bwMode="auto">
          <a:xfrm>
            <a:off x="413851" y="1154506"/>
            <a:ext cx="9097069" cy="2524426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16"/>
          <p:cNvSpPr>
            <a:spLocks noChangeArrowheads="1"/>
          </p:cNvSpPr>
          <p:nvPr/>
        </p:nvSpPr>
        <p:spPr bwMode="auto">
          <a:xfrm>
            <a:off x="518149" y="4256868"/>
            <a:ext cx="6451075" cy="507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en-US" altLang="ko-KR"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ECMinerLA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™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솔루션 기반의 </a:t>
            </a:r>
            <a:r>
              <a:rPr lang="ko-KR" altLang="en-US" sz="12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희석질소가스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최적주입 모델 개발 및 배포</a:t>
            </a:r>
            <a:endParaRPr lang="en-US" altLang="ko-KR" sz="1200" b="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열적 질소산화물 저감</a:t>
            </a:r>
            <a:endParaRPr lang="en-US" altLang="ko-KR" sz="1200" b="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6" name="Text Box 2"/>
          <p:cNvSpPr txBox="1">
            <a:spLocks noChangeArrowheads="1"/>
          </p:cNvSpPr>
          <p:nvPr/>
        </p:nvSpPr>
        <p:spPr bwMode="auto">
          <a:xfrm>
            <a:off x="266129" y="3921638"/>
            <a:ext cx="165381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수행 영역</a:t>
            </a: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279110" y="5073766"/>
            <a:ext cx="165381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수행 기간</a:t>
            </a:r>
          </a:p>
        </p:txBody>
      </p:sp>
      <p:sp>
        <p:nvSpPr>
          <p:cNvPr id="38" name="직사각형 4"/>
          <p:cNvSpPr>
            <a:spLocks noChangeArrowheads="1"/>
          </p:cNvSpPr>
          <p:nvPr/>
        </p:nvSpPr>
        <p:spPr bwMode="auto">
          <a:xfrm>
            <a:off x="516420" y="5405376"/>
            <a:ext cx="4543963" cy="507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latinLnBrk="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2025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년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7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월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~ 2025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년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10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월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(4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개월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marL="171450" indent="-171450" latinLnBrk="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</a:pP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대상 </a:t>
            </a:r>
            <a:r>
              <a:rPr lang="en-US" altLang="ko-KR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: </a:t>
            </a:r>
            <a:r>
              <a:rPr lang="ko-KR" alt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서부발전</a:t>
            </a: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0">
              <a:spcBef>
                <a:spcPct val="50000"/>
              </a:spcBef>
              <a:buClr>
                <a:srgbClr val="4D4D4D"/>
              </a:buClr>
            </a:pPr>
            <a:r>
              <a:rPr kumimoji="0" lang="ko-KR" altLang="en-US" sz="2000" dirty="0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서부발전 </a:t>
            </a:r>
            <a:r>
              <a:rPr kumimoji="0" lang="ko-KR" altLang="en-US" sz="2000" dirty="0" err="1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희석질소가스</a:t>
            </a:r>
            <a:r>
              <a:rPr kumimoji="0" lang="ko-KR" altLang="en-US" sz="2000" dirty="0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 최적주입 제어모델</a:t>
            </a:r>
            <a:r>
              <a:rPr kumimoji="0" lang="en-US" altLang="ko-KR" sz="2000" dirty="0">
                <a:solidFill>
                  <a:schemeClr val="bg1"/>
                </a:solidFill>
                <a:latin typeface="+mj-lt"/>
                <a:ea typeface="+mn-ea"/>
                <a:cs typeface="Arial" charset="0"/>
              </a:rPr>
              <a:t>(1/5)</a:t>
            </a: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292993" y="692696"/>
            <a:ext cx="8970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배경 및 목적</a:t>
            </a:r>
            <a:endParaRPr lang="en-US" altLang="ko-KR" dirty="0"/>
          </a:p>
        </p:txBody>
      </p:sp>
      <p:cxnSp>
        <p:nvCxnSpPr>
          <p:cNvPr id="4" name="직선 연결선 3"/>
          <p:cNvCxnSpPr>
            <a:cxnSpLocks/>
          </p:cNvCxnSpPr>
          <p:nvPr/>
        </p:nvCxnSpPr>
        <p:spPr>
          <a:xfrm>
            <a:off x="776536" y="2342535"/>
            <a:ext cx="8352928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 bwMode="auto">
          <a:xfrm>
            <a:off x="2024185" y="2304434"/>
            <a:ext cx="75791" cy="75791"/>
          </a:xfrm>
          <a:prstGeom prst="ellipse">
            <a:avLst/>
          </a:prstGeom>
          <a:solidFill>
            <a:schemeClr val="bg1"/>
          </a:solidFill>
          <a:ln>
            <a:solidFill>
              <a:srgbClr val="595959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544" y="2550914"/>
            <a:ext cx="2936304" cy="9434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atinLnBrk="0">
              <a:buClr>
                <a:srgbClr val="595959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</a:rPr>
              <a:t>가스터빈 </a:t>
            </a:r>
            <a:r>
              <a:rPr lang="ko-KR" altLang="en-US" sz="1200" dirty="0" err="1">
                <a:solidFill>
                  <a:schemeClr val="tx1"/>
                </a:solidFill>
              </a:rPr>
              <a:t>발전시</a:t>
            </a:r>
            <a:r>
              <a:rPr lang="ko-KR" altLang="en-US" sz="1200" dirty="0">
                <a:solidFill>
                  <a:schemeClr val="tx1"/>
                </a:solidFill>
              </a:rPr>
              <a:t> 열적 질소산화물의 과다 배출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latinLnBrk="0">
              <a:buClr>
                <a:srgbClr val="595959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</a:rPr>
              <a:t>가스터빈 발전효율 향상 필요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latinLnBrk="0">
              <a:buClr>
                <a:srgbClr val="595959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</a:rPr>
              <a:t>NPR,</a:t>
            </a:r>
            <a:r>
              <a:rPr lang="ko-KR" altLang="en-US" sz="1200" dirty="0">
                <a:solidFill>
                  <a:schemeClr val="tx1"/>
                </a:solidFill>
              </a:rPr>
              <a:t> 전력 등 안정성 문제 대두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00872" y="2550914"/>
            <a:ext cx="2636553" cy="9434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atinLnBrk="0">
              <a:buClr>
                <a:srgbClr val="31859C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희석질소 유입량을 조절하는 강화학습 알고리즘 적용</a:t>
            </a:r>
            <a:endParaRPr lang="en-US" altLang="ko-KR" sz="1200" dirty="0"/>
          </a:p>
          <a:p>
            <a:pPr latinLnBrk="0">
              <a:buClr>
                <a:srgbClr val="31859C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NPR, </a:t>
            </a:r>
            <a:r>
              <a:rPr lang="ko-KR" altLang="en-US" sz="1200" dirty="0"/>
              <a:t>부하 등의 값을 일정 범위 내에서 운용</a:t>
            </a:r>
          </a:p>
        </p:txBody>
      </p:sp>
      <p:sp>
        <p:nvSpPr>
          <p:cNvPr id="31" name="타원 30"/>
          <p:cNvSpPr/>
          <p:nvPr/>
        </p:nvSpPr>
        <p:spPr bwMode="auto">
          <a:xfrm>
            <a:off x="4919345" y="2304434"/>
            <a:ext cx="75791" cy="75791"/>
          </a:xfrm>
          <a:prstGeom prst="ellipse">
            <a:avLst/>
          </a:prstGeom>
          <a:solidFill>
            <a:schemeClr val="bg1"/>
          </a:solidFill>
          <a:ln>
            <a:solidFill>
              <a:srgbClr val="31859C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/>
          <p:cNvSpPr/>
          <p:nvPr/>
        </p:nvSpPr>
        <p:spPr bwMode="auto">
          <a:xfrm>
            <a:off x="8038348" y="2304434"/>
            <a:ext cx="75791" cy="75791"/>
          </a:xfrm>
          <a:prstGeom prst="ellipse">
            <a:avLst/>
          </a:prstGeom>
          <a:solidFill>
            <a:schemeClr val="bg1"/>
          </a:solidFill>
          <a:ln>
            <a:solidFill>
              <a:srgbClr val="CB400F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25208" y="2550914"/>
            <a:ext cx="2592288" cy="11614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lnSpc>
                <a:spcPts val="1700"/>
              </a:lnSpc>
              <a:buClr>
                <a:srgbClr val="D2470C"/>
              </a:buClr>
              <a:buFont typeface="Arial" pitchFamily="34" charset="0"/>
              <a:buChar char="•"/>
              <a:defRPr sz="105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atinLnBrk="0">
              <a:buClr>
                <a:srgbClr val="CB400F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CB400F"/>
                </a:solidFill>
              </a:rPr>
              <a:t>열적 질소산화물 배출량 최소화 및 환경 규제 대응</a:t>
            </a:r>
            <a:endParaRPr lang="en-US" altLang="ko-KR" sz="1200" dirty="0">
              <a:solidFill>
                <a:srgbClr val="CB400F"/>
              </a:solidFill>
            </a:endParaRPr>
          </a:p>
          <a:p>
            <a:pPr latinLnBrk="0">
              <a:buClr>
                <a:srgbClr val="CB400F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CB400F"/>
                </a:solidFill>
              </a:rPr>
              <a:t>가스터빈 효율 향상을 통한 연료비 절감 및 발전원가 경쟁력 강화</a:t>
            </a: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40" y="1701828"/>
            <a:ext cx="578612" cy="587796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411" y="1524000"/>
            <a:ext cx="499857" cy="819354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776" y="1441351"/>
            <a:ext cx="675000" cy="900000"/>
          </a:xfrm>
          <a:prstGeom prst="rect">
            <a:avLst/>
          </a:prstGeom>
        </p:spPr>
      </p:pic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11B45CBC-2057-AAE4-CE85-077838BA07FA}"/>
              </a:ext>
            </a:extLst>
          </p:cNvPr>
          <p:cNvSpPr txBox="1">
            <a:spLocks/>
          </p:cNvSpPr>
          <p:nvPr/>
        </p:nvSpPr>
        <p:spPr>
          <a:xfrm>
            <a:off x="6954000" y="282125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서부발전</a:t>
            </a:r>
          </a:p>
        </p:txBody>
      </p:sp>
    </p:spTree>
    <p:extLst>
      <p:ext uri="{BB962C8B-B14F-4D97-AF65-F5344CB8AC3E}">
        <p14:creationId xmlns:p14="http://schemas.microsoft.com/office/powerpoint/2010/main" val="250081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F622-8E34-DB84-9EA2-8128DF9E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3865667-4C6E-9AAA-6130-A0D7D135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pPr latinLnBrk="0">
              <a:spcBef>
                <a:spcPct val="50000"/>
              </a:spcBef>
              <a:buClr>
                <a:srgbClr val="4D4D4D"/>
              </a:buClr>
            </a:pPr>
            <a:r>
              <a:rPr lang="ko-KR" altLang="en-US" dirty="0">
                <a:solidFill>
                  <a:schemeClr val="bg1"/>
                </a:solidFill>
              </a:rPr>
              <a:t>서부발전 희석질소가스 최적주입 제어모델</a:t>
            </a:r>
            <a:r>
              <a:rPr lang="en-US" altLang="ko-KR" dirty="0">
                <a:solidFill>
                  <a:schemeClr val="bg1"/>
                </a:solidFill>
              </a:rPr>
              <a:t>(2/5)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F1FD2B2-CB32-F8B1-5383-813FB49661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400" dirty="0">
                <a:latin typeface="+mn-ea"/>
                <a:ea typeface="+mn-ea"/>
              </a:rPr>
              <a:t>강화학습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A2D30D35-CE20-77FE-FA93-B597EEC3B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1208415"/>
            <a:ext cx="4589397" cy="42370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" name="McK Footnote">
            <a:extLst>
              <a:ext uri="{FF2B5EF4-FFF2-40B4-BE49-F238E27FC236}">
                <a16:creationId xmlns:a16="http://schemas.microsoft.com/office/drawing/2014/main" id="{6A6684CD-BDB7-CA82-053B-F45A5C879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5989064"/>
            <a:ext cx="8167687" cy="47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574675" indent="-574675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031875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17613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404938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92288" defTabSz="895350"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tabLst>
                <a:tab pos="533400" algn="r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atinLnBrk="0"/>
            <a:r>
              <a:rPr kumimoji="0" lang="zh-CN" altLang="en-US" sz="1400" b="0">
                <a:solidFill>
                  <a:srgbClr val="000000"/>
                </a:solidFill>
                <a:latin typeface="+mn-ea"/>
                <a:ea typeface="+mn-ea"/>
              </a:rPr>
              <a:t>	*	</a:t>
            </a:r>
            <a:r>
              <a:rPr kumimoji="0" lang="en-US" altLang="zh-CN" sz="1400" b="0">
                <a:solidFill>
                  <a:srgbClr val="000000"/>
                </a:solidFill>
                <a:latin typeface="+mn-ea"/>
                <a:ea typeface="+mn-ea"/>
              </a:rPr>
              <a:t>Footnote</a:t>
            </a:r>
          </a:p>
          <a:p>
            <a:pPr latinLnBrk="0">
              <a:spcBef>
                <a:spcPct val="20000"/>
              </a:spcBef>
            </a:pPr>
            <a:r>
              <a:rPr kumimoji="0" lang="en-US" altLang="zh-CN" sz="1400" b="0">
                <a:solidFill>
                  <a:srgbClr val="000000"/>
                </a:solidFill>
                <a:latin typeface="+mn-ea"/>
                <a:ea typeface="+mn-ea"/>
              </a:rPr>
              <a:t>Source:		Source</a:t>
            </a:r>
          </a:p>
        </p:txBody>
      </p:sp>
      <p:sp>
        <p:nvSpPr>
          <p:cNvPr id="27" name="AutoShape 6">
            <a:extLst>
              <a:ext uri="{FF2B5EF4-FFF2-40B4-BE49-F238E27FC236}">
                <a16:creationId xmlns:a16="http://schemas.microsoft.com/office/drawing/2014/main" id="{04411BC8-B7C4-C777-5E0E-6D8E22207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35" y="1208415"/>
            <a:ext cx="4502981" cy="4237037"/>
          </a:xfrm>
          <a:prstGeom prst="homePlate">
            <a:avLst>
              <a:gd name="adj" fmla="val 1807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0C87F336-34F3-08C5-CEE5-FEC4AFD79B6F}"/>
              </a:ext>
            </a:extLst>
          </p:cNvPr>
          <p:cNvSpPr>
            <a:spLocks/>
          </p:cNvSpPr>
          <p:nvPr/>
        </p:nvSpPr>
        <p:spPr bwMode="auto">
          <a:xfrm>
            <a:off x="324835" y="1208415"/>
            <a:ext cx="3970414" cy="576262"/>
          </a:xfrm>
          <a:custGeom>
            <a:avLst/>
            <a:gdLst>
              <a:gd name="T0" fmla="*/ 3 w 1955"/>
              <a:gd name="T1" fmla="*/ 0 h 366"/>
              <a:gd name="T2" fmla="*/ 0 w 1955"/>
              <a:gd name="T3" fmla="*/ 366 h 366"/>
              <a:gd name="T4" fmla="*/ 1955 w 1955"/>
              <a:gd name="T5" fmla="*/ 366 h 366"/>
              <a:gd name="T6" fmla="*/ 1849 w 1955"/>
              <a:gd name="T7" fmla="*/ 2 h 366"/>
              <a:gd name="T8" fmla="*/ 3 w 1955"/>
              <a:gd name="T9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55" h="366">
                <a:moveTo>
                  <a:pt x="3" y="0"/>
                </a:moveTo>
                <a:lnTo>
                  <a:pt x="0" y="366"/>
                </a:lnTo>
                <a:lnTo>
                  <a:pt x="1955" y="366"/>
                </a:lnTo>
                <a:lnTo>
                  <a:pt x="1849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76609E9D-D82A-18FB-CD4E-398CDF23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1208415"/>
            <a:ext cx="4589397" cy="5794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5BE80715-9A99-7F19-AE35-A4521512B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1379865"/>
            <a:ext cx="237013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algn="ctr" latinLnBrk="0"/>
            <a:r>
              <a:rPr kumimoji="0" lang="ko-KR" altLang="en-US" sz="1400">
                <a:solidFill>
                  <a:srgbClr val="FFFFFF"/>
                </a:solidFill>
                <a:latin typeface="+mn-ea"/>
                <a:ea typeface="+mn-ea"/>
              </a:rPr>
              <a:t>일반적인 강화학습 알고리즘</a:t>
            </a:r>
            <a:endParaRPr kumimoji="0" lang="en-US" altLang="ko-KR" sz="1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508D25D3-DC87-9812-0241-50449606B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085" y="1382294"/>
            <a:ext cx="171353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algn="ctr" latinLnBrk="0"/>
            <a:r>
              <a:rPr kumimoji="0" lang="ko-KR" altLang="en-US" sz="1400" dirty="0">
                <a:solidFill>
                  <a:srgbClr val="FFFFFF"/>
                </a:solidFill>
                <a:latin typeface="+mn-ea"/>
                <a:ea typeface="+mn-ea"/>
              </a:rPr>
              <a:t>서부발전 솔루션</a:t>
            </a:r>
            <a:r>
              <a:rPr kumimoji="0" lang="en-US" altLang="ko-KR" sz="1400" dirty="0">
                <a:solidFill>
                  <a:srgbClr val="FFFF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992F1451-FAB0-0C71-8467-BA3A52234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97" y="2085940"/>
            <a:ext cx="378525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marL="1588" lvl="1" indent="0" latinLnBrk="0">
              <a:buNone/>
            </a:pP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agent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는 환경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(environment)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 내에서 특정한 상태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(state)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가 주어졌을 때 보상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(reward)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을 장기적으로 많이 받을 수 있도록 행동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(action)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을 선택한다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7FECAAC-5AB7-3F3E-3018-F6F6CC5C0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47" y="3483404"/>
            <a:ext cx="3869331" cy="1363946"/>
          </a:xfrm>
          <a:prstGeom prst="rect">
            <a:avLst/>
          </a:prstGeom>
        </p:spPr>
      </p:pic>
      <p:sp>
        <p:nvSpPr>
          <p:cNvPr id="36" name="Rectangle 11">
            <a:extLst>
              <a:ext uri="{FF2B5EF4-FFF2-40B4-BE49-F238E27FC236}">
                <a16:creationId xmlns:a16="http://schemas.microsoft.com/office/drawing/2014/main" id="{2565AD3D-0036-CA67-E44E-289B8A82A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723" y="2065586"/>
            <a:ext cx="37852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1pPr>
            <a:lvl2pPr marL="144463" indent="-142875" defTabSz="895350"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2pPr>
            <a:lvl3pPr marL="295275" indent="-149225" defTabSz="895350"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3pPr>
            <a:lvl4pPr marL="431800" indent="-134938" defTabSz="895350"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4pPr>
            <a:lvl5pPr marL="582613" indent="-149225" defTabSz="895350"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-윤고딕130" pitchFamily="18" charset="-127"/>
              </a:defRPr>
            </a:lvl9pPr>
          </a:lstStyle>
          <a:p>
            <a:pPr marL="1588" lvl="1" indent="0" latinLnBrk="0">
              <a:buNone/>
            </a:pP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전력발전소 운전자는 발전소 내에서 특정한 상태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(state)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가 주어졌을 때 목적변수가 </a:t>
            </a:r>
            <a:r>
              <a:rPr kumimoji="0" lang="ko-KR" altLang="en-US" sz="1400" b="0" dirty="0" err="1">
                <a:solidFill>
                  <a:srgbClr val="000000"/>
                </a:solidFill>
                <a:latin typeface="+mn-ea"/>
                <a:ea typeface="+mn-ea"/>
              </a:rPr>
              <a:t>목적값에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 가까워지도록 행동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(action)</a:t>
            </a:r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을 선택한다</a:t>
            </a:r>
            <a:r>
              <a:rPr kumimoji="0"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011B83-AFC0-5932-171D-1157824B4CAC}"/>
              </a:ext>
            </a:extLst>
          </p:cNvPr>
          <p:cNvSpPr txBox="1"/>
          <p:nvPr/>
        </p:nvSpPr>
        <p:spPr>
          <a:xfrm>
            <a:off x="6956418" y="3728857"/>
            <a:ext cx="7252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운전자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5F90B8-8112-6194-CACB-E67BAADE3962}"/>
              </a:ext>
            </a:extLst>
          </p:cNvPr>
          <p:cNvSpPr txBox="1"/>
          <p:nvPr/>
        </p:nvSpPr>
        <p:spPr>
          <a:xfrm>
            <a:off x="6642512" y="4629089"/>
            <a:ext cx="1190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dirty="0">
                <a:solidFill>
                  <a:srgbClr val="000000"/>
                </a:solidFill>
                <a:latin typeface="+mn-ea"/>
                <a:ea typeface="+mn-ea"/>
              </a:rPr>
              <a:t>전력발전소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263D5A-A5F4-2EAE-ED1B-DCCDC485961E}"/>
              </a:ext>
            </a:extLst>
          </p:cNvPr>
          <p:cNvSpPr txBox="1"/>
          <p:nvPr/>
        </p:nvSpPr>
        <p:spPr>
          <a:xfrm>
            <a:off x="5629203" y="4085945"/>
            <a:ext cx="9074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1100" b="0" dirty="0">
                <a:solidFill>
                  <a:srgbClr val="000000"/>
                </a:solidFill>
                <a:latin typeface="+mn-ea"/>
                <a:ea typeface="+mn-ea"/>
              </a:rPr>
              <a:t>NOx </a:t>
            </a:r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농도 저감</a:t>
            </a:r>
            <a:endParaRPr lang="ko-KR" altLang="en-US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46535E-09E7-8E58-A9FA-53B425C034EC}"/>
              </a:ext>
            </a:extLst>
          </p:cNvPr>
          <p:cNvSpPr txBox="1"/>
          <p:nvPr/>
        </p:nvSpPr>
        <p:spPr>
          <a:xfrm>
            <a:off x="8547663" y="4170584"/>
            <a:ext cx="9074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희석질소</a:t>
            </a:r>
            <a:endParaRPr lang="ko-KR" altLang="en-US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7DF119-0270-3DBC-6BBF-050D3161FFE8}"/>
              </a:ext>
            </a:extLst>
          </p:cNvPr>
          <p:cNvSpPr txBox="1"/>
          <p:nvPr/>
        </p:nvSpPr>
        <p:spPr>
          <a:xfrm>
            <a:off x="5014860" y="4094384"/>
            <a:ext cx="6849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발전소</a:t>
            </a:r>
            <a:endParaRPr kumimoji="0" lang="en-US" altLang="ko-KR" sz="1100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/>
            <a:r>
              <a:rPr kumimoji="0" lang="ko-KR" altLang="en-US" sz="1100" b="0" dirty="0">
                <a:solidFill>
                  <a:srgbClr val="000000"/>
                </a:solidFill>
                <a:latin typeface="+mn-ea"/>
                <a:ea typeface="+mn-ea"/>
              </a:rPr>
              <a:t>상태</a:t>
            </a:r>
            <a:endParaRPr lang="ko-KR" altLang="en-US" sz="11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BB62C7-05C9-B89F-86A1-700E54D89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서부발전 강화학습 솔루션 적용방안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191E30-5988-043F-42F5-DC7061E99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487" y="3656783"/>
            <a:ext cx="415348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66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EA33-C898-F493-D1D8-5D1F9413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">
            <a:extLst>
              <a:ext uri="{FF2B5EF4-FFF2-40B4-BE49-F238E27FC236}">
                <a16:creationId xmlns:a16="http://schemas.microsoft.com/office/drawing/2014/main" id="{5CF00FAF-9206-D8B3-CE0A-EE73D8B26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0" latinLnBrk="0">
              <a:spcBef>
                <a:spcPct val="50000"/>
              </a:spcBef>
              <a:buClr>
                <a:srgbClr val="4D4D4D"/>
              </a:buClr>
            </a:pPr>
            <a:r>
              <a:rPr kumimoji="0" lang="ko-KR" altLang="en-US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서부발전 </a:t>
            </a:r>
            <a:r>
              <a:rPr kumimoji="0" lang="ko-KR" altLang="en-US" sz="2000" dirty="0" err="1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희석질소가스</a:t>
            </a:r>
            <a:r>
              <a:rPr kumimoji="0" lang="ko-KR" altLang="en-US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 최적주입 제어모델</a:t>
            </a:r>
            <a:r>
              <a:rPr kumimoji="0" lang="en-US" altLang="ko-KR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(3/5)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28C9FDA-23BC-C8C7-FB70-BBBB181AB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993" y="692696"/>
            <a:ext cx="8970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솔루션 수행 절차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63B2BFA-1D6E-E742-A117-AAE1F1381D3A}"/>
              </a:ext>
            </a:extLst>
          </p:cNvPr>
          <p:cNvSpPr txBox="1">
            <a:spLocks/>
          </p:cNvSpPr>
          <p:nvPr/>
        </p:nvSpPr>
        <p:spPr>
          <a:xfrm>
            <a:off x="6954000" y="282125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서부발전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B9E5F3-DDC9-8DD3-1E66-3F86963A9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60262"/>
              </p:ext>
            </p:extLst>
          </p:nvPr>
        </p:nvGraphicFramePr>
        <p:xfrm>
          <a:off x="425522" y="1163671"/>
          <a:ext cx="8886968" cy="405452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21742">
                  <a:extLst>
                    <a:ext uri="{9D8B030D-6E8A-4147-A177-3AD203B41FA5}">
                      <a16:colId xmlns:a16="http://schemas.microsoft.com/office/drawing/2014/main" val="2533935430"/>
                    </a:ext>
                  </a:extLst>
                </a:gridCol>
                <a:gridCol w="2221742">
                  <a:extLst>
                    <a:ext uri="{9D8B030D-6E8A-4147-A177-3AD203B41FA5}">
                      <a16:colId xmlns:a16="http://schemas.microsoft.com/office/drawing/2014/main" val="2790894458"/>
                    </a:ext>
                  </a:extLst>
                </a:gridCol>
                <a:gridCol w="2221742">
                  <a:extLst>
                    <a:ext uri="{9D8B030D-6E8A-4147-A177-3AD203B41FA5}">
                      <a16:colId xmlns:a16="http://schemas.microsoft.com/office/drawing/2014/main" val="10936132"/>
                    </a:ext>
                  </a:extLst>
                </a:gridCol>
                <a:gridCol w="2221742">
                  <a:extLst>
                    <a:ext uri="{9D8B030D-6E8A-4147-A177-3AD203B41FA5}">
                      <a16:colId xmlns:a16="http://schemas.microsoft.com/office/drawing/2014/main" val="911827"/>
                    </a:ext>
                  </a:extLst>
                </a:gridCol>
              </a:tblGrid>
              <a:tr h="683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탐색적 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강화학습 알고리즘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정책 훈련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시뮬레이션 및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39767"/>
                  </a:ext>
                </a:extLst>
              </a:tr>
              <a:tr h="1685735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659128"/>
                  </a:ext>
                </a:extLst>
              </a:tr>
              <a:tr h="1685735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조업현황 시각화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상관관계 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Thermal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NOx </a:t>
                      </a:r>
                      <a:r>
                        <a:rPr lang="ko-KR" altLang="en-US" sz="1200" dirty="0"/>
                        <a:t>농도 영향인자 파악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강화학습 문제 정의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보상함수 설정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알고리즘 개발</a:t>
                      </a:r>
                      <a:r>
                        <a:rPr lang="en-US" altLang="ko-KR" sz="1200" dirty="0"/>
                        <a:t>(DDPG </a:t>
                      </a:r>
                      <a:r>
                        <a:rPr lang="ko-KR" altLang="en-US" sz="1200" dirty="0"/>
                        <a:t>계열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정책 훈련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계절별 최적 정책 도출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가상환경 구축 및 시뮬레이션 테스트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현장 상황에 알맞게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27581"/>
                  </a:ext>
                </a:extLst>
              </a:tr>
            </a:tbl>
          </a:graphicData>
        </a:graphic>
      </p:graphicFrame>
      <p:pic>
        <p:nvPicPr>
          <p:cNvPr id="9" name="Picture 2">
            <a:extLst>
              <a:ext uri="{FF2B5EF4-FFF2-40B4-BE49-F238E27FC236}">
                <a16:creationId xmlns:a16="http://schemas.microsoft.com/office/drawing/2014/main" id="{8875E066-16E8-6100-792A-7ABBFA7D6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658" y="1935690"/>
            <a:ext cx="2139951" cy="14838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9D673F82-04E2-6941-8C8F-606B65C67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891" y="1941745"/>
            <a:ext cx="2178210" cy="148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BCB58E1-C37A-4069-36DE-BB7B65CE2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665" y="1935690"/>
            <a:ext cx="2073837" cy="1444612"/>
          </a:xfrm>
          <a:prstGeom prst="rect">
            <a:avLst/>
          </a:prstGeom>
        </p:spPr>
      </p:pic>
      <p:pic>
        <p:nvPicPr>
          <p:cNvPr id="1028" name="Picture 4" descr="Exploratory Analysis Icons - Free SVG &amp; PNG Exploratory ...">
            <a:extLst>
              <a:ext uri="{FF2B5EF4-FFF2-40B4-BE49-F238E27FC236}">
                <a16:creationId xmlns:a16="http://schemas.microsoft.com/office/drawing/2014/main" id="{C5088E35-8BD7-2AC6-70D1-24A50DF48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99" y="1935690"/>
            <a:ext cx="1580167" cy="158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24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292993" y="692696"/>
            <a:ext cx="89709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marL="179388" indent="-179388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kumimoji="0" sz="1600">
                <a:solidFill>
                  <a:prstClr val="black"/>
                </a:solidFill>
                <a:latin typeface="맑은 고딕"/>
                <a:ea typeface="맑은 고딕"/>
              </a:defRPr>
            </a:lvl1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솔루션 </a:t>
            </a:r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수행 내용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200472" y="81445"/>
            <a:ext cx="9450387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0" latinLnBrk="0">
              <a:spcBef>
                <a:spcPct val="50000"/>
              </a:spcBef>
              <a:buClr>
                <a:srgbClr val="4D4D4D"/>
              </a:buClr>
            </a:pPr>
            <a:r>
              <a:rPr kumimoji="0" lang="ko-KR" altLang="en-US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서부발전 </a:t>
            </a:r>
            <a:r>
              <a:rPr kumimoji="0" lang="ko-KR" altLang="en-US" sz="2000" dirty="0" err="1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희석질소가스</a:t>
            </a:r>
            <a:r>
              <a:rPr kumimoji="0" lang="ko-KR" altLang="en-US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 최적주입 제어모델</a:t>
            </a:r>
            <a:r>
              <a:rPr kumimoji="0" lang="en-US" altLang="ko-KR" sz="2000" dirty="0">
                <a:solidFill>
                  <a:prstClr val="white"/>
                </a:solidFill>
                <a:latin typeface="맑은 고딕"/>
                <a:ea typeface="맑은 고딕"/>
                <a:cs typeface="Arial" charset="0"/>
              </a:rPr>
              <a:t>(4/5)</a:t>
            </a:r>
          </a:p>
        </p:txBody>
      </p:sp>
      <p:sp>
        <p:nvSpPr>
          <p:cNvPr id="417" name="AutoShape 375" descr="어두운 하향 대각선"/>
          <p:cNvSpPr>
            <a:spLocks noChangeArrowheads="1"/>
          </p:cNvSpPr>
          <p:nvPr/>
        </p:nvSpPr>
        <p:spPr bwMode="auto">
          <a:xfrm>
            <a:off x="453232" y="1196752"/>
            <a:ext cx="8999537" cy="2087563"/>
          </a:xfrm>
          <a:prstGeom prst="hexagon">
            <a:avLst>
              <a:gd name="adj" fmla="val 9823"/>
              <a:gd name="vf" fmla="val 115470"/>
            </a:avLst>
          </a:prstGeom>
          <a:pattFill prst="dkDnDiag">
            <a:fgClr>
              <a:srgbClr val="B5CEE7"/>
            </a:fgClr>
            <a:bgClr>
              <a:srgbClr val="FFFFFF"/>
            </a:bgClr>
          </a:pattFill>
          <a:ln w="9525" algn="ctr">
            <a:solidFill>
              <a:srgbClr val="85AED7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18" name="Rectangle 406"/>
          <p:cNvSpPr>
            <a:spLocks noChangeArrowheads="1"/>
          </p:cNvSpPr>
          <p:nvPr/>
        </p:nvSpPr>
        <p:spPr bwMode="auto">
          <a:xfrm>
            <a:off x="7954494" y="2078538"/>
            <a:ext cx="1186752" cy="34607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4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19" name="Rectangle 408"/>
          <p:cNvSpPr>
            <a:spLocks noChangeArrowheads="1"/>
          </p:cNvSpPr>
          <p:nvPr/>
        </p:nvSpPr>
        <p:spPr bwMode="auto">
          <a:xfrm>
            <a:off x="7952846" y="1646738"/>
            <a:ext cx="1188400" cy="3492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r>
              <a:rPr lang="en-US" altLang="ko-KR" sz="14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	</a:t>
            </a:r>
            <a:endParaRPr lang="ko-KR" altLang="en-US" sz="14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0" name="Text Box 422"/>
          <p:cNvSpPr txBox="1">
            <a:spLocks noChangeArrowheads="1"/>
          </p:cNvSpPr>
          <p:nvPr/>
        </p:nvSpPr>
        <p:spPr bwMode="auto">
          <a:xfrm>
            <a:off x="7942064" y="2063168"/>
            <a:ext cx="107433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NPR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값 유지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1" name="Text Box 423"/>
          <p:cNvSpPr txBox="1">
            <a:spLocks noChangeArrowheads="1"/>
          </p:cNvSpPr>
          <p:nvPr/>
        </p:nvSpPr>
        <p:spPr bwMode="auto">
          <a:xfrm>
            <a:off x="7942064" y="1684838"/>
            <a:ext cx="128973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r>
              <a:rPr lang="en-US" altLang="ko-KR" sz="12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NOx </a:t>
            </a:r>
            <a:r>
              <a:rPr lang="ko-KR" altLang="en-US" sz="12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농도 예측</a:t>
            </a:r>
          </a:p>
        </p:txBody>
      </p:sp>
      <p:grpSp>
        <p:nvGrpSpPr>
          <p:cNvPr id="422" name="Group 37"/>
          <p:cNvGrpSpPr>
            <a:grpSpLocks/>
          </p:cNvGrpSpPr>
          <p:nvPr/>
        </p:nvGrpSpPr>
        <p:grpSpPr bwMode="auto">
          <a:xfrm>
            <a:off x="704389" y="1403851"/>
            <a:ext cx="1914112" cy="269875"/>
            <a:chOff x="3625" y="1575"/>
            <a:chExt cx="519" cy="170"/>
          </a:xfrm>
        </p:grpSpPr>
        <p:sp>
          <p:nvSpPr>
            <p:cNvPr id="455" name="AutoShape 38"/>
            <p:cNvSpPr>
              <a:spLocks noChangeArrowheads="1"/>
            </p:cNvSpPr>
            <p:nvPr/>
          </p:nvSpPr>
          <p:spPr bwMode="auto">
            <a:xfrm>
              <a:off x="3625" y="1575"/>
              <a:ext cx="512" cy="170"/>
            </a:xfrm>
            <a:prstGeom prst="roundRect">
              <a:avLst>
                <a:gd name="adj" fmla="val 16667"/>
              </a:avLst>
            </a:prstGeom>
            <a:solidFill>
              <a:srgbClr val="5990C7"/>
            </a:solidFill>
            <a:ln w="9525" algn="ctr">
              <a:solidFill>
                <a:srgbClr val="4D89C5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defTabSz="762000" latinLnBrk="0"/>
              <a:endParaRPr lang="ko-KR" altLang="en-US" sz="1200" b="1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456" name="AutoShape 39"/>
            <p:cNvSpPr>
              <a:spLocks noChangeArrowheads="1"/>
            </p:cNvSpPr>
            <p:nvPr/>
          </p:nvSpPr>
          <p:spPr bwMode="auto">
            <a:xfrm>
              <a:off x="3625" y="1602"/>
              <a:ext cx="519" cy="124"/>
            </a:xfrm>
            <a:prstGeom prst="roundRect">
              <a:avLst>
                <a:gd name="adj" fmla="val 12120"/>
              </a:avLst>
            </a:prstGeom>
            <a:noFill/>
            <a:ln w="12700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kumimoji="0" lang="ko-KR" altLang="en-US" sz="1200" b="1" dirty="0">
                  <a:solidFill>
                    <a:srgbClr val="FFFFFF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상태인자 계측</a:t>
              </a:r>
              <a:endParaRPr kumimoji="0" lang="en-US" altLang="ko-KR" sz="1200" b="1" dirty="0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423" name="Text Box 40"/>
          <p:cNvSpPr txBox="1">
            <a:spLocks noChangeArrowheads="1"/>
          </p:cNvSpPr>
          <p:nvPr/>
        </p:nvSpPr>
        <p:spPr bwMode="auto">
          <a:xfrm>
            <a:off x="669256" y="1708650"/>
            <a:ext cx="1923428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합성가스 유량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4" name="Text Box 41"/>
          <p:cNvSpPr txBox="1">
            <a:spLocks noChangeArrowheads="1"/>
          </p:cNvSpPr>
          <p:nvPr/>
        </p:nvSpPr>
        <p:spPr bwMode="auto">
          <a:xfrm>
            <a:off x="674202" y="2131152"/>
            <a:ext cx="1414695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발전기 출력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5" name="Text Box 42"/>
          <p:cNvSpPr txBox="1">
            <a:spLocks noChangeArrowheads="1"/>
          </p:cNvSpPr>
          <p:nvPr/>
        </p:nvSpPr>
        <p:spPr bwMode="auto">
          <a:xfrm>
            <a:off x="677498" y="2553654"/>
            <a:ext cx="1529682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en-US" altLang="ko-KR" sz="1200" b="1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NPR manifold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etc.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28" name="AutoShape 359"/>
          <p:cNvSpPr>
            <a:spLocks noChangeArrowheads="1"/>
          </p:cNvSpPr>
          <p:nvPr/>
        </p:nvSpPr>
        <p:spPr bwMode="auto">
          <a:xfrm>
            <a:off x="3045955" y="1653820"/>
            <a:ext cx="1470254" cy="1465903"/>
          </a:xfrm>
          <a:prstGeom prst="roundRect">
            <a:avLst>
              <a:gd name="adj" fmla="val 16667"/>
            </a:avLst>
          </a:prstGeom>
          <a:solidFill>
            <a:srgbClr val="DFEAF5"/>
          </a:solidFill>
          <a:ln w="9525" algn="ctr">
            <a:solidFill>
              <a:srgbClr val="85AED7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429" name="Group 71"/>
          <p:cNvGrpSpPr>
            <a:grpSpLocks/>
          </p:cNvGrpSpPr>
          <p:nvPr/>
        </p:nvGrpSpPr>
        <p:grpSpPr bwMode="auto">
          <a:xfrm>
            <a:off x="3105293" y="1383723"/>
            <a:ext cx="1338393" cy="269875"/>
            <a:chOff x="3616" y="1348"/>
            <a:chExt cx="521" cy="170"/>
          </a:xfrm>
        </p:grpSpPr>
        <p:sp>
          <p:nvSpPr>
            <p:cNvPr id="446" name="AutoShape 72"/>
            <p:cNvSpPr>
              <a:spLocks noChangeArrowheads="1"/>
            </p:cNvSpPr>
            <p:nvPr/>
          </p:nvSpPr>
          <p:spPr bwMode="auto">
            <a:xfrm>
              <a:off x="3625" y="1348"/>
              <a:ext cx="512" cy="170"/>
            </a:xfrm>
            <a:prstGeom prst="roundRect">
              <a:avLst>
                <a:gd name="adj" fmla="val 16667"/>
              </a:avLst>
            </a:prstGeom>
            <a:solidFill>
              <a:srgbClr val="5990C7"/>
            </a:solidFill>
            <a:ln w="9525" algn="ctr">
              <a:solidFill>
                <a:srgbClr val="4D89C5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defTabSz="762000" latinLnBrk="0"/>
              <a:endParaRPr lang="ko-KR" altLang="en-US" sz="1200" b="1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447" name="AutoShape 73"/>
            <p:cNvSpPr>
              <a:spLocks noChangeArrowheads="1"/>
            </p:cNvSpPr>
            <p:nvPr/>
          </p:nvSpPr>
          <p:spPr bwMode="auto">
            <a:xfrm>
              <a:off x="3616" y="1361"/>
              <a:ext cx="517" cy="124"/>
            </a:xfrm>
            <a:prstGeom prst="roundRect">
              <a:avLst>
                <a:gd name="adj" fmla="val 12120"/>
              </a:avLst>
            </a:prstGeom>
            <a:noFill/>
            <a:ln w="12700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kumimoji="0" lang="ko-KR" altLang="en-US" sz="1200" b="1" dirty="0">
                  <a:solidFill>
                    <a:srgbClr val="FFFFFF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제어인자 조정</a:t>
              </a:r>
              <a:endParaRPr kumimoji="0" lang="en-US" altLang="ko-KR" sz="1200" b="1" dirty="0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430" name="AutoShape 36"/>
          <p:cNvSpPr>
            <a:spLocks noChangeArrowheads="1"/>
          </p:cNvSpPr>
          <p:nvPr/>
        </p:nvSpPr>
        <p:spPr bwMode="auto">
          <a:xfrm>
            <a:off x="4600271" y="2073246"/>
            <a:ext cx="456569" cy="418981"/>
          </a:xfrm>
          <a:prstGeom prst="rightArrow">
            <a:avLst>
              <a:gd name="adj1" fmla="val 65602"/>
              <a:gd name="adj2" fmla="val 37225"/>
            </a:avLst>
          </a:prstGeom>
          <a:gradFill rotWithShape="1">
            <a:gsLst>
              <a:gs pos="0">
                <a:schemeClr val="bg1"/>
              </a:gs>
              <a:gs pos="100000">
                <a:schemeClr val="hlink"/>
              </a:gs>
            </a:gsLst>
            <a:lin ang="0" scaled="1"/>
          </a:gra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431" name="Group 427"/>
          <p:cNvGrpSpPr>
            <a:grpSpLocks/>
          </p:cNvGrpSpPr>
          <p:nvPr/>
        </p:nvGrpSpPr>
        <p:grpSpPr bwMode="auto">
          <a:xfrm>
            <a:off x="7431238" y="1837238"/>
            <a:ext cx="504288" cy="430213"/>
            <a:chOff x="2823" y="3039"/>
            <a:chExt cx="306" cy="271"/>
          </a:xfrm>
        </p:grpSpPr>
        <p:cxnSp>
          <p:nvCxnSpPr>
            <p:cNvPr id="444" name="AutoShape 410"/>
            <p:cNvCxnSpPr>
              <a:cxnSpLocks noChangeShapeType="1"/>
            </p:cNvCxnSpPr>
            <p:nvPr/>
          </p:nvCxnSpPr>
          <p:spPr bwMode="auto">
            <a:xfrm rot="10800000" flipH="1" flipV="1">
              <a:off x="3128" y="3039"/>
              <a:ext cx="1" cy="271"/>
            </a:xfrm>
            <a:prstGeom prst="bentConnector3">
              <a:avLst>
                <a:gd name="adj1" fmla="val -4800000"/>
              </a:avLst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</p:cxnSp>
        <p:sp>
          <p:nvSpPr>
            <p:cNvPr id="445" name="Line 411"/>
            <p:cNvSpPr>
              <a:spLocks noChangeShapeType="1"/>
            </p:cNvSpPr>
            <p:nvPr/>
          </p:nvSpPr>
          <p:spPr bwMode="auto">
            <a:xfrm rot="5400000" flipH="1" flipV="1">
              <a:off x="2951" y="3046"/>
              <a:ext cx="1" cy="25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endParaRPr lang="ko-KR" altLang="en-US">
                <a:latin typeface="+mn-ea"/>
                <a:ea typeface="+mn-ea"/>
              </a:endParaRPr>
            </a:p>
          </p:txBody>
        </p:sp>
      </p:grpSp>
      <p:grpSp>
        <p:nvGrpSpPr>
          <p:cNvPr id="432" name="Group 426"/>
          <p:cNvGrpSpPr>
            <a:grpSpLocks/>
          </p:cNvGrpSpPr>
          <p:nvPr/>
        </p:nvGrpSpPr>
        <p:grpSpPr bwMode="auto">
          <a:xfrm>
            <a:off x="7429361" y="2046788"/>
            <a:ext cx="379086" cy="622300"/>
            <a:chOff x="3018" y="3201"/>
            <a:chExt cx="46" cy="242"/>
          </a:xfrm>
        </p:grpSpPr>
        <p:sp>
          <p:nvSpPr>
            <p:cNvPr id="442" name="Line 411"/>
            <p:cNvSpPr>
              <a:spLocks noChangeShapeType="1"/>
            </p:cNvSpPr>
            <p:nvPr/>
          </p:nvSpPr>
          <p:spPr bwMode="auto">
            <a:xfrm flipH="1" flipV="1">
              <a:off x="3019" y="3201"/>
              <a:ext cx="1" cy="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443" name="Line 412"/>
            <p:cNvSpPr>
              <a:spLocks noChangeShapeType="1"/>
            </p:cNvSpPr>
            <p:nvPr/>
          </p:nvSpPr>
          <p:spPr bwMode="auto">
            <a:xfrm flipV="1">
              <a:off x="3018" y="3201"/>
              <a:ext cx="46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endParaRPr lang="ko-KR" altLang="en-US">
                <a:latin typeface="+mn-ea"/>
                <a:ea typeface="+mn-ea"/>
              </a:endParaRPr>
            </a:p>
          </p:txBody>
        </p:sp>
      </p:grpSp>
      <p:grpSp>
        <p:nvGrpSpPr>
          <p:cNvPr id="434" name="그룹 433"/>
          <p:cNvGrpSpPr>
            <a:grpSpLocks/>
          </p:cNvGrpSpPr>
          <p:nvPr/>
        </p:nvGrpSpPr>
        <p:grpSpPr bwMode="auto">
          <a:xfrm>
            <a:off x="6799336" y="2391867"/>
            <a:ext cx="1232903" cy="715376"/>
            <a:chOff x="8196774" y="3564527"/>
            <a:chExt cx="1187452" cy="715360"/>
          </a:xfrm>
        </p:grpSpPr>
        <p:sp>
          <p:nvSpPr>
            <p:cNvPr id="439" name="Oval 394"/>
            <p:cNvSpPr>
              <a:spLocks noChangeArrowheads="1"/>
            </p:cNvSpPr>
            <p:nvPr/>
          </p:nvSpPr>
          <p:spPr bwMode="auto">
            <a:xfrm>
              <a:off x="8326676" y="3608389"/>
              <a:ext cx="935039" cy="671498"/>
            </a:xfrm>
            <a:prstGeom prst="ellipse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>
              <a:outerShdw dist="40161" dir="4293903" algn="ctr" rotWithShape="0">
                <a:srgbClr val="7AA7D4"/>
              </a:outerShdw>
            </a:effectLst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>
                <a:defRPr/>
              </a:pPr>
              <a:endPara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charset="0"/>
                <a:sym typeface="Wingdings" pitchFamily="2" charset="2"/>
              </a:endParaRPr>
            </a:p>
          </p:txBody>
        </p:sp>
        <p:sp>
          <p:nvSpPr>
            <p:cNvPr id="440" name="Oval 395"/>
            <p:cNvSpPr>
              <a:spLocks noChangeArrowheads="1"/>
            </p:cNvSpPr>
            <p:nvPr/>
          </p:nvSpPr>
          <p:spPr bwMode="auto">
            <a:xfrm>
              <a:off x="8321906" y="3564527"/>
              <a:ext cx="939809" cy="674671"/>
            </a:xfrm>
            <a:prstGeom prst="ellipse">
              <a:avLst/>
            </a:prstGeom>
            <a:gradFill rotWithShape="0">
              <a:gsLst>
                <a:gs pos="0">
                  <a:srgbClr val="7BA7D3"/>
                </a:gs>
                <a:gs pos="100000">
                  <a:srgbClr val="D7E4F2"/>
                </a:gs>
              </a:gsLst>
              <a:lin ang="5400000" scaled="1"/>
            </a:gradFill>
            <a:ln w="9525">
              <a:solidFill>
                <a:srgbClr val="488CCA"/>
              </a:solidFill>
              <a:round/>
              <a:headEnd/>
              <a:tailEnd/>
            </a:ln>
            <a:effectLst>
              <a:outerShdw dist="40161" dir="4293903" algn="ctr" rotWithShape="0">
                <a:srgbClr val="7AA7D4"/>
              </a:outerShdw>
            </a:effectLst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>
                <a:defRPr/>
              </a:pPr>
              <a:endParaRPr lang="ko-KR" altLang="en-US" sz="1200" b="1">
                <a:solidFill>
                  <a:srgbClr val="000000"/>
                </a:solidFill>
                <a:latin typeface="+mn-ea"/>
                <a:ea typeface="+mn-ea"/>
                <a:cs typeface="Arial" charset="0"/>
                <a:sym typeface="Wingdings" pitchFamily="2" charset="2"/>
              </a:endParaRPr>
            </a:p>
          </p:txBody>
        </p:sp>
        <p:sp>
          <p:nvSpPr>
            <p:cNvPr id="441" name="Text Box 419"/>
            <p:cNvSpPr txBox="1">
              <a:spLocks noChangeArrowheads="1"/>
            </p:cNvSpPr>
            <p:nvPr/>
          </p:nvSpPr>
          <p:spPr bwMode="auto">
            <a:xfrm>
              <a:off x="8196774" y="3592881"/>
              <a:ext cx="1187452" cy="646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실시간</a:t>
              </a:r>
              <a:r>
                <a:rPr lang="en-US" altLang="ko-KR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/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주기적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000000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모니터링</a:t>
              </a:r>
            </a:p>
          </p:txBody>
        </p:sp>
      </p:grpSp>
      <p:sp>
        <p:nvSpPr>
          <p:cNvPr id="435" name="타원 434"/>
          <p:cNvSpPr/>
          <p:nvPr/>
        </p:nvSpPr>
        <p:spPr bwMode="auto">
          <a:xfrm>
            <a:off x="2843563" y="1373516"/>
            <a:ext cx="263723" cy="2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36" name="타원 435"/>
          <p:cNvSpPr/>
          <p:nvPr/>
        </p:nvSpPr>
        <p:spPr bwMode="auto">
          <a:xfrm>
            <a:off x="5019683" y="1378045"/>
            <a:ext cx="263723" cy="2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37" name="타원 436"/>
          <p:cNvSpPr/>
          <p:nvPr/>
        </p:nvSpPr>
        <p:spPr bwMode="auto">
          <a:xfrm>
            <a:off x="6851804" y="2408738"/>
            <a:ext cx="263723" cy="254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38" name="AutoShape 36"/>
          <p:cNvSpPr>
            <a:spLocks noChangeArrowheads="1"/>
          </p:cNvSpPr>
          <p:nvPr/>
        </p:nvSpPr>
        <p:spPr bwMode="auto">
          <a:xfrm>
            <a:off x="2541464" y="2073246"/>
            <a:ext cx="456569" cy="418981"/>
          </a:xfrm>
          <a:prstGeom prst="rightArrow">
            <a:avLst>
              <a:gd name="adj1" fmla="val 65602"/>
              <a:gd name="adj2" fmla="val 37225"/>
            </a:avLst>
          </a:prstGeom>
          <a:gradFill rotWithShape="1">
            <a:gsLst>
              <a:gs pos="0">
                <a:schemeClr val="bg1"/>
              </a:gs>
              <a:gs pos="100000">
                <a:schemeClr val="hlink"/>
              </a:gs>
            </a:gsLst>
            <a:lin ang="0" scaled="1"/>
          </a:gra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" name="Text Box 42">
            <a:extLst>
              <a:ext uri="{FF2B5EF4-FFF2-40B4-BE49-F238E27FC236}">
                <a16:creationId xmlns:a16="http://schemas.microsoft.com/office/drawing/2014/main" id="{6CA5AA0C-343E-EC76-30B3-A915E9838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464" y="2703088"/>
            <a:ext cx="1214567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latinLnBrk="0"/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희석질소주입량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3B3BE3C-DEFA-0C59-A7BD-7B995932F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436" y="1808194"/>
            <a:ext cx="884923" cy="762313"/>
          </a:xfrm>
          <a:prstGeom prst="rect">
            <a:avLst/>
          </a:prstGeom>
        </p:spPr>
      </p:pic>
      <p:sp>
        <p:nvSpPr>
          <p:cNvPr id="15" name="AutoShape 359">
            <a:extLst>
              <a:ext uri="{FF2B5EF4-FFF2-40B4-BE49-F238E27FC236}">
                <a16:creationId xmlns:a16="http://schemas.microsoft.com/office/drawing/2014/main" id="{5AC5FA48-9330-3A45-F9F4-5AC357A22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224" y="1653820"/>
            <a:ext cx="1470254" cy="1465903"/>
          </a:xfrm>
          <a:prstGeom prst="roundRect">
            <a:avLst>
              <a:gd name="adj" fmla="val 16667"/>
            </a:avLst>
          </a:prstGeom>
          <a:solidFill>
            <a:srgbClr val="DFEAF5"/>
          </a:solidFill>
          <a:ln w="9525" algn="ctr">
            <a:solidFill>
              <a:srgbClr val="85AED7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endParaRPr lang="ko-KR" altLang="en-US" sz="1200" b="1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16" name="Group 71">
            <a:extLst>
              <a:ext uri="{FF2B5EF4-FFF2-40B4-BE49-F238E27FC236}">
                <a16:creationId xmlns:a16="http://schemas.microsoft.com/office/drawing/2014/main" id="{AFAC6C76-AF08-9058-53B4-492DD035C9A4}"/>
              </a:ext>
            </a:extLst>
          </p:cNvPr>
          <p:cNvGrpSpPr>
            <a:grpSpLocks/>
          </p:cNvGrpSpPr>
          <p:nvPr/>
        </p:nvGrpSpPr>
        <p:grpSpPr bwMode="auto">
          <a:xfrm>
            <a:off x="5270562" y="1383723"/>
            <a:ext cx="1338393" cy="269875"/>
            <a:chOff x="3616" y="1348"/>
            <a:chExt cx="521" cy="170"/>
          </a:xfrm>
        </p:grpSpPr>
        <p:sp>
          <p:nvSpPr>
            <p:cNvPr id="17" name="AutoShape 72">
              <a:extLst>
                <a:ext uri="{FF2B5EF4-FFF2-40B4-BE49-F238E27FC236}">
                  <a16:creationId xmlns:a16="http://schemas.microsoft.com/office/drawing/2014/main" id="{2DBB9DD2-ED36-86ED-91F3-A6C492FA8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1348"/>
              <a:ext cx="512" cy="170"/>
            </a:xfrm>
            <a:prstGeom prst="roundRect">
              <a:avLst>
                <a:gd name="adj" fmla="val 16667"/>
              </a:avLst>
            </a:prstGeom>
            <a:solidFill>
              <a:srgbClr val="5990C7"/>
            </a:solidFill>
            <a:ln w="9525" algn="ctr">
              <a:solidFill>
                <a:srgbClr val="4D89C5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defTabSz="762000" latinLnBrk="0"/>
              <a:endParaRPr lang="ko-KR" altLang="en-US" sz="1200" b="1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8" name="AutoShape 73">
              <a:extLst>
                <a:ext uri="{FF2B5EF4-FFF2-40B4-BE49-F238E27FC236}">
                  <a16:creationId xmlns:a16="http://schemas.microsoft.com/office/drawing/2014/main" id="{ABF94861-E42C-E00C-D547-4BBB62C6B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1361"/>
              <a:ext cx="517" cy="124"/>
            </a:xfrm>
            <a:prstGeom prst="roundRect">
              <a:avLst>
                <a:gd name="adj" fmla="val 12120"/>
              </a:avLst>
            </a:prstGeom>
            <a:noFill/>
            <a:ln w="12700" algn="ctr">
              <a:noFill/>
              <a:round/>
              <a:headEnd/>
              <a:tailEnd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5pPr>
              <a:lvl6pPr marL="22860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6pPr>
              <a:lvl7pPr marL="27432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7pPr>
              <a:lvl8pPr marL="32004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8pPr>
              <a:lvl9pPr marL="3657600" algn="l" defTabSz="914400" rtl="0" eaLnBrk="1" latinLnBrk="1" hangingPunct="1">
                <a:defRPr kumimoji="1" sz="1400" b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  <a:sym typeface="Wingdings" pitchFamily="2" charset="2"/>
                </a:defRPr>
              </a:lvl9pPr>
            </a:lstStyle>
            <a:p>
              <a:pPr algn="ctr" latinLnBrk="0"/>
              <a:r>
                <a:rPr kumimoji="0" lang="ko-KR" altLang="en-US" sz="1200" b="1" dirty="0">
                  <a:solidFill>
                    <a:srgbClr val="FFFFFF"/>
                  </a:solidFill>
                  <a:latin typeface="+mn-ea"/>
                  <a:ea typeface="+mn-ea"/>
                  <a:cs typeface="Arial" pitchFamily="34" charset="0"/>
                  <a:sym typeface="Wingdings" pitchFamily="2" charset="2"/>
                </a:rPr>
                <a:t>목표인자 제어</a:t>
              </a:r>
              <a:endParaRPr kumimoji="0" lang="en-US" altLang="ko-KR" sz="1200" b="1" dirty="0">
                <a:solidFill>
                  <a:srgbClr val="FFFFFF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19" name="Text Box 42">
            <a:extLst>
              <a:ext uri="{FF2B5EF4-FFF2-40B4-BE49-F238E27FC236}">
                <a16:creationId xmlns:a16="http://schemas.microsoft.com/office/drawing/2014/main" id="{CB31DF47-2CA7-0B0D-B801-ED7824C29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733" y="2703088"/>
            <a:ext cx="1214567" cy="360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94B8DC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NOx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rPr>
              <a:t>농도</a:t>
            </a:r>
            <a:endParaRPr lang="ko-KR" altLang="en-US" sz="1200" b="1" dirty="0">
              <a:solidFill>
                <a:srgbClr val="000000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D530FA1-BDD4-EF6D-34E1-725F7FBB7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713" y="1794528"/>
            <a:ext cx="1022427" cy="882255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040934E-336B-FFBB-6E89-F3248BFD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705799"/>
              </p:ext>
            </p:extLst>
          </p:nvPr>
        </p:nvGraphicFramePr>
        <p:xfrm>
          <a:off x="1058593" y="3892023"/>
          <a:ext cx="7539924" cy="19561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13308">
                  <a:extLst>
                    <a:ext uri="{9D8B030D-6E8A-4147-A177-3AD203B41FA5}">
                      <a16:colId xmlns:a16="http://schemas.microsoft.com/office/drawing/2014/main" val="2533935430"/>
                    </a:ext>
                  </a:extLst>
                </a:gridCol>
                <a:gridCol w="2513308">
                  <a:extLst>
                    <a:ext uri="{9D8B030D-6E8A-4147-A177-3AD203B41FA5}">
                      <a16:colId xmlns:a16="http://schemas.microsoft.com/office/drawing/2014/main" val="2790894458"/>
                    </a:ext>
                  </a:extLst>
                </a:gridCol>
                <a:gridCol w="2513308">
                  <a:extLst>
                    <a:ext uri="{9D8B030D-6E8A-4147-A177-3AD203B41FA5}">
                      <a16:colId xmlns:a16="http://schemas.microsoft.com/office/drawing/2014/main" val="10936132"/>
                    </a:ext>
                  </a:extLst>
                </a:gridCol>
              </a:tblGrid>
              <a:tr h="5269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제어인자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목표인자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모니터링 체계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539767"/>
                  </a:ext>
                </a:extLst>
              </a:tr>
              <a:tr h="1429234"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과도한 연소로 인한 </a:t>
                      </a:r>
                      <a:r>
                        <a:rPr lang="ko-KR" altLang="en-US" sz="1200" dirty="0" err="1"/>
                        <a:t>열적질소산화물</a:t>
                      </a:r>
                      <a:r>
                        <a:rPr lang="ko-KR" altLang="en-US" sz="1200" dirty="0"/>
                        <a:t> 생성을 막기 위해 압축된 희석질소를 주입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주입량은 발전기 상태와 최적정책을 통해 결정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제어인자 조정의 결과로 </a:t>
                      </a:r>
                      <a:r>
                        <a:rPr lang="ko-KR" altLang="en-US" sz="1200" dirty="0" err="1"/>
                        <a:t>열적질소산화물의</a:t>
                      </a:r>
                      <a:r>
                        <a:rPr lang="ko-KR" altLang="en-US" sz="1200" dirty="0"/>
                        <a:t> 농도를 </a:t>
                      </a:r>
                      <a:r>
                        <a:rPr lang="ko-KR" altLang="en-US" sz="1200" dirty="0" err="1"/>
                        <a:t>목표값</a:t>
                      </a:r>
                      <a:r>
                        <a:rPr lang="ko-KR" altLang="en-US" sz="1200" dirty="0"/>
                        <a:t> 이하로 유지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NOx </a:t>
                      </a:r>
                      <a:r>
                        <a:rPr lang="ko-KR" altLang="en-US" sz="1200" dirty="0"/>
                        <a:t>농도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NPR </a:t>
                      </a:r>
                      <a:r>
                        <a:rPr lang="ko-KR" altLang="en-US" sz="1200" dirty="0"/>
                        <a:t>값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발전기 출력 등의 값에 대한 실시간 모니터링을 통해 발전기 안정성 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659128"/>
                  </a:ext>
                </a:extLst>
              </a:tr>
            </a:tbl>
          </a:graphicData>
        </a:graphic>
      </p:graphicFrame>
      <p:sp>
        <p:nvSpPr>
          <p:cNvPr id="459" name="타원 458"/>
          <p:cNvSpPr/>
          <p:nvPr/>
        </p:nvSpPr>
        <p:spPr bwMode="auto">
          <a:xfrm>
            <a:off x="1396020" y="4015153"/>
            <a:ext cx="234950" cy="25558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60" name="타원 459"/>
          <p:cNvSpPr/>
          <p:nvPr/>
        </p:nvSpPr>
        <p:spPr bwMode="auto">
          <a:xfrm>
            <a:off x="3913170" y="4015152"/>
            <a:ext cx="234950" cy="25558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461" name="타원 460"/>
          <p:cNvSpPr/>
          <p:nvPr/>
        </p:nvSpPr>
        <p:spPr bwMode="auto">
          <a:xfrm>
            <a:off x="6191972" y="3995246"/>
            <a:ext cx="234950" cy="255587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180975" indent="-180975" algn="ctr">
              <a:lnSpc>
                <a:spcPct val="120000"/>
              </a:lnSpc>
              <a:tabLst>
                <a:tab pos="95250" algn="l"/>
              </a:tabLst>
              <a:defRPr/>
            </a:pPr>
            <a:r>
              <a:rPr lang="en-US" altLang="ko-KR" sz="1600" dirty="0">
                <a:solidFill>
                  <a:prstClr val="white"/>
                </a:solidFill>
                <a:latin typeface="+mn-ea"/>
                <a:ea typeface="+mn-ea"/>
                <a:cs typeface="Arial" pitchFamily="34" charset="0"/>
                <a:sym typeface="Wingdings" pitchFamily="2" charset="2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+mn-ea"/>
              <a:ea typeface="+mn-ea"/>
              <a:cs typeface="Arial" pitchFamily="34" charset="0"/>
              <a:sym typeface="Wingdings" pitchFamily="2" charset="2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0BD2B4F9-6AD0-6598-7F5C-7EA45EED8164}"/>
              </a:ext>
            </a:extLst>
          </p:cNvPr>
          <p:cNvSpPr txBox="1">
            <a:spLocks/>
          </p:cNvSpPr>
          <p:nvPr/>
        </p:nvSpPr>
        <p:spPr>
          <a:xfrm>
            <a:off x="6954000" y="282125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 rtl="0" eaLnBrk="0" fontAlgn="base" latinLnBrk="1" hangingPunct="0">
              <a:spcBef>
                <a:spcPct val="20000"/>
              </a:spcBef>
              <a:spcAft>
                <a:spcPct val="0"/>
              </a:spcAft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서부발전</a:t>
            </a:r>
          </a:p>
        </p:txBody>
      </p:sp>
    </p:spTree>
    <p:extLst>
      <p:ext uri="{BB962C8B-B14F-4D97-AF65-F5344CB8AC3E}">
        <p14:creationId xmlns:p14="http://schemas.microsoft.com/office/powerpoint/2010/main" val="128217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3CCA-AF22-6CC1-A57A-9269B149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6F98A2E-CDFF-570A-2D9D-7A62FAAB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서부발전 </a:t>
            </a:r>
            <a:r>
              <a:rPr lang="ko-KR" altLang="en-US" dirty="0" err="1">
                <a:latin typeface="+mn-ea"/>
                <a:ea typeface="+mn-ea"/>
              </a:rPr>
              <a:t>희석질소가스</a:t>
            </a:r>
            <a:r>
              <a:rPr lang="ko-KR" altLang="en-US" dirty="0">
                <a:latin typeface="+mn-ea"/>
                <a:ea typeface="+mn-ea"/>
              </a:rPr>
              <a:t> 최적주입 제어모델</a:t>
            </a:r>
            <a:r>
              <a:rPr lang="en-US" altLang="ko-KR" dirty="0">
                <a:latin typeface="+mn-ea"/>
                <a:ea typeface="+mn-ea"/>
              </a:rPr>
              <a:t>(5/5)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7FB99E1-BA5A-DB0C-EB29-6687999A4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서부발전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70D0154-A3AE-863D-EC79-AE90FFF410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솔루션 적용 기대 효과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4D7537F-1725-2C5D-4256-1ECDCA188EFB}"/>
              </a:ext>
            </a:extLst>
          </p:cNvPr>
          <p:cNvSpPr/>
          <p:nvPr/>
        </p:nvSpPr>
        <p:spPr>
          <a:xfrm>
            <a:off x="2383489" y="1528211"/>
            <a:ext cx="5139021" cy="10368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9pPr>
          </a:lstStyle>
          <a:p>
            <a:pPr>
              <a:lnSpc>
                <a:spcPts val="1400"/>
              </a:lnSpc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Rectangle 5">
            <a:extLst>
              <a:ext uri="{FF2B5EF4-FFF2-40B4-BE49-F238E27FC236}">
                <a16:creationId xmlns:a16="http://schemas.microsoft.com/office/drawing/2014/main" id="{3C67FC0C-8231-228D-1339-83E31EE635D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53959" y="1339581"/>
            <a:ext cx="3240360" cy="324000"/>
          </a:xfrm>
          <a:prstGeom prst="rect">
            <a:avLst/>
          </a:prstGeom>
          <a:solidFill>
            <a:srgbClr val="31859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ko-KR" altLang="en-US" kern="0" dirty="0">
                <a:solidFill>
                  <a:prstClr val="white"/>
                </a:solidFill>
                <a:latin typeface="맑은 고딕" panose="020F0302020204030204"/>
                <a:ea typeface="맑은 고딕" panose="020B0503020000020004" pitchFamily="50" charset="-127"/>
              </a:rPr>
              <a:t>유해 배기가스 저감</a:t>
            </a:r>
          </a:p>
        </p:txBody>
      </p:sp>
      <p:sp>
        <p:nvSpPr>
          <p:cNvPr id="52" name="Rectangle 13">
            <a:extLst>
              <a:ext uri="{FF2B5EF4-FFF2-40B4-BE49-F238E27FC236}">
                <a16:creationId xmlns:a16="http://schemas.microsoft.com/office/drawing/2014/main" id="{543EDC68-0703-6129-B2B3-795F47E9C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94" y="1729721"/>
            <a:ext cx="4441779" cy="83529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6785" tIns="48393" rIns="96785" bIns="48393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환경에 유해한 </a:t>
            </a:r>
            <a:r>
              <a:rPr kumimoji="0"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열적질소산화물</a:t>
            </a:r>
            <a:r>
              <a:rPr kumimoji="0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(thermal NOx) </a:t>
            </a: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배출량 감소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국내외 질소산화물 배출규제 충족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기후위기 대응 시스템 구축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5A60CA6-9C7D-2AB9-AD18-0AAE58FF5243}"/>
              </a:ext>
            </a:extLst>
          </p:cNvPr>
          <p:cNvSpPr/>
          <p:nvPr/>
        </p:nvSpPr>
        <p:spPr>
          <a:xfrm>
            <a:off x="2383490" y="3114762"/>
            <a:ext cx="5139020" cy="103631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9pPr>
          </a:lstStyle>
          <a:p>
            <a:pPr>
              <a:lnSpc>
                <a:spcPts val="1400"/>
              </a:lnSpc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F0C3F552-A240-6C5A-2C42-6AFBB0107ED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53959" y="2926132"/>
            <a:ext cx="3240360" cy="324000"/>
          </a:xfrm>
          <a:prstGeom prst="rect">
            <a:avLst/>
          </a:prstGeom>
          <a:solidFill>
            <a:srgbClr val="59595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ko-KR" altLang="en-US" kern="0" dirty="0">
                <a:solidFill>
                  <a:prstClr val="white"/>
                </a:solidFill>
                <a:latin typeface="맑은 고딕" panose="020F0302020204030204"/>
                <a:ea typeface="맑은 고딕" panose="020B0503020000020004" pitchFamily="50" charset="-127"/>
              </a:rPr>
              <a:t>발전효율 증대</a:t>
            </a:r>
          </a:p>
        </p:txBody>
      </p:sp>
      <p:sp>
        <p:nvSpPr>
          <p:cNvPr id="55" name="Rectangle 13">
            <a:extLst>
              <a:ext uri="{FF2B5EF4-FFF2-40B4-BE49-F238E27FC236}">
                <a16:creationId xmlns:a16="http://schemas.microsoft.com/office/drawing/2014/main" id="{946F5F4E-9D96-A4BB-5FF2-211D286D9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594" y="3316272"/>
            <a:ext cx="5102916" cy="87278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6785" tIns="48393" rIns="96785" bIns="48393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연료량 대비 발전량 상승을 통한 효율성 증대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연료비 절감 및 발전 원가 경쟁력 강화 기여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외부 환경 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온도 등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을 고려한 운전조건 제시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endParaRPr kumimoji="0" lang="ko-KR" altLang="en-US" sz="1200" dirty="0"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6" name="Rectangle 13">
            <a:extLst>
              <a:ext uri="{FF2B5EF4-FFF2-40B4-BE49-F238E27FC236}">
                <a16:creationId xmlns:a16="http://schemas.microsoft.com/office/drawing/2014/main" id="{F2A24866-C26D-9733-D0FB-BE1ED63A9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698" y="4909891"/>
            <a:ext cx="4435676" cy="100513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6785" tIns="48393" rIns="96785" bIns="48393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발전소 부하에 무리를 주지 않는 안정적인 발전기 운전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연료분사기</a:t>
            </a:r>
            <a:r>
              <a:rPr kumimoji="0"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(manifold)</a:t>
            </a:r>
            <a:r>
              <a:rPr kumimoji="0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의 안정성 확보를 통한 사고 예방</a:t>
            </a:r>
            <a:endParaRPr kumimoji="0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marL="285750" indent="-285750" latinLnBrk="0">
              <a:lnSpc>
                <a:spcPct val="120000"/>
              </a:lnSpc>
              <a:buSzPct val="75000"/>
              <a:buFont typeface="Wingdings" panose="05000000000000000000" pitchFamily="2" charset="2"/>
              <a:buChar char="§"/>
            </a:pPr>
            <a:endParaRPr kumimoji="0"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4DBE14E-6E51-99AE-BACB-3CC27C1F215E}"/>
              </a:ext>
            </a:extLst>
          </p:cNvPr>
          <p:cNvSpPr/>
          <p:nvPr/>
        </p:nvSpPr>
        <p:spPr>
          <a:xfrm>
            <a:off x="2383490" y="4751620"/>
            <a:ext cx="5139020" cy="103631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lt1"/>
                </a:solidFill>
                <a:latin typeface="+mn-lt"/>
                <a:ea typeface="+mn-ea"/>
                <a:cs typeface="+mn-cs"/>
                <a:sym typeface="Wingdings" pitchFamily="2" charset="2"/>
              </a:defRPr>
            </a:lvl9pPr>
          </a:lstStyle>
          <a:p>
            <a:pPr>
              <a:lnSpc>
                <a:spcPts val="1400"/>
              </a:lnSpc>
            </a:pP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Rectangle 5">
            <a:extLst>
              <a:ext uri="{FF2B5EF4-FFF2-40B4-BE49-F238E27FC236}">
                <a16:creationId xmlns:a16="http://schemas.microsoft.com/office/drawing/2014/main" id="{24FD8575-AB90-1338-AC8D-2AED1385DFF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53959" y="4547911"/>
            <a:ext cx="3240360" cy="324000"/>
          </a:xfrm>
          <a:prstGeom prst="rect">
            <a:avLst/>
          </a:prstGeom>
          <a:solidFill>
            <a:srgbClr val="EE541E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kumimoji="1" sz="1400" b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  <a:sym typeface="Wingdings" pitchFamily="2" charset="2"/>
              </a:defRPr>
            </a:lvl9pPr>
          </a:lstStyle>
          <a:p>
            <a:pPr algn="ctr" latinLnBrk="0"/>
            <a:r>
              <a:rPr lang="ko-KR" altLang="en-US" kern="0" dirty="0">
                <a:solidFill>
                  <a:prstClr val="white"/>
                </a:solidFill>
                <a:latin typeface="맑은 고딕" panose="020F0302020204030204"/>
                <a:ea typeface="맑은 고딕" panose="020B0503020000020004" pitchFamily="50" charset="-127"/>
              </a:rPr>
              <a:t>발전 안정성 도모</a:t>
            </a:r>
          </a:p>
        </p:txBody>
      </p:sp>
    </p:spTree>
    <p:extLst>
      <p:ext uri="{BB962C8B-B14F-4D97-AF65-F5344CB8AC3E}">
        <p14:creationId xmlns:p14="http://schemas.microsoft.com/office/powerpoint/2010/main" val="2224097184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93807</TotalTime>
  <Words>419</Words>
  <Application>Microsoft Office PowerPoint</Application>
  <PresentationFormat>A4 용지(210x297mm)</PresentationFormat>
  <Paragraphs>94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굴림</vt:lpstr>
      <vt:lpstr>맑은 고딕</vt:lpstr>
      <vt:lpstr>Arial</vt:lpstr>
      <vt:lpstr>Times New Roman</vt:lpstr>
      <vt:lpstr>Wingdings</vt:lpstr>
      <vt:lpstr>1_디자인 사용자 지정</vt:lpstr>
      <vt:lpstr>PowerPoint 프레젠테이션</vt:lpstr>
      <vt:lpstr>서부발전 희석질소가스 최적주입 제어모델(2/5)</vt:lpstr>
      <vt:lpstr>PowerPoint 프레젠테이션</vt:lpstr>
      <vt:lpstr>PowerPoint 프레젠테이션</vt:lpstr>
      <vt:lpstr>서부발전 희석질소가스 최적주입 제어모델(5/5)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6157</cp:revision>
  <cp:lastPrinted>2025-07-14T07:44:34Z</cp:lastPrinted>
  <dcterms:created xsi:type="dcterms:W3CDTF">2011-12-28T05:39:44Z</dcterms:created>
  <dcterms:modified xsi:type="dcterms:W3CDTF">2025-08-29T06:57:35Z</dcterms:modified>
</cp:coreProperties>
</file>