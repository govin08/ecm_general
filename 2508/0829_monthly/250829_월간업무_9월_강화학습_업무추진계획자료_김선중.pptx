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p:sldMasterIdLst>
    <p:sldMasterId id="2147483800" r:id="rId1"/>
  </p:sldMasterIdLst>
  <p:notesMasterIdLst>
    <p:notesMasterId r:id="rId22"/>
  </p:notesMasterIdLst>
  <p:handoutMasterIdLst>
    <p:handoutMasterId r:id="rId23"/>
  </p:handoutMasterIdLst>
  <p:sldIdLst>
    <p:sldId id="5704" r:id="rId2"/>
    <p:sldId id="9585" r:id="rId3"/>
    <p:sldId id="5706" r:id="rId4"/>
    <p:sldId id="8806" r:id="rId5"/>
    <p:sldId id="8812" r:id="rId6"/>
    <p:sldId id="8811" r:id="rId7"/>
    <p:sldId id="8814" r:id="rId8"/>
    <p:sldId id="9586" r:id="rId9"/>
    <p:sldId id="8876" r:id="rId10"/>
    <p:sldId id="9587" r:id="rId11"/>
    <p:sldId id="8882" r:id="rId12"/>
    <p:sldId id="9588" r:id="rId13"/>
    <p:sldId id="9589" r:id="rId14"/>
    <p:sldId id="9590" r:id="rId15"/>
    <p:sldId id="9591" r:id="rId16"/>
    <p:sldId id="9592" r:id="rId17"/>
    <p:sldId id="9594" r:id="rId18"/>
    <p:sldId id="8877" r:id="rId19"/>
    <p:sldId id="9595" r:id="rId20"/>
    <p:sldId id="8796" r:id="rId21"/>
  </p:sldIdLst>
  <p:sldSz cx="9906000" cy="6858000" type="A4"/>
  <p:notesSz cx="6797675" cy="9926638"/>
  <p:defaultTextStyle>
    <a:defPPr>
      <a:defRPr lang="en-US"/>
    </a:defPPr>
    <a:lvl1pPr algn="l" rtl="0" fontAlgn="base" latinLnBrk="1">
      <a:spcBef>
        <a:spcPct val="0"/>
      </a:spcBef>
      <a:spcAft>
        <a:spcPct val="0"/>
      </a:spcAft>
      <a:defRPr kumimoji="1" sz="1400" b="1" kern="1200">
        <a:solidFill>
          <a:schemeClr val="tx1"/>
        </a:solidFill>
        <a:latin typeface="굴림" charset="-127"/>
        <a:ea typeface="굴림" charset="-127"/>
        <a:cs typeface="+mn-cs"/>
        <a:sym typeface="Wingdings" pitchFamily="2" charset="2"/>
      </a:defRPr>
    </a:lvl1pPr>
    <a:lvl2pPr marL="457200" algn="l" rtl="0" fontAlgn="base" latinLnBrk="1">
      <a:spcBef>
        <a:spcPct val="0"/>
      </a:spcBef>
      <a:spcAft>
        <a:spcPct val="0"/>
      </a:spcAft>
      <a:defRPr kumimoji="1" sz="1400" b="1" kern="1200">
        <a:solidFill>
          <a:schemeClr val="tx1"/>
        </a:solidFill>
        <a:latin typeface="굴림" charset="-127"/>
        <a:ea typeface="굴림" charset="-127"/>
        <a:cs typeface="+mn-cs"/>
        <a:sym typeface="Wingdings" pitchFamily="2" charset="2"/>
      </a:defRPr>
    </a:lvl2pPr>
    <a:lvl3pPr marL="914400" algn="l" rtl="0" fontAlgn="base" latinLnBrk="1">
      <a:spcBef>
        <a:spcPct val="0"/>
      </a:spcBef>
      <a:spcAft>
        <a:spcPct val="0"/>
      </a:spcAft>
      <a:defRPr kumimoji="1" sz="1400" b="1" kern="1200">
        <a:solidFill>
          <a:schemeClr val="tx1"/>
        </a:solidFill>
        <a:latin typeface="굴림" charset="-127"/>
        <a:ea typeface="굴림" charset="-127"/>
        <a:cs typeface="+mn-cs"/>
        <a:sym typeface="Wingdings" pitchFamily="2" charset="2"/>
      </a:defRPr>
    </a:lvl3pPr>
    <a:lvl4pPr marL="1371600" algn="l" rtl="0" fontAlgn="base" latinLnBrk="1">
      <a:spcBef>
        <a:spcPct val="0"/>
      </a:spcBef>
      <a:spcAft>
        <a:spcPct val="0"/>
      </a:spcAft>
      <a:defRPr kumimoji="1" sz="1400" b="1" kern="1200">
        <a:solidFill>
          <a:schemeClr val="tx1"/>
        </a:solidFill>
        <a:latin typeface="굴림" charset="-127"/>
        <a:ea typeface="굴림" charset="-127"/>
        <a:cs typeface="+mn-cs"/>
        <a:sym typeface="Wingdings" pitchFamily="2" charset="2"/>
      </a:defRPr>
    </a:lvl4pPr>
    <a:lvl5pPr marL="1828800" algn="l" rtl="0" fontAlgn="base" latinLnBrk="1">
      <a:spcBef>
        <a:spcPct val="0"/>
      </a:spcBef>
      <a:spcAft>
        <a:spcPct val="0"/>
      </a:spcAft>
      <a:defRPr kumimoji="1" sz="1400" b="1" kern="1200">
        <a:solidFill>
          <a:schemeClr val="tx1"/>
        </a:solidFill>
        <a:latin typeface="굴림" charset="-127"/>
        <a:ea typeface="굴림" charset="-127"/>
        <a:cs typeface="+mn-cs"/>
        <a:sym typeface="Wingdings" pitchFamily="2" charset="2"/>
      </a:defRPr>
    </a:lvl5pPr>
    <a:lvl6pPr marL="2286000" algn="l" defTabSz="914400" rtl="0" eaLnBrk="1" latinLnBrk="1" hangingPunct="1">
      <a:defRPr kumimoji="1" sz="1400" b="1" kern="1200">
        <a:solidFill>
          <a:schemeClr val="tx1"/>
        </a:solidFill>
        <a:latin typeface="굴림" charset="-127"/>
        <a:ea typeface="굴림" charset="-127"/>
        <a:cs typeface="+mn-cs"/>
        <a:sym typeface="Wingdings" pitchFamily="2" charset="2"/>
      </a:defRPr>
    </a:lvl6pPr>
    <a:lvl7pPr marL="2743200" algn="l" defTabSz="914400" rtl="0" eaLnBrk="1" latinLnBrk="1" hangingPunct="1">
      <a:defRPr kumimoji="1" sz="1400" b="1" kern="1200">
        <a:solidFill>
          <a:schemeClr val="tx1"/>
        </a:solidFill>
        <a:latin typeface="굴림" charset="-127"/>
        <a:ea typeface="굴림" charset="-127"/>
        <a:cs typeface="+mn-cs"/>
        <a:sym typeface="Wingdings" pitchFamily="2" charset="2"/>
      </a:defRPr>
    </a:lvl7pPr>
    <a:lvl8pPr marL="3200400" algn="l" defTabSz="914400" rtl="0" eaLnBrk="1" latinLnBrk="1" hangingPunct="1">
      <a:defRPr kumimoji="1" sz="1400" b="1" kern="1200">
        <a:solidFill>
          <a:schemeClr val="tx1"/>
        </a:solidFill>
        <a:latin typeface="굴림" charset="-127"/>
        <a:ea typeface="굴림" charset="-127"/>
        <a:cs typeface="+mn-cs"/>
        <a:sym typeface="Wingdings" pitchFamily="2" charset="2"/>
      </a:defRPr>
    </a:lvl8pPr>
    <a:lvl9pPr marL="3657600" algn="l" defTabSz="914400" rtl="0" eaLnBrk="1" latinLnBrk="1" hangingPunct="1">
      <a:defRPr kumimoji="1" sz="1400" b="1" kern="1200">
        <a:solidFill>
          <a:schemeClr val="tx1"/>
        </a:solidFill>
        <a:latin typeface="굴림" charset="-127"/>
        <a:ea typeface="굴림" charset="-127"/>
        <a:cs typeface="+mn-cs"/>
        <a:sym typeface="Wingdings" pitchFamily="2" charset="2"/>
      </a:defRPr>
    </a:lvl9pPr>
  </p:defaultTextStyle>
  <p:extLst>
    <p:ext uri="{EFAFB233-063F-42B5-8137-9DF3F51BA10A}">
      <p15:sldGuideLst xmlns:p15="http://schemas.microsoft.com/office/powerpoint/2012/main">
        <p15:guide id="2" orient="horz" pos="4042" userDrawn="1">
          <p15:clr>
            <a:srgbClr val="A4A3A4"/>
          </p15:clr>
        </p15:guide>
        <p15:guide id="5" orient="horz" pos="1094" userDrawn="1">
          <p15:clr>
            <a:srgbClr val="A4A3A4"/>
          </p15:clr>
        </p15:guide>
        <p15:guide id="6" orient="horz" pos="300" userDrawn="1">
          <p15:clr>
            <a:srgbClr val="A4A3A4"/>
          </p15:clr>
        </p15:guide>
        <p15:guide id="7" pos="1532" userDrawn="1">
          <p15:clr>
            <a:srgbClr val="A4A3A4"/>
          </p15:clr>
        </p15:guide>
        <p15:guide id="8" pos="6068" userDrawn="1">
          <p15:clr>
            <a:srgbClr val="A4A3A4"/>
          </p15:clr>
        </p15:guide>
        <p15:guide id="9" pos="3097" userDrawn="1">
          <p15:clr>
            <a:srgbClr val="A4A3A4"/>
          </p15:clr>
        </p15:guide>
        <p15:guide id="10" pos="4662" userDrawn="1">
          <p15:clr>
            <a:srgbClr val="A4A3A4"/>
          </p15:clr>
        </p15:guide>
        <p15:guide id="13" orient="horz" pos="2636" userDrawn="1">
          <p15:clr>
            <a:srgbClr val="A4A3A4"/>
          </p15:clr>
        </p15:guide>
        <p15:guide id="14" pos="126">
          <p15:clr>
            <a:srgbClr val="A4A3A4"/>
          </p15:clr>
        </p15:guide>
        <p15:guide id="15" orient="horz" pos="618" userDrawn="1">
          <p15:clr>
            <a:srgbClr val="A4A3A4"/>
          </p15:clr>
        </p15:guide>
        <p15:guide id="16" orient="horz" pos="405" userDrawn="1">
          <p15:clr>
            <a:srgbClr val="A4A3A4"/>
          </p15:clr>
        </p15:guide>
        <p15:guide id="17" orient="horz" pos="686" userDrawn="1">
          <p15:clr>
            <a:srgbClr val="A4A3A4"/>
          </p15:clr>
        </p15:guide>
        <p15:guide id="18" pos="217" userDrawn="1">
          <p15:clr>
            <a:srgbClr val="A4A3A4"/>
          </p15:clr>
        </p15:guide>
        <p15:guide id="19" orient="horz" pos="3974"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38"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F6478E-575D-4BA1-51CE-EBD847ADD200}" name="ECM" initials="E" userId="ECM"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38F15"/>
    <a:srgbClr val="3072C2"/>
    <a:srgbClr val="FFFFCC"/>
    <a:srgbClr val="31859C"/>
    <a:srgbClr val="325F96"/>
    <a:srgbClr val="EE541E"/>
    <a:srgbClr val="A6A6A6"/>
    <a:srgbClr val="00FF00"/>
    <a:srgbClr val="3164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밝은 스타일 1 - 강조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밝은 스타일 1 - 강조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46F890A9-2807-4EBB-B81D-B2AA78EC7F39}" styleName="어두운 스타일 2 - 강조 5/강조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91EBBBCC-DAD2-459C-BE2E-F6DE35CF9A28}" styleName="어두운 스타일 2 - 강조 3/강조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어두운 스타일 2 - 강조 1/강조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어두운 스타일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밝은 스타일 2 - 강조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98" autoAdjust="0"/>
    <p:restoredTop sz="96242" autoAdjust="0"/>
  </p:normalViewPr>
  <p:slideViewPr>
    <p:cSldViewPr snapToGrid="0" snapToObjects="1" showGuides="1">
      <p:cViewPr varScale="1">
        <p:scale>
          <a:sx n="78" d="100"/>
          <a:sy n="78" d="100"/>
        </p:scale>
        <p:origin x="1325" y="67"/>
      </p:cViewPr>
      <p:guideLst>
        <p:guide orient="horz" pos="4042"/>
        <p:guide orient="horz" pos="1094"/>
        <p:guide orient="horz" pos="300"/>
        <p:guide pos="1532"/>
        <p:guide pos="6068"/>
        <p:guide pos="3097"/>
        <p:guide pos="4662"/>
        <p:guide orient="horz" pos="2636"/>
        <p:guide pos="126"/>
        <p:guide orient="horz" pos="618"/>
        <p:guide orient="horz" pos="405"/>
        <p:guide orient="horz" pos="686"/>
        <p:guide pos="217"/>
        <p:guide orient="horz" pos="3974"/>
      </p:guideLst>
    </p:cSldViewPr>
  </p:slideViewPr>
  <p:outlineViewPr>
    <p:cViewPr>
      <p:scale>
        <a:sx n="33" d="100"/>
        <a:sy n="33" d="100"/>
      </p:scale>
      <p:origin x="0" y="-23766"/>
    </p:cViewPr>
  </p:outlineViewPr>
  <p:notesTextViewPr>
    <p:cViewPr>
      <p:scale>
        <a:sx n="3" d="2"/>
        <a:sy n="3" d="2"/>
      </p:scale>
      <p:origin x="0" y="0"/>
    </p:cViewPr>
  </p:notesTextViewPr>
  <p:sorterViewPr>
    <p:cViewPr>
      <p:scale>
        <a:sx n="130" d="100"/>
        <a:sy n="130" d="100"/>
      </p:scale>
      <p:origin x="0" y="-342"/>
    </p:cViewPr>
  </p:sorterViewPr>
  <p:notesViewPr>
    <p:cSldViewPr snapToGrid="0" snapToObjects="1" showGuides="1">
      <p:cViewPr varScale="1">
        <p:scale>
          <a:sx n="65" d="100"/>
          <a:sy n="65" d="100"/>
        </p:scale>
        <p:origin x="-1644" y="-120"/>
      </p:cViewPr>
      <p:guideLst>
        <p:guide orient="horz" pos="3127"/>
        <p:guide pos="2138"/>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6" y="6"/>
            <a:ext cx="2942907" cy="496331"/>
          </a:xfrm>
          <a:prstGeom prst="rect">
            <a:avLst/>
          </a:prstGeom>
          <a:noFill/>
          <a:ln w="9525">
            <a:noFill/>
            <a:miter lim="800000"/>
            <a:headEnd/>
            <a:tailEnd/>
          </a:ln>
        </p:spPr>
        <p:txBody>
          <a:bodyPr vert="horz" wrap="square" lIns="94937" tIns="47469" rIns="94937" bIns="47469" numCol="1" anchor="t" anchorCtr="0" compatLnSpc="1">
            <a:prstTxWarp prst="textNoShape">
              <a:avLst/>
            </a:prstTxWarp>
          </a:bodyPr>
          <a:lstStyle>
            <a:lvl1pPr defTabSz="947232" latinLnBrk="0">
              <a:spcBef>
                <a:spcPct val="0"/>
              </a:spcBef>
              <a:defRPr kumimoji="0" sz="1100" b="0">
                <a:latin typeface="Times New Roman" pitchFamily="18" charset="0"/>
                <a:ea typeface="굴림" pitchFamily="50" charset="-127"/>
              </a:defRPr>
            </a:lvl1pPr>
          </a:lstStyle>
          <a:p>
            <a:pPr>
              <a:defRPr/>
            </a:pPr>
            <a:endParaRPr lang="en-US" altLang="ko-KR" dirty="0">
              <a:ea typeface="맑은 고딕" panose="020B0503020000020004" pitchFamily="50" charset="-127"/>
            </a:endParaRPr>
          </a:p>
        </p:txBody>
      </p:sp>
      <p:sp>
        <p:nvSpPr>
          <p:cNvPr id="5123" name="Rectangle 3"/>
          <p:cNvSpPr>
            <a:spLocks noGrp="1" noChangeArrowheads="1"/>
          </p:cNvSpPr>
          <p:nvPr>
            <p:ph type="dt" sz="quarter" idx="1"/>
          </p:nvPr>
        </p:nvSpPr>
        <p:spPr bwMode="auto">
          <a:xfrm>
            <a:off x="3854770" y="6"/>
            <a:ext cx="2942907" cy="496331"/>
          </a:xfrm>
          <a:prstGeom prst="rect">
            <a:avLst/>
          </a:prstGeom>
          <a:noFill/>
          <a:ln w="9525">
            <a:noFill/>
            <a:miter lim="800000"/>
            <a:headEnd/>
            <a:tailEnd/>
          </a:ln>
        </p:spPr>
        <p:txBody>
          <a:bodyPr vert="horz" wrap="square" lIns="94937" tIns="47469" rIns="94937" bIns="47469" numCol="1" anchor="t" anchorCtr="0" compatLnSpc="1">
            <a:prstTxWarp prst="textNoShape">
              <a:avLst/>
            </a:prstTxWarp>
          </a:bodyPr>
          <a:lstStyle>
            <a:lvl1pPr algn="r" defTabSz="947232" latinLnBrk="0">
              <a:spcBef>
                <a:spcPct val="0"/>
              </a:spcBef>
              <a:defRPr kumimoji="0" sz="1100" b="0">
                <a:latin typeface="Times New Roman" pitchFamily="18" charset="0"/>
                <a:ea typeface="굴림" pitchFamily="50" charset="-127"/>
              </a:defRPr>
            </a:lvl1pPr>
          </a:lstStyle>
          <a:p>
            <a:pPr>
              <a:defRPr/>
            </a:pPr>
            <a:endParaRPr lang="en-US" altLang="ko-KR" dirty="0">
              <a:ea typeface="맑은 고딕" panose="020B0503020000020004" pitchFamily="50" charset="-127"/>
            </a:endParaRPr>
          </a:p>
        </p:txBody>
      </p:sp>
      <p:sp>
        <p:nvSpPr>
          <p:cNvPr id="5124" name="Rectangle 4"/>
          <p:cNvSpPr>
            <a:spLocks noGrp="1" noChangeArrowheads="1"/>
          </p:cNvSpPr>
          <p:nvPr>
            <p:ph type="ftr" sz="quarter" idx="2"/>
          </p:nvPr>
        </p:nvSpPr>
        <p:spPr bwMode="auto">
          <a:xfrm>
            <a:off x="6" y="9430308"/>
            <a:ext cx="2942907" cy="496331"/>
          </a:xfrm>
          <a:prstGeom prst="rect">
            <a:avLst/>
          </a:prstGeom>
          <a:noFill/>
          <a:ln w="9525">
            <a:noFill/>
            <a:miter lim="800000"/>
            <a:headEnd/>
            <a:tailEnd/>
          </a:ln>
        </p:spPr>
        <p:txBody>
          <a:bodyPr vert="horz" wrap="square" lIns="94937" tIns="47469" rIns="94937" bIns="47469" numCol="1" anchor="b" anchorCtr="0" compatLnSpc="1">
            <a:prstTxWarp prst="textNoShape">
              <a:avLst/>
            </a:prstTxWarp>
          </a:bodyPr>
          <a:lstStyle>
            <a:lvl1pPr defTabSz="947232" latinLnBrk="0">
              <a:spcBef>
                <a:spcPct val="0"/>
              </a:spcBef>
              <a:defRPr kumimoji="0" sz="1100" b="0">
                <a:latin typeface="Times New Roman" pitchFamily="18" charset="0"/>
                <a:ea typeface="굴림" pitchFamily="50" charset="-127"/>
              </a:defRPr>
            </a:lvl1pPr>
          </a:lstStyle>
          <a:p>
            <a:pPr>
              <a:defRPr/>
            </a:pPr>
            <a:endParaRPr lang="en-US" altLang="ko-KR" dirty="0">
              <a:ea typeface="맑은 고딕" panose="020B0503020000020004" pitchFamily="50" charset="-127"/>
            </a:endParaRPr>
          </a:p>
        </p:txBody>
      </p:sp>
      <p:sp>
        <p:nvSpPr>
          <p:cNvPr id="5125" name="Rectangle 5"/>
          <p:cNvSpPr>
            <a:spLocks noGrp="1" noChangeArrowheads="1"/>
          </p:cNvSpPr>
          <p:nvPr>
            <p:ph type="sldNum" sz="quarter" idx="3"/>
          </p:nvPr>
        </p:nvSpPr>
        <p:spPr bwMode="auto">
          <a:xfrm>
            <a:off x="3854770" y="9430308"/>
            <a:ext cx="2942907" cy="496331"/>
          </a:xfrm>
          <a:prstGeom prst="rect">
            <a:avLst/>
          </a:prstGeom>
          <a:noFill/>
          <a:ln w="9525">
            <a:noFill/>
            <a:miter lim="800000"/>
            <a:headEnd/>
            <a:tailEnd/>
          </a:ln>
        </p:spPr>
        <p:txBody>
          <a:bodyPr vert="horz" wrap="square" lIns="94937" tIns="47469" rIns="94937" bIns="47469" numCol="1" anchor="b" anchorCtr="0" compatLnSpc="1">
            <a:prstTxWarp prst="textNoShape">
              <a:avLst/>
            </a:prstTxWarp>
          </a:bodyPr>
          <a:lstStyle>
            <a:lvl1pPr algn="r" defTabSz="947232" latinLnBrk="0">
              <a:spcBef>
                <a:spcPct val="0"/>
              </a:spcBef>
              <a:defRPr kumimoji="0" sz="1100" b="0">
                <a:latin typeface="Times New Roman" pitchFamily="18" charset="0"/>
                <a:ea typeface="굴림" pitchFamily="50" charset="-127"/>
              </a:defRPr>
            </a:lvl1pPr>
          </a:lstStyle>
          <a:p>
            <a:pPr>
              <a:defRPr/>
            </a:pPr>
            <a:fld id="{D8414D26-1A5B-4156-888F-DCC378C60C78}" type="slidenum">
              <a:rPr lang="ko-KR" altLang="en-US">
                <a:ea typeface="맑은 고딕" panose="020B0503020000020004" pitchFamily="50" charset="-127"/>
              </a:rPr>
              <a:pPr>
                <a:defRPr/>
              </a:pPr>
              <a:t>‹#›</a:t>
            </a:fld>
            <a:endParaRPr lang="en-US" altLang="ko-KR" dirty="0">
              <a:ea typeface="맑은 고딕" panose="020B0503020000020004" pitchFamily="50" charset="-127"/>
            </a:endParaRPr>
          </a:p>
        </p:txBody>
      </p:sp>
    </p:spTree>
    <p:extLst>
      <p:ext uri="{BB962C8B-B14F-4D97-AF65-F5344CB8AC3E}">
        <p14:creationId xmlns:p14="http://schemas.microsoft.com/office/powerpoint/2010/main" val="25606946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2" y="9"/>
            <a:ext cx="2918611" cy="482014"/>
          </a:xfrm>
          <a:prstGeom prst="rect">
            <a:avLst/>
          </a:prstGeom>
          <a:noFill/>
          <a:ln w="9525">
            <a:noFill/>
            <a:miter lim="800000"/>
            <a:headEnd/>
            <a:tailEnd/>
          </a:ln>
        </p:spPr>
        <p:txBody>
          <a:bodyPr vert="horz" wrap="square" lIns="91894" tIns="45952" rIns="91894" bIns="45952" numCol="1" anchor="t" anchorCtr="0" compatLnSpc="1">
            <a:prstTxWarp prst="textNoShape">
              <a:avLst/>
            </a:prstTxWarp>
          </a:bodyPr>
          <a:lstStyle>
            <a:lvl1pPr defTabSz="916932" latinLnBrk="0">
              <a:spcBef>
                <a:spcPct val="0"/>
              </a:spcBef>
              <a:defRPr kumimoji="0" sz="1100" b="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8195" name="Rectangle 3"/>
          <p:cNvSpPr>
            <a:spLocks noGrp="1" noChangeArrowheads="1"/>
          </p:cNvSpPr>
          <p:nvPr>
            <p:ph type="dt" idx="1"/>
          </p:nvPr>
        </p:nvSpPr>
        <p:spPr bwMode="auto">
          <a:xfrm>
            <a:off x="3867733" y="9"/>
            <a:ext cx="2918611" cy="482014"/>
          </a:xfrm>
          <a:prstGeom prst="rect">
            <a:avLst/>
          </a:prstGeom>
          <a:noFill/>
          <a:ln w="9525">
            <a:noFill/>
            <a:miter lim="800000"/>
            <a:headEnd/>
            <a:tailEnd/>
          </a:ln>
        </p:spPr>
        <p:txBody>
          <a:bodyPr vert="horz" wrap="square" lIns="91894" tIns="45952" rIns="91894" bIns="45952" numCol="1" anchor="t" anchorCtr="0" compatLnSpc="1">
            <a:prstTxWarp prst="textNoShape">
              <a:avLst/>
            </a:prstTxWarp>
          </a:bodyPr>
          <a:lstStyle>
            <a:lvl1pPr algn="r" defTabSz="916932" latinLnBrk="0">
              <a:spcBef>
                <a:spcPct val="0"/>
              </a:spcBef>
              <a:defRPr kumimoji="0" sz="1100" b="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117764" name="Rectangle 4"/>
          <p:cNvSpPr>
            <a:spLocks noGrp="1" noRot="1" noChangeAspect="1" noChangeArrowheads="1" noTextEdit="1"/>
          </p:cNvSpPr>
          <p:nvPr>
            <p:ph type="sldImg" idx="2"/>
          </p:nvPr>
        </p:nvSpPr>
        <p:spPr bwMode="auto">
          <a:xfrm>
            <a:off x="715963" y="723900"/>
            <a:ext cx="5438775" cy="3767138"/>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876233" y="4732653"/>
            <a:ext cx="5035494" cy="4486077"/>
          </a:xfrm>
          <a:prstGeom prst="rect">
            <a:avLst/>
          </a:prstGeom>
          <a:noFill/>
          <a:ln w="9525">
            <a:noFill/>
            <a:miter lim="800000"/>
            <a:headEnd/>
            <a:tailEnd/>
          </a:ln>
        </p:spPr>
        <p:txBody>
          <a:bodyPr vert="horz" wrap="square" lIns="91894" tIns="45952" rIns="91894" bIns="45952" numCol="1" anchor="t" anchorCtr="0" compatLnSpc="1">
            <a:prstTxWarp prst="textNoShape">
              <a:avLst/>
            </a:prstTxWarp>
          </a:bodyPr>
          <a:lstStyle/>
          <a:p>
            <a:pPr lvl="0"/>
            <a:r>
              <a:rPr lang="en-US" altLang="ko-KR" noProof="0" dirty="0"/>
              <a:t>Click to edit Master text styles</a:t>
            </a:r>
          </a:p>
          <a:p>
            <a:pPr lvl="1"/>
            <a:r>
              <a:rPr lang="en-US" altLang="ko-KR" noProof="0" dirty="0"/>
              <a:t>Second level</a:t>
            </a:r>
          </a:p>
          <a:p>
            <a:pPr lvl="2"/>
            <a:r>
              <a:rPr lang="en-US" altLang="ko-KR" noProof="0" dirty="0"/>
              <a:t>Third level</a:t>
            </a:r>
          </a:p>
          <a:p>
            <a:pPr lvl="3"/>
            <a:r>
              <a:rPr lang="en-US" altLang="ko-KR" noProof="0" dirty="0"/>
              <a:t>Fourth level</a:t>
            </a:r>
          </a:p>
          <a:p>
            <a:pPr lvl="4"/>
            <a:r>
              <a:rPr lang="en-US" altLang="ko-KR" noProof="0" dirty="0"/>
              <a:t>Fifth level</a:t>
            </a:r>
          </a:p>
        </p:txBody>
      </p:sp>
      <p:sp>
        <p:nvSpPr>
          <p:cNvPr id="8198" name="Rectangle 6"/>
          <p:cNvSpPr>
            <a:spLocks noGrp="1" noChangeArrowheads="1"/>
          </p:cNvSpPr>
          <p:nvPr>
            <p:ph type="ftr" sz="quarter" idx="4"/>
          </p:nvPr>
        </p:nvSpPr>
        <p:spPr bwMode="auto">
          <a:xfrm>
            <a:off x="2" y="9460532"/>
            <a:ext cx="2918611" cy="480423"/>
          </a:xfrm>
          <a:prstGeom prst="rect">
            <a:avLst/>
          </a:prstGeom>
          <a:noFill/>
          <a:ln w="9525">
            <a:noFill/>
            <a:miter lim="800000"/>
            <a:headEnd/>
            <a:tailEnd/>
          </a:ln>
        </p:spPr>
        <p:txBody>
          <a:bodyPr vert="horz" wrap="square" lIns="91894" tIns="45952" rIns="91894" bIns="45952" numCol="1" anchor="b" anchorCtr="0" compatLnSpc="1">
            <a:prstTxWarp prst="textNoShape">
              <a:avLst/>
            </a:prstTxWarp>
          </a:bodyPr>
          <a:lstStyle>
            <a:lvl1pPr defTabSz="916932" latinLnBrk="0">
              <a:spcBef>
                <a:spcPct val="0"/>
              </a:spcBef>
              <a:defRPr kumimoji="0" sz="1100" b="0">
                <a:latin typeface="맑은 고딕" panose="020B0503020000020004" pitchFamily="50" charset="-127"/>
                <a:ea typeface="맑은 고딕" panose="020B0503020000020004" pitchFamily="50" charset="-127"/>
              </a:defRPr>
            </a:lvl1pPr>
          </a:lstStyle>
          <a:p>
            <a:pPr>
              <a:defRPr/>
            </a:pPr>
            <a:endParaRPr lang="en-US" altLang="ko-KR" dirty="0"/>
          </a:p>
        </p:txBody>
      </p:sp>
      <p:sp>
        <p:nvSpPr>
          <p:cNvPr id="8199" name="Rectangle 7"/>
          <p:cNvSpPr>
            <a:spLocks noGrp="1" noChangeArrowheads="1"/>
          </p:cNvSpPr>
          <p:nvPr>
            <p:ph type="sldNum" sz="quarter" idx="5"/>
          </p:nvPr>
        </p:nvSpPr>
        <p:spPr bwMode="auto">
          <a:xfrm>
            <a:off x="3867733" y="9460532"/>
            <a:ext cx="2918611" cy="480423"/>
          </a:xfrm>
          <a:prstGeom prst="rect">
            <a:avLst/>
          </a:prstGeom>
          <a:noFill/>
          <a:ln w="9525">
            <a:noFill/>
            <a:miter lim="800000"/>
            <a:headEnd/>
            <a:tailEnd/>
          </a:ln>
        </p:spPr>
        <p:txBody>
          <a:bodyPr vert="horz" wrap="square" lIns="91894" tIns="45952" rIns="91894" bIns="45952" numCol="1" anchor="b" anchorCtr="0" compatLnSpc="1">
            <a:prstTxWarp prst="textNoShape">
              <a:avLst/>
            </a:prstTxWarp>
          </a:bodyPr>
          <a:lstStyle>
            <a:lvl1pPr algn="r" defTabSz="916932" latinLnBrk="0">
              <a:spcBef>
                <a:spcPct val="0"/>
              </a:spcBef>
              <a:defRPr kumimoji="0" sz="1100" b="0">
                <a:latin typeface="맑은 고딕" panose="020B0503020000020004" pitchFamily="50" charset="-127"/>
                <a:ea typeface="맑은 고딕" panose="020B0503020000020004" pitchFamily="50" charset="-127"/>
              </a:defRPr>
            </a:lvl1pPr>
          </a:lstStyle>
          <a:p>
            <a:pPr>
              <a:defRPr/>
            </a:pPr>
            <a:fld id="{79642909-6448-426E-9ED7-EFF6CDC2E25C}" type="slidenum">
              <a:rPr lang="ko-KR" altLang="en-US" smtClean="0"/>
              <a:pPr>
                <a:defRPr/>
              </a:pPr>
              <a:t>‹#›</a:t>
            </a:fld>
            <a:endParaRPr lang="en-US" altLang="ko-KR" dirty="0"/>
          </a:p>
        </p:txBody>
      </p:sp>
    </p:spTree>
    <p:extLst>
      <p:ext uri="{BB962C8B-B14F-4D97-AF65-F5344CB8AC3E}">
        <p14:creationId xmlns:p14="http://schemas.microsoft.com/office/powerpoint/2010/main" val="1997985417"/>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kumimoji="1" sz="1200" kern="1200">
        <a:solidFill>
          <a:schemeClr val="tx1"/>
        </a:solidFill>
        <a:latin typeface="맑은 고딕" panose="020B0503020000020004" pitchFamily="50" charset="-127"/>
        <a:ea typeface="맑은 고딕" panose="020B0503020000020004"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맑은 고딕" panose="020B0503020000020004" pitchFamily="50" charset="-127"/>
        <a:ea typeface="맑은 고딕" panose="020B0503020000020004"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맑은 고딕" panose="020B0503020000020004" pitchFamily="50" charset="-127"/>
        <a:ea typeface="맑은 고딕" panose="020B0503020000020004"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맑은 고딕" panose="020B0503020000020004" pitchFamily="50" charset="-127"/>
        <a:ea typeface="맑은 고딕" panose="020B0503020000020004"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맑은 고딕" panose="020B0503020000020004" pitchFamily="50" charset="-127"/>
        <a:ea typeface="맑은 고딕" panose="020B0503020000020004"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슬라이드 노트 개체 틀 2"/>
              <p:cNvSpPr>
                <a:spLocks noGrp="1"/>
              </p:cNvSpPr>
              <p:nvPr>
                <p:ph type="body" idx="1"/>
              </p:nvPr>
            </p:nvSpPr>
            <p:spPr/>
            <p:txBody>
              <a:bodyPr/>
              <a:lstStyle/>
              <a:p>
                <a:pPr marL="285750" indent="-285750">
                  <a:buFont typeface="Arial" panose="020B0604020202020204" pitchFamily="34" charset="0"/>
                  <a:buChar char="•"/>
                </a:pPr>
                <a:r>
                  <a:rPr lang="ko-KR" altLang="en-US" dirty="0">
                    <a:latin typeface="+mn-ea"/>
                  </a:rPr>
                  <a:t>에이전트</a:t>
                </a:r>
                <a:r>
                  <a:rPr lang="en-US" altLang="ko-KR" dirty="0">
                    <a:latin typeface="+mn-ea"/>
                  </a:rPr>
                  <a:t>(agent) : </a:t>
                </a:r>
                <a:r>
                  <a:rPr lang="ko-KR" altLang="en-US" dirty="0">
                    <a:latin typeface="+mn-ea"/>
                  </a:rPr>
                  <a:t>환경 속에서 행동을 하는 주체</a:t>
                </a:r>
                <a:r>
                  <a:rPr lang="en-US" altLang="ko-KR" dirty="0">
                    <a:latin typeface="+mn-ea"/>
                  </a:rPr>
                  <a:t>. </a:t>
                </a:r>
                <a:r>
                  <a:rPr lang="ko-KR" altLang="en-US" dirty="0">
                    <a:latin typeface="+mn-ea"/>
                  </a:rPr>
                  <a:t>학습자</a:t>
                </a:r>
                <a:r>
                  <a:rPr lang="en-US" altLang="ko-KR" dirty="0">
                    <a:latin typeface="+mn-ea"/>
                  </a:rPr>
                  <a:t>(learner)</a:t>
                </a:r>
                <a:r>
                  <a:rPr lang="ko-KR" altLang="en-US" dirty="0">
                    <a:latin typeface="+mn-ea"/>
                  </a:rPr>
                  <a:t>이자 행동을 결정하는 주체</a:t>
                </a:r>
                <a:r>
                  <a:rPr lang="en-US" altLang="ko-KR" dirty="0">
                    <a:latin typeface="+mn-ea"/>
                  </a:rPr>
                  <a:t>(decision-maker)</a:t>
                </a:r>
              </a:p>
              <a:p>
                <a:pPr marL="285750" indent="-285750">
                  <a:buFont typeface="Arial" panose="020B0604020202020204" pitchFamily="34" charset="0"/>
                  <a:buChar char="•"/>
                </a:pPr>
                <a:r>
                  <a:rPr lang="ko-KR" altLang="en-US" dirty="0">
                    <a:latin typeface="+mn-ea"/>
                  </a:rPr>
                  <a:t>환경</a:t>
                </a:r>
                <a:r>
                  <a:rPr lang="en-US" altLang="ko-KR" dirty="0">
                    <a:latin typeface="+mn-ea"/>
                  </a:rPr>
                  <a:t>(environment) : agent</a:t>
                </a:r>
                <a:r>
                  <a:rPr lang="ko-KR" altLang="en-US" dirty="0">
                    <a:latin typeface="+mn-ea"/>
                  </a:rPr>
                  <a:t>를 둘러싸고 있고 </a:t>
                </a:r>
                <a:r>
                  <a:rPr lang="en-US" altLang="ko-KR" dirty="0">
                    <a:latin typeface="+mn-ea"/>
                  </a:rPr>
                  <a:t>agent</a:t>
                </a:r>
                <a:r>
                  <a:rPr lang="ko-KR" altLang="en-US" dirty="0">
                    <a:latin typeface="+mn-ea"/>
                  </a:rPr>
                  <a:t>에게 영향을 미치는 주변환경</a:t>
                </a:r>
                <a:r>
                  <a:rPr lang="en-US" altLang="ko-KR" dirty="0">
                    <a:latin typeface="+mn-ea"/>
                  </a:rPr>
                  <a:t>. </a:t>
                </a:r>
                <a:r>
                  <a:rPr lang="ko-KR" altLang="en-US" dirty="0">
                    <a:latin typeface="+mn-ea"/>
                  </a:rPr>
                  <a:t>강화학습에서 환경은 대개 </a:t>
                </a:r>
                <a:r>
                  <a:rPr lang="en-US" altLang="ko-KR" dirty="0">
                    <a:latin typeface="+mn-ea"/>
                  </a:rPr>
                  <a:t>MDP(Markov decision process)</a:t>
                </a:r>
                <a:r>
                  <a:rPr lang="ko-KR" altLang="en-US" dirty="0">
                    <a:latin typeface="+mn-ea"/>
                  </a:rPr>
                  <a:t>로 묘사된다</a:t>
                </a:r>
                <a:r>
                  <a:rPr lang="en-US" altLang="ko-KR" dirty="0">
                    <a:latin typeface="+mn-ea"/>
                  </a:rPr>
                  <a:t>.</a:t>
                </a:r>
              </a:p>
              <a:p>
                <a:pPr marL="285750" indent="-285750">
                  <a:buFont typeface="Arial" panose="020B0604020202020204" pitchFamily="34" charset="0"/>
                  <a:buChar char="•"/>
                </a:pPr>
                <a:r>
                  <a:rPr lang="ko-KR" altLang="en-US" dirty="0">
                    <a:latin typeface="+mn-ea"/>
                  </a:rPr>
                  <a:t>상태</a:t>
                </a:r>
                <a:r>
                  <a:rPr lang="en-US" altLang="ko-KR" dirty="0">
                    <a:latin typeface="+mn-ea"/>
                  </a:rPr>
                  <a:t>(state,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𝑡</m:t>
                        </m:r>
                      </m:sub>
                    </m:sSub>
                  </m:oMath>
                </a14:m>
                <a:r>
                  <a:rPr lang="en-US" altLang="ko-KR" dirty="0">
                    <a:latin typeface="+mn-ea"/>
                  </a:rPr>
                  <a:t>) : </a:t>
                </a:r>
                <a:r>
                  <a:rPr lang="ko-KR" altLang="en-US" dirty="0">
                    <a:latin typeface="+mn-ea"/>
                  </a:rPr>
                  <a:t>환경의 상태</a:t>
                </a:r>
                <a:r>
                  <a:rPr lang="en-US" altLang="ko-KR" dirty="0">
                    <a:latin typeface="+mn-ea"/>
                  </a:rPr>
                  <a:t>, </a:t>
                </a:r>
                <a:r>
                  <a:rPr lang="ko-KR" altLang="en-US" dirty="0">
                    <a:latin typeface="+mn-ea"/>
                  </a:rPr>
                  <a:t>에이전트의 상태</a:t>
                </a:r>
                <a:endParaRPr lang="en-US" altLang="ko-KR" dirty="0">
                  <a:latin typeface="+mn-ea"/>
                </a:endParaRPr>
              </a:p>
              <a:p>
                <a:pPr marL="285750" indent="-285750">
                  <a:buFont typeface="Arial" panose="020B0604020202020204" pitchFamily="34" charset="0"/>
                  <a:buChar char="•"/>
                </a:pPr>
                <a:r>
                  <a:rPr lang="ko-KR" altLang="en-US" dirty="0">
                    <a:latin typeface="+mn-ea"/>
                  </a:rPr>
                  <a:t>행동</a:t>
                </a:r>
                <a:r>
                  <a:rPr lang="en-US" altLang="ko-KR" dirty="0">
                    <a:latin typeface="+mn-ea"/>
                  </a:rPr>
                  <a:t>(action,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𝑎</m:t>
                        </m:r>
                      </m:e>
                      <m:sub>
                        <m:r>
                          <a:rPr lang="en-US" altLang="ko-KR" b="0" i="1" smtClean="0">
                            <a:latin typeface="Cambria Math" panose="02040503050406030204" pitchFamily="18" charset="0"/>
                          </a:rPr>
                          <m:t>𝑡</m:t>
                        </m:r>
                      </m:sub>
                    </m:sSub>
                  </m:oMath>
                </a14:m>
                <a:r>
                  <a:rPr lang="en-US" altLang="ko-KR" dirty="0">
                    <a:latin typeface="+mn-ea"/>
                  </a:rPr>
                  <a:t>) : agent</a:t>
                </a:r>
                <a:r>
                  <a:rPr lang="ko-KR" altLang="en-US" dirty="0">
                    <a:latin typeface="+mn-ea"/>
                  </a:rPr>
                  <a:t>가 취하는 행동</a:t>
                </a:r>
                <a:endParaRPr lang="en-US" altLang="ko-KR" dirty="0">
                  <a:latin typeface="+mn-ea"/>
                </a:endParaRPr>
              </a:p>
              <a:p>
                <a:pPr marL="285750" indent="-285750">
                  <a:buFont typeface="Arial" panose="020B0604020202020204" pitchFamily="34" charset="0"/>
                  <a:buChar char="•"/>
                </a:pPr>
                <a:r>
                  <a:rPr lang="ko-KR" altLang="en-US" dirty="0">
                    <a:latin typeface="+mn-ea"/>
                  </a:rPr>
                  <a:t>보상</a:t>
                </a:r>
                <a:r>
                  <a:rPr lang="en-US" altLang="ko-KR" dirty="0">
                    <a:latin typeface="+mn-ea"/>
                  </a:rPr>
                  <a:t>(reward,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𝑟</m:t>
                        </m:r>
                      </m:e>
                      <m:sub>
                        <m:r>
                          <a:rPr lang="en-US" altLang="ko-KR" b="0" i="1" smtClean="0">
                            <a:latin typeface="Cambria Math" panose="02040503050406030204" pitchFamily="18" charset="0"/>
                          </a:rPr>
                          <m:t>𝑡</m:t>
                        </m:r>
                      </m:sub>
                    </m:sSub>
                  </m:oMath>
                </a14:m>
                <a:r>
                  <a:rPr lang="en-US" altLang="ko-KR" dirty="0">
                    <a:latin typeface="+mn-ea"/>
                  </a:rPr>
                  <a:t>) : </a:t>
                </a:r>
                <a:r>
                  <a:rPr lang="ko-KR" altLang="en-US" dirty="0">
                    <a:latin typeface="+mn-ea"/>
                  </a:rPr>
                  <a:t>각 단계마다 </a:t>
                </a:r>
                <a:r>
                  <a:rPr lang="en-US" altLang="ko-KR" dirty="0">
                    <a:latin typeface="+mn-ea"/>
                  </a:rPr>
                  <a:t>agent</a:t>
                </a:r>
                <a:r>
                  <a:rPr lang="ko-KR" altLang="en-US" dirty="0">
                    <a:latin typeface="+mn-ea"/>
                  </a:rPr>
                  <a:t>가 받는 보상</a:t>
                </a:r>
                <a:endParaRPr lang="en-US" altLang="ko-KR" dirty="0">
                  <a:latin typeface="+mn-ea"/>
                </a:endParaRPr>
              </a:p>
              <a:p>
                <a:pPr marL="285750" indent="-285750">
                  <a:buFont typeface="Arial" panose="020B0604020202020204" pitchFamily="34" charset="0"/>
                  <a:buChar char="•"/>
                </a:pPr>
                <a:r>
                  <a:rPr lang="ko-KR" altLang="en-US" dirty="0">
                    <a:latin typeface="+mn-ea"/>
                  </a:rPr>
                  <a:t>정책</a:t>
                </a:r>
                <a:r>
                  <a:rPr lang="en-US" altLang="ko-KR" dirty="0">
                    <a:latin typeface="+mn-ea"/>
                  </a:rPr>
                  <a:t>(policy, </a:t>
                </a:r>
                <a14:m>
                  <m:oMath xmlns:m="http://schemas.openxmlformats.org/officeDocument/2006/math">
                    <m:r>
                      <a:rPr lang="en-US" altLang="ko-KR" b="0" i="1" smtClean="0">
                        <a:latin typeface="Cambria Math" panose="02040503050406030204" pitchFamily="18" charset="0"/>
                      </a:rPr>
                      <m:t>𝜋</m:t>
                    </m:r>
                  </m:oMath>
                </a14:m>
                <a:r>
                  <a:rPr lang="en-US" altLang="ko-KR" dirty="0">
                    <a:latin typeface="+mn-ea"/>
                  </a:rPr>
                  <a:t>) : </a:t>
                </a:r>
                <a:r>
                  <a:rPr lang="ko-KR" altLang="en-US" dirty="0">
                    <a:latin typeface="+mn-ea"/>
                  </a:rPr>
                  <a:t>주어진 상태에 대하여 행동을 결정</a:t>
                </a:r>
                <a:r>
                  <a:rPr lang="en-US" altLang="ko-KR" dirty="0">
                    <a:latin typeface="+mn-ea"/>
                  </a:rPr>
                  <a:t>. </a:t>
                </a:r>
                <a:r>
                  <a:rPr lang="ko-KR" altLang="en-US" dirty="0">
                    <a:latin typeface="+mn-ea"/>
                  </a:rPr>
                  <a:t>정확하게는</a:t>
                </a:r>
                <a:r>
                  <a:rPr lang="en-US" altLang="ko-KR" dirty="0">
                    <a:latin typeface="+mn-ea"/>
                  </a:rPr>
                  <a:t>, </a:t>
                </a:r>
                <a:r>
                  <a:rPr lang="ko-KR" altLang="en-US" dirty="0">
                    <a:latin typeface="+mn-ea"/>
                  </a:rPr>
                  <a:t>주어진 상태에 대한 행동들의 이산확률분포</a:t>
                </a:r>
                <a:r>
                  <a:rPr lang="en-US" altLang="ko-KR" dirty="0">
                    <a:latin typeface="+mn-ea"/>
                  </a:rPr>
                  <a:t>. </a:t>
                </a:r>
                <a:r>
                  <a:rPr lang="ko-KR" altLang="en-US" dirty="0">
                    <a:latin typeface="+mn-ea"/>
                  </a:rPr>
                  <a:t>최적 정책을 찾는 것이 강화학습의 목적</a:t>
                </a:r>
                <a:endParaRPr lang="en-US" altLang="ko-KR" dirty="0">
                  <a:latin typeface="+mn-ea"/>
                </a:endParaRPr>
              </a:p>
              <a:p>
                <a:pPr marL="285750" indent="-285750">
                  <a:buFont typeface="Arial" panose="020B0604020202020204" pitchFamily="34" charset="0"/>
                  <a:buChar char="•"/>
                </a:pPr>
                <a:r>
                  <a:rPr lang="ko-KR" altLang="en-US" dirty="0">
                    <a:latin typeface="+mn-ea"/>
                  </a:rPr>
                  <a:t>리턴</a:t>
                </a:r>
                <a:r>
                  <a:rPr lang="en-US" altLang="ko-KR" dirty="0">
                    <a:latin typeface="+mn-ea"/>
                  </a:rPr>
                  <a:t>(return) : </a:t>
                </a:r>
                <a:r>
                  <a:rPr lang="ko-KR" altLang="en-US" dirty="0">
                    <a:latin typeface="+mn-ea"/>
                  </a:rPr>
                  <a:t>보상의 </a:t>
                </a:r>
                <a:r>
                  <a:rPr lang="ko-KR" altLang="en-US" dirty="0" err="1">
                    <a:latin typeface="+mn-ea"/>
                  </a:rPr>
                  <a:t>누적합</a:t>
                </a:r>
                <a:r>
                  <a:rPr lang="en-US" altLang="ko-KR" dirty="0">
                    <a:latin typeface="+mn-ea"/>
                  </a:rPr>
                  <a:t>.</a:t>
                </a: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r>
                  <a:rPr lang="ko-KR" altLang="en-US" dirty="0" err="1">
                    <a:latin typeface="+mn-ea"/>
                  </a:rPr>
                  <a:t>마코프성질</a:t>
                </a:r>
                <a:r>
                  <a:rPr lang="ko-KR" altLang="en-US" dirty="0">
                    <a:latin typeface="+mn-ea"/>
                  </a:rPr>
                  <a:t> </a:t>
                </a:r>
                <a:r>
                  <a:rPr lang="en-US" altLang="ko-KR" dirty="0">
                    <a:latin typeface="+mn-ea"/>
                  </a:rPr>
                  <a:t>(Markov property) : </a:t>
                </a:r>
                <a:r>
                  <a:rPr lang="ko-KR" altLang="en-US" dirty="0">
                    <a:latin typeface="+mn-ea"/>
                  </a:rPr>
                  <a:t>다</a:t>
                </a:r>
                <a:r>
                  <a:rPr lang="ko-KR" altLang="en-US" sz="1200" dirty="0">
                    <a:latin typeface="+mn-ea"/>
                  </a:rPr>
                  <a:t>음 상태가 직전 상태와 행동에만 의존</a:t>
                </a:r>
                <a:r>
                  <a:rPr lang="en-US" altLang="ko-KR" sz="1200" dirty="0">
                    <a:latin typeface="+mn-ea"/>
                  </a:rPr>
                  <a:t>. RL</a:t>
                </a:r>
                <a:r>
                  <a:rPr lang="ko-KR" altLang="en-US" sz="1200" dirty="0">
                    <a:latin typeface="+mn-ea"/>
                  </a:rPr>
                  <a:t>의 기본 가정</a:t>
                </a:r>
                <a:endParaRPr lang="en-US" altLang="ko-KR" sz="1200" dirty="0">
                  <a:latin typeface="+mn-ea"/>
                </a:endParaRPr>
              </a:p>
              <a:p>
                <a:pPr marL="285750" indent="-285750">
                  <a:buFont typeface="Arial" panose="020B0604020202020204" pitchFamily="34" charset="0"/>
                  <a:buChar char="•"/>
                </a:pPr>
                <a:endParaRPr lang="en-US" altLang="ko-KR" sz="1200" dirty="0">
                  <a:latin typeface="+mn-ea"/>
                </a:endParaRPr>
              </a:p>
              <a:p>
                <a:pPr marL="1028700" lvl="1">
                  <a:buFont typeface="Arial" panose="020B0604020202020204" pitchFamily="34" charset="0"/>
                  <a:buChar char="•"/>
                </a:pPr>
                <a:endParaRPr lang="en-US" altLang="ko-KR" sz="1200" dirty="0">
                  <a:latin typeface="+mn-ea"/>
                </a:endParaRPr>
              </a:p>
              <a:p>
                <a:pPr marL="285750" indent="-285750">
                  <a:buFont typeface="Arial" panose="020B0604020202020204" pitchFamily="34" charset="0"/>
                  <a:buChar char="•"/>
                </a:pPr>
                <a:endParaRPr lang="en-US" altLang="ko-KR" dirty="0">
                  <a:latin typeface="+mn-ea"/>
                </a:endParaRPr>
              </a:p>
              <a:p>
                <a:endParaRPr lang="ko-KR" altLang="en-US" dirty="0"/>
              </a:p>
            </p:txBody>
          </p:sp>
        </mc:Choice>
        <mc:Fallback xmlns="">
          <p:sp>
            <p:nvSpPr>
              <p:cNvPr id="3" name="슬라이드 노트 개체 틀 2"/>
              <p:cNvSpPr>
                <a:spLocks noGrp="1"/>
              </p:cNvSpPr>
              <p:nvPr>
                <p:ph type="body" idx="1"/>
              </p:nvPr>
            </p:nvSpPr>
            <p:spPr/>
            <p:txBody>
              <a:bodyPr/>
              <a:lstStyle/>
              <a:p>
                <a:pPr marL="285750" indent="-285750">
                  <a:buFont typeface="Arial" panose="020B0604020202020204" pitchFamily="34" charset="0"/>
                  <a:buChar char="•"/>
                </a:pPr>
                <a:r>
                  <a:rPr lang="ko-KR" altLang="en-US" dirty="0">
                    <a:latin typeface="+mn-ea"/>
                  </a:rPr>
                  <a:t>에이전트</a:t>
                </a:r>
                <a:r>
                  <a:rPr lang="en-US" altLang="ko-KR" dirty="0">
                    <a:latin typeface="+mn-ea"/>
                  </a:rPr>
                  <a:t>(agent) : </a:t>
                </a:r>
                <a:r>
                  <a:rPr lang="ko-KR" altLang="en-US" dirty="0">
                    <a:latin typeface="+mn-ea"/>
                  </a:rPr>
                  <a:t>환경 속에서 행동을 하는 주체</a:t>
                </a:r>
                <a:r>
                  <a:rPr lang="en-US" altLang="ko-KR" dirty="0">
                    <a:latin typeface="+mn-ea"/>
                  </a:rPr>
                  <a:t>. </a:t>
                </a:r>
                <a:r>
                  <a:rPr lang="ko-KR" altLang="en-US" dirty="0">
                    <a:latin typeface="+mn-ea"/>
                  </a:rPr>
                  <a:t>학습자</a:t>
                </a:r>
                <a:r>
                  <a:rPr lang="en-US" altLang="ko-KR" dirty="0">
                    <a:latin typeface="+mn-ea"/>
                  </a:rPr>
                  <a:t>(learner)</a:t>
                </a:r>
                <a:r>
                  <a:rPr lang="ko-KR" altLang="en-US" dirty="0">
                    <a:latin typeface="+mn-ea"/>
                  </a:rPr>
                  <a:t>이자 행동을 결정하는 주체</a:t>
                </a:r>
                <a:r>
                  <a:rPr lang="en-US" altLang="ko-KR" dirty="0">
                    <a:latin typeface="+mn-ea"/>
                  </a:rPr>
                  <a:t>(decision-maker)</a:t>
                </a:r>
              </a:p>
              <a:p>
                <a:pPr marL="285750" indent="-285750">
                  <a:buFont typeface="Arial" panose="020B0604020202020204" pitchFamily="34" charset="0"/>
                  <a:buChar char="•"/>
                </a:pPr>
                <a:r>
                  <a:rPr lang="ko-KR" altLang="en-US" dirty="0">
                    <a:latin typeface="+mn-ea"/>
                  </a:rPr>
                  <a:t>환경</a:t>
                </a:r>
                <a:r>
                  <a:rPr lang="en-US" altLang="ko-KR" dirty="0">
                    <a:latin typeface="+mn-ea"/>
                  </a:rPr>
                  <a:t>(environment) : agent</a:t>
                </a:r>
                <a:r>
                  <a:rPr lang="ko-KR" altLang="en-US" dirty="0">
                    <a:latin typeface="+mn-ea"/>
                  </a:rPr>
                  <a:t>를 둘러싸고 있고 </a:t>
                </a:r>
                <a:r>
                  <a:rPr lang="en-US" altLang="ko-KR" dirty="0">
                    <a:latin typeface="+mn-ea"/>
                  </a:rPr>
                  <a:t>agent</a:t>
                </a:r>
                <a:r>
                  <a:rPr lang="ko-KR" altLang="en-US" dirty="0">
                    <a:latin typeface="+mn-ea"/>
                  </a:rPr>
                  <a:t>에게 영향을 미치는 주변환경</a:t>
                </a:r>
                <a:r>
                  <a:rPr lang="en-US" altLang="ko-KR" dirty="0">
                    <a:latin typeface="+mn-ea"/>
                  </a:rPr>
                  <a:t>. </a:t>
                </a:r>
                <a:r>
                  <a:rPr lang="ko-KR" altLang="en-US" dirty="0">
                    <a:latin typeface="+mn-ea"/>
                  </a:rPr>
                  <a:t>강화학습에서 환경은 대개 </a:t>
                </a:r>
                <a:r>
                  <a:rPr lang="en-US" altLang="ko-KR" dirty="0">
                    <a:latin typeface="+mn-ea"/>
                  </a:rPr>
                  <a:t>MDP(Markov decision process)</a:t>
                </a:r>
                <a:r>
                  <a:rPr lang="ko-KR" altLang="en-US" dirty="0">
                    <a:latin typeface="+mn-ea"/>
                  </a:rPr>
                  <a:t>로 묘사된다</a:t>
                </a:r>
                <a:r>
                  <a:rPr lang="en-US" altLang="ko-KR" dirty="0">
                    <a:latin typeface="+mn-ea"/>
                  </a:rPr>
                  <a:t>.</a:t>
                </a:r>
              </a:p>
              <a:p>
                <a:pPr marL="285750" indent="-285750">
                  <a:buFont typeface="Arial" panose="020B0604020202020204" pitchFamily="34" charset="0"/>
                  <a:buChar char="•"/>
                </a:pPr>
                <a:r>
                  <a:rPr lang="ko-KR" altLang="en-US" dirty="0">
                    <a:latin typeface="+mn-ea"/>
                  </a:rPr>
                  <a:t>상태</a:t>
                </a:r>
                <a:r>
                  <a:rPr lang="en-US" altLang="ko-KR" dirty="0">
                    <a:latin typeface="+mn-ea"/>
                  </a:rPr>
                  <a:t>(state, </a:t>
                </a:r>
                <a:r>
                  <a:rPr lang="en-US" altLang="ko-KR" b="0" i="0">
                    <a:latin typeface="Cambria Math" panose="02040503050406030204" pitchFamily="18" charset="0"/>
                  </a:rPr>
                  <a:t>𝑠_𝑡</a:t>
                </a:r>
                <a:r>
                  <a:rPr lang="en-US" altLang="ko-KR" dirty="0">
                    <a:latin typeface="+mn-ea"/>
                  </a:rPr>
                  <a:t>) : </a:t>
                </a:r>
                <a:r>
                  <a:rPr lang="ko-KR" altLang="en-US" dirty="0">
                    <a:latin typeface="+mn-ea"/>
                  </a:rPr>
                  <a:t>환경의 상태</a:t>
                </a:r>
                <a:r>
                  <a:rPr lang="en-US" altLang="ko-KR" dirty="0">
                    <a:latin typeface="+mn-ea"/>
                  </a:rPr>
                  <a:t>, </a:t>
                </a:r>
                <a:r>
                  <a:rPr lang="ko-KR" altLang="en-US" dirty="0">
                    <a:latin typeface="+mn-ea"/>
                  </a:rPr>
                  <a:t>에이전트의 상태</a:t>
                </a:r>
                <a:endParaRPr lang="en-US" altLang="ko-KR" dirty="0">
                  <a:latin typeface="+mn-ea"/>
                </a:endParaRPr>
              </a:p>
              <a:p>
                <a:pPr marL="285750" indent="-285750">
                  <a:buFont typeface="Arial" panose="020B0604020202020204" pitchFamily="34" charset="0"/>
                  <a:buChar char="•"/>
                </a:pPr>
                <a:r>
                  <a:rPr lang="ko-KR" altLang="en-US" dirty="0">
                    <a:latin typeface="+mn-ea"/>
                  </a:rPr>
                  <a:t>행동</a:t>
                </a:r>
                <a:r>
                  <a:rPr lang="en-US" altLang="ko-KR" dirty="0">
                    <a:latin typeface="+mn-ea"/>
                  </a:rPr>
                  <a:t>(action, </a:t>
                </a:r>
                <a:r>
                  <a:rPr lang="en-US" altLang="ko-KR" b="0" i="0">
                    <a:latin typeface="Cambria Math" panose="02040503050406030204" pitchFamily="18" charset="0"/>
                  </a:rPr>
                  <a:t>𝑎_𝑡</a:t>
                </a:r>
                <a:r>
                  <a:rPr lang="en-US" altLang="ko-KR" dirty="0">
                    <a:latin typeface="+mn-ea"/>
                  </a:rPr>
                  <a:t>) : agent</a:t>
                </a:r>
                <a:r>
                  <a:rPr lang="ko-KR" altLang="en-US" dirty="0">
                    <a:latin typeface="+mn-ea"/>
                  </a:rPr>
                  <a:t>가 취하는 행동</a:t>
                </a:r>
                <a:endParaRPr lang="en-US" altLang="ko-KR" dirty="0">
                  <a:latin typeface="+mn-ea"/>
                </a:endParaRPr>
              </a:p>
              <a:p>
                <a:pPr marL="285750" indent="-285750">
                  <a:buFont typeface="Arial" panose="020B0604020202020204" pitchFamily="34" charset="0"/>
                  <a:buChar char="•"/>
                </a:pPr>
                <a:r>
                  <a:rPr lang="ko-KR" altLang="en-US" dirty="0">
                    <a:latin typeface="+mn-ea"/>
                  </a:rPr>
                  <a:t>보상</a:t>
                </a:r>
                <a:r>
                  <a:rPr lang="en-US" altLang="ko-KR" dirty="0">
                    <a:latin typeface="+mn-ea"/>
                  </a:rPr>
                  <a:t>(reward, </a:t>
                </a:r>
                <a:r>
                  <a:rPr lang="en-US" altLang="ko-KR" b="0" i="0">
                    <a:latin typeface="Cambria Math" panose="02040503050406030204" pitchFamily="18" charset="0"/>
                  </a:rPr>
                  <a:t>𝑟_𝑡</a:t>
                </a:r>
                <a:r>
                  <a:rPr lang="en-US" altLang="ko-KR" dirty="0">
                    <a:latin typeface="+mn-ea"/>
                  </a:rPr>
                  <a:t>) : </a:t>
                </a:r>
                <a:r>
                  <a:rPr lang="ko-KR" altLang="en-US" dirty="0">
                    <a:latin typeface="+mn-ea"/>
                  </a:rPr>
                  <a:t>각 단계마다 </a:t>
                </a:r>
                <a:r>
                  <a:rPr lang="en-US" altLang="ko-KR" dirty="0">
                    <a:latin typeface="+mn-ea"/>
                  </a:rPr>
                  <a:t>agent</a:t>
                </a:r>
                <a:r>
                  <a:rPr lang="ko-KR" altLang="en-US" dirty="0">
                    <a:latin typeface="+mn-ea"/>
                  </a:rPr>
                  <a:t>가 받는 보상</a:t>
                </a:r>
                <a:endParaRPr lang="en-US" altLang="ko-KR" dirty="0">
                  <a:latin typeface="+mn-ea"/>
                </a:endParaRPr>
              </a:p>
              <a:p>
                <a:pPr marL="285750" indent="-285750">
                  <a:buFont typeface="Arial" panose="020B0604020202020204" pitchFamily="34" charset="0"/>
                  <a:buChar char="•"/>
                </a:pPr>
                <a:r>
                  <a:rPr lang="ko-KR" altLang="en-US" dirty="0">
                    <a:latin typeface="+mn-ea"/>
                  </a:rPr>
                  <a:t>정책</a:t>
                </a:r>
                <a:r>
                  <a:rPr lang="en-US" altLang="ko-KR" dirty="0">
                    <a:latin typeface="+mn-ea"/>
                  </a:rPr>
                  <a:t>(policy, </a:t>
                </a:r>
                <a:r>
                  <a:rPr lang="en-US" altLang="ko-KR" b="0" i="0">
                    <a:latin typeface="Cambria Math" panose="02040503050406030204" pitchFamily="18" charset="0"/>
                  </a:rPr>
                  <a:t>𝜋</a:t>
                </a:r>
                <a:r>
                  <a:rPr lang="en-US" altLang="ko-KR" dirty="0">
                    <a:latin typeface="+mn-ea"/>
                  </a:rPr>
                  <a:t>) : </a:t>
                </a:r>
                <a:r>
                  <a:rPr lang="ko-KR" altLang="en-US" dirty="0">
                    <a:latin typeface="+mn-ea"/>
                  </a:rPr>
                  <a:t>주어진 상태에 대하여 행동을 결정</a:t>
                </a:r>
                <a:r>
                  <a:rPr lang="en-US" altLang="ko-KR" dirty="0">
                    <a:latin typeface="+mn-ea"/>
                  </a:rPr>
                  <a:t>. </a:t>
                </a:r>
                <a:r>
                  <a:rPr lang="ko-KR" altLang="en-US" dirty="0">
                    <a:latin typeface="+mn-ea"/>
                  </a:rPr>
                  <a:t>정확하게는</a:t>
                </a:r>
                <a:r>
                  <a:rPr lang="en-US" altLang="ko-KR" dirty="0">
                    <a:latin typeface="+mn-ea"/>
                  </a:rPr>
                  <a:t>, </a:t>
                </a:r>
                <a:r>
                  <a:rPr lang="ko-KR" altLang="en-US" dirty="0">
                    <a:latin typeface="+mn-ea"/>
                  </a:rPr>
                  <a:t>주어진 상태에 대한 행동들의 이산확률분포</a:t>
                </a:r>
                <a:r>
                  <a:rPr lang="en-US" altLang="ko-KR" dirty="0">
                    <a:latin typeface="+mn-ea"/>
                  </a:rPr>
                  <a:t>. </a:t>
                </a:r>
                <a:r>
                  <a:rPr lang="ko-KR" altLang="en-US" dirty="0">
                    <a:latin typeface="+mn-ea"/>
                  </a:rPr>
                  <a:t>최적 정책을 찾는 것이 강화학습의 목적</a:t>
                </a:r>
                <a:endParaRPr lang="en-US" altLang="ko-KR" dirty="0">
                  <a:latin typeface="+mn-ea"/>
                </a:endParaRPr>
              </a:p>
              <a:p>
                <a:pPr marL="285750" indent="-285750">
                  <a:buFont typeface="Arial" panose="020B0604020202020204" pitchFamily="34" charset="0"/>
                  <a:buChar char="•"/>
                </a:pPr>
                <a:r>
                  <a:rPr lang="ko-KR" altLang="en-US" dirty="0">
                    <a:latin typeface="+mn-ea"/>
                  </a:rPr>
                  <a:t>리턴</a:t>
                </a:r>
                <a:r>
                  <a:rPr lang="en-US" altLang="ko-KR" dirty="0">
                    <a:latin typeface="+mn-ea"/>
                  </a:rPr>
                  <a:t>(return) : </a:t>
                </a:r>
                <a:r>
                  <a:rPr lang="ko-KR" altLang="en-US" dirty="0">
                    <a:latin typeface="+mn-ea"/>
                  </a:rPr>
                  <a:t>보상의 </a:t>
                </a:r>
                <a:r>
                  <a:rPr lang="ko-KR" altLang="en-US" dirty="0" err="1">
                    <a:latin typeface="+mn-ea"/>
                  </a:rPr>
                  <a:t>누적합</a:t>
                </a:r>
                <a:r>
                  <a:rPr lang="en-US" altLang="ko-KR" dirty="0">
                    <a:latin typeface="+mn-ea"/>
                  </a:rPr>
                  <a:t>.</a:t>
                </a: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r>
                  <a:rPr lang="ko-KR" altLang="en-US" dirty="0" err="1">
                    <a:latin typeface="+mn-ea"/>
                  </a:rPr>
                  <a:t>마코프성질</a:t>
                </a:r>
                <a:r>
                  <a:rPr lang="ko-KR" altLang="en-US" dirty="0">
                    <a:latin typeface="+mn-ea"/>
                  </a:rPr>
                  <a:t> </a:t>
                </a:r>
                <a:r>
                  <a:rPr lang="en-US" altLang="ko-KR" dirty="0">
                    <a:latin typeface="+mn-ea"/>
                  </a:rPr>
                  <a:t>(Markov property) : </a:t>
                </a:r>
                <a:r>
                  <a:rPr lang="ko-KR" altLang="en-US" dirty="0">
                    <a:latin typeface="+mn-ea"/>
                  </a:rPr>
                  <a:t>다</a:t>
                </a:r>
                <a:r>
                  <a:rPr lang="ko-KR" altLang="en-US" sz="1200" dirty="0">
                    <a:latin typeface="+mn-ea"/>
                  </a:rPr>
                  <a:t>음 상태가 직전 상태와 행동에만 의존</a:t>
                </a:r>
                <a:r>
                  <a:rPr lang="en-US" altLang="ko-KR" sz="1200" dirty="0">
                    <a:latin typeface="+mn-ea"/>
                  </a:rPr>
                  <a:t>. RL</a:t>
                </a:r>
                <a:r>
                  <a:rPr lang="ko-KR" altLang="en-US" sz="1200" dirty="0">
                    <a:latin typeface="+mn-ea"/>
                  </a:rPr>
                  <a:t>의 기본 가정</a:t>
                </a:r>
                <a:endParaRPr lang="en-US" altLang="ko-KR" sz="1200" dirty="0">
                  <a:latin typeface="+mn-ea"/>
                </a:endParaRPr>
              </a:p>
              <a:p>
                <a:pPr marL="285750" indent="-285750">
                  <a:buFont typeface="Arial" panose="020B0604020202020204" pitchFamily="34" charset="0"/>
                  <a:buChar char="•"/>
                </a:pPr>
                <a:endParaRPr lang="en-US" altLang="ko-KR" sz="1200" dirty="0">
                  <a:latin typeface="+mn-ea"/>
                </a:endParaRPr>
              </a:p>
              <a:p>
                <a:pPr marL="1028700" lvl="1">
                  <a:buFont typeface="Arial" panose="020B0604020202020204" pitchFamily="34" charset="0"/>
                  <a:buChar char="•"/>
                </a:pPr>
                <a:endParaRPr lang="en-US" altLang="ko-KR" sz="1200" dirty="0">
                  <a:latin typeface="+mn-ea"/>
                </a:endParaRPr>
              </a:p>
              <a:p>
                <a:pPr marL="285750" indent="-285750">
                  <a:buFont typeface="Arial" panose="020B0604020202020204" pitchFamily="34" charset="0"/>
                  <a:buChar char="•"/>
                </a:pPr>
                <a:endParaRPr lang="en-US" altLang="ko-KR" dirty="0">
                  <a:latin typeface="+mn-ea"/>
                </a:endParaRPr>
              </a:p>
              <a:p>
                <a:endParaRPr lang="ko-KR" altLang="en-US" dirty="0"/>
              </a:p>
            </p:txBody>
          </p:sp>
        </mc:Fallback>
      </mc:AlternateContent>
      <p:sp>
        <p:nvSpPr>
          <p:cNvPr id="4" name="슬라이드 번호 개체 틀 3"/>
          <p:cNvSpPr>
            <a:spLocks noGrp="1"/>
          </p:cNvSpPr>
          <p:nvPr>
            <p:ph type="sldNum" sz="quarter" idx="5"/>
          </p:nvPr>
        </p:nvSpPr>
        <p:spPr/>
        <p:txBody>
          <a:bodyPr/>
          <a:lstStyle/>
          <a:p>
            <a:pPr>
              <a:defRPr/>
            </a:pPr>
            <a:fld id="{79642909-6448-426E-9ED7-EFF6CDC2E25C}" type="slidenum">
              <a:rPr lang="ko-KR" altLang="en-US" smtClean="0"/>
              <a:pPr>
                <a:defRPr/>
              </a:pPr>
              <a:t>3</a:t>
            </a:fld>
            <a:endParaRPr lang="en-US" altLang="ko-KR" dirty="0"/>
          </a:p>
        </p:txBody>
      </p:sp>
    </p:spTree>
    <p:extLst>
      <p:ext uri="{BB962C8B-B14F-4D97-AF65-F5344CB8AC3E}">
        <p14:creationId xmlns:p14="http://schemas.microsoft.com/office/powerpoint/2010/main" val="1371550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상태함수를 알면 강화학습 문제가 풀린다</a:t>
            </a:r>
            <a:r>
              <a:rPr lang="en-US" altLang="ko-KR" dirty="0"/>
              <a:t>. </a:t>
            </a:r>
            <a:r>
              <a:rPr lang="ko-KR" altLang="en-US" dirty="0"/>
              <a:t>가령 </a:t>
            </a:r>
            <a:r>
              <a:rPr lang="en-US" altLang="ko-KR" dirty="0"/>
              <a:t>Q function</a:t>
            </a:r>
            <a:r>
              <a:rPr lang="ko-KR" altLang="en-US" dirty="0"/>
              <a:t>을 알면 주어진 </a:t>
            </a:r>
            <a:r>
              <a:rPr lang="en-US" altLang="ko-KR" dirty="0"/>
              <a:t>state</a:t>
            </a:r>
            <a:r>
              <a:rPr lang="ko-KR" altLang="en-US" dirty="0"/>
              <a:t>에서 어떤 </a:t>
            </a:r>
            <a:r>
              <a:rPr lang="en-US" altLang="ko-KR" dirty="0"/>
              <a:t>action</a:t>
            </a:r>
            <a:r>
              <a:rPr lang="ko-KR" altLang="en-US" dirty="0"/>
              <a:t>을 취하는 것이 가장 효과적인지가 결정되는 셈이기 때문이다</a:t>
            </a:r>
            <a:r>
              <a:rPr lang="en-US" altLang="ko-KR" dirty="0"/>
              <a:t>. Q function</a:t>
            </a:r>
            <a:r>
              <a:rPr lang="ko-KR" altLang="en-US" dirty="0"/>
              <a:t>을 알면 최적 정책도 결정되는 셈이다</a:t>
            </a:r>
            <a:r>
              <a:rPr lang="en-US" altLang="ko-KR" dirty="0"/>
              <a:t>. DQN </a:t>
            </a:r>
            <a:r>
              <a:rPr lang="ko-KR" altLang="en-US" dirty="0"/>
              <a:t>또한 </a:t>
            </a:r>
            <a:r>
              <a:rPr lang="en-US" altLang="ko-KR" dirty="0"/>
              <a:t>Q function</a:t>
            </a:r>
            <a:r>
              <a:rPr lang="ko-KR" altLang="en-US" dirty="0"/>
              <a:t>을 근사하는 데 그 초점을 둔다</a:t>
            </a:r>
            <a:r>
              <a:rPr lang="en-US" altLang="ko-KR" dirty="0"/>
              <a:t>.</a:t>
            </a:r>
          </a:p>
        </p:txBody>
      </p:sp>
      <p:sp>
        <p:nvSpPr>
          <p:cNvPr id="4" name="슬라이드 번호 개체 틀 3"/>
          <p:cNvSpPr>
            <a:spLocks noGrp="1"/>
          </p:cNvSpPr>
          <p:nvPr>
            <p:ph type="sldNum" sz="quarter" idx="5"/>
          </p:nvPr>
        </p:nvSpPr>
        <p:spPr/>
        <p:txBody>
          <a:bodyPr/>
          <a:lstStyle/>
          <a:p>
            <a:pPr>
              <a:defRPr/>
            </a:pPr>
            <a:fld id="{79642909-6448-426E-9ED7-EFF6CDC2E25C}" type="slidenum">
              <a:rPr lang="ko-KR" altLang="en-US" smtClean="0"/>
              <a:pPr>
                <a:defRPr/>
              </a:pPr>
              <a:t>4</a:t>
            </a:fld>
            <a:endParaRPr lang="en-US" altLang="ko-KR" dirty="0"/>
          </a:p>
        </p:txBody>
      </p:sp>
    </p:spTree>
    <p:extLst>
      <p:ext uri="{BB962C8B-B14F-4D97-AF65-F5344CB8AC3E}">
        <p14:creationId xmlns:p14="http://schemas.microsoft.com/office/powerpoint/2010/main" val="48639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dirty="0"/>
              <a:t>Monte Carlo </a:t>
            </a:r>
            <a:r>
              <a:rPr lang="ko-KR" altLang="en-US" dirty="0"/>
              <a:t>방법은 에피소드가 다 끝날 때까지 기다렸다가 도출된 </a:t>
            </a:r>
            <a:r>
              <a:rPr lang="en-US" altLang="ko-KR" dirty="0"/>
              <a:t>return</a:t>
            </a:r>
            <a:r>
              <a:rPr lang="ko-KR" altLang="en-US" dirty="0"/>
              <a:t>을 바탕으로 가치함수를 업데이트한다</a:t>
            </a:r>
            <a:r>
              <a:rPr lang="en-US" altLang="ko-KR" dirty="0"/>
              <a:t>.</a:t>
            </a:r>
          </a:p>
          <a:p>
            <a:endParaRPr lang="en-US" altLang="ko-KR" dirty="0"/>
          </a:p>
          <a:p>
            <a:r>
              <a:rPr lang="ko-KR" altLang="en-US" dirty="0"/>
              <a:t>반면 </a:t>
            </a:r>
            <a:r>
              <a:rPr lang="en-US" altLang="ko-KR" dirty="0"/>
              <a:t>TD</a:t>
            </a:r>
            <a:r>
              <a:rPr lang="ko-KR" altLang="en-US" dirty="0"/>
              <a:t>는 매 </a:t>
            </a:r>
            <a:r>
              <a:rPr lang="en-US" altLang="ko-KR" dirty="0"/>
              <a:t>step</a:t>
            </a:r>
            <a:r>
              <a:rPr lang="ko-KR" altLang="en-US" dirty="0"/>
              <a:t>마다 가치함수를 </a:t>
            </a:r>
            <a:r>
              <a:rPr lang="en-US" altLang="ko-KR" dirty="0"/>
              <a:t>update</a:t>
            </a:r>
            <a:r>
              <a:rPr lang="ko-KR" altLang="en-US" dirty="0"/>
              <a:t>한다</a:t>
            </a:r>
            <a:r>
              <a:rPr lang="en-US" altLang="ko-KR" dirty="0"/>
              <a:t>. </a:t>
            </a:r>
            <a:r>
              <a:rPr lang="ko-KR" altLang="en-US" dirty="0"/>
              <a:t>이 경우는</a:t>
            </a:r>
            <a:r>
              <a:rPr lang="en-US" altLang="ko-KR" dirty="0"/>
              <a:t> </a:t>
            </a:r>
            <a:r>
              <a:rPr lang="ko-KR" altLang="en-US" dirty="0"/>
              <a:t>추정치로 추정치를 업데이트하는 </a:t>
            </a:r>
            <a:r>
              <a:rPr lang="en-US" altLang="ko-KR" dirty="0" err="1"/>
              <a:t>boostrapping</a:t>
            </a:r>
            <a:r>
              <a:rPr lang="ko-KR" altLang="en-US" dirty="0"/>
              <a:t>에 해당한다</a:t>
            </a:r>
            <a:r>
              <a:rPr lang="en-US" altLang="ko-KR" dirty="0"/>
              <a:t>.</a:t>
            </a:r>
          </a:p>
          <a:p>
            <a:endParaRPr lang="en-US" altLang="ko-KR" dirty="0"/>
          </a:p>
          <a:p>
            <a:pPr marL="0" marR="0" lvl="0" indent="0" algn="l" defTabSz="914400" rtl="0" eaLnBrk="0" fontAlgn="base" latinLnBrk="1" hangingPunct="0">
              <a:lnSpc>
                <a:spcPct val="100000"/>
              </a:lnSpc>
              <a:spcBef>
                <a:spcPct val="30000"/>
              </a:spcBef>
              <a:spcAft>
                <a:spcPct val="0"/>
              </a:spcAft>
              <a:buClrTx/>
              <a:buSzTx/>
              <a:buFontTx/>
              <a:buNone/>
              <a:tabLst/>
              <a:defRPr/>
            </a:pPr>
            <a:r>
              <a:rPr kumimoji="0" lang="ko-KR" altLang="en-US" sz="1200" b="0" dirty="0"/>
              <a:t>수렴속도가 빠르고 가치함수의 수렴도 보장되어 있다</a:t>
            </a:r>
            <a:r>
              <a:rPr kumimoji="0" lang="en-US" altLang="ko-KR" sz="1200" b="0" dirty="0"/>
              <a:t>.</a:t>
            </a:r>
          </a:p>
          <a:p>
            <a:r>
              <a:rPr kumimoji="1" lang="en-US" altLang="ko-KR" sz="1200" b="0" i="0" u="none" strike="noStrike" kern="1200" baseline="0" dirty="0">
                <a:solidFill>
                  <a:schemeClr val="tx1"/>
                </a:solidFill>
                <a:latin typeface="맑은 고딕" panose="020B0503020000020004" pitchFamily="50" charset="-127"/>
                <a:ea typeface="맑은 고딕" panose="020B0503020000020004" pitchFamily="50" charset="-127"/>
                <a:cs typeface="+mn-cs"/>
              </a:rPr>
              <a:t>But are TD methods sound? Certainly, it is convenient to learn one guess from the next, without waiting for an actual outcome, but can we still guarantee convergence to the correct answer? Happily, the answer is yes. For any fixed policy \pi, the TD algorithm described above has been proved to converge to $v_\pi$, in the mean for a constant step-size parameter if it is </a:t>
            </a:r>
            <a:r>
              <a:rPr kumimoji="1" lang="en-US" altLang="ko-KR" sz="1200" b="0" i="0" u="none" strike="noStrike" kern="1200" baseline="0" dirty="0" err="1">
                <a:solidFill>
                  <a:schemeClr val="tx1"/>
                </a:solidFill>
                <a:latin typeface="맑은 고딕" panose="020B0503020000020004" pitchFamily="50" charset="-127"/>
                <a:ea typeface="맑은 고딕" panose="020B0503020000020004" pitchFamily="50" charset="-127"/>
                <a:cs typeface="+mn-cs"/>
              </a:rPr>
              <a:t>suciently</a:t>
            </a:r>
            <a:r>
              <a:rPr kumimoji="1" lang="en-US" altLang="ko-KR" sz="1200" b="0" i="0" u="none" strike="noStrike" kern="1200" baseline="0" dirty="0">
                <a:solidFill>
                  <a:schemeClr val="tx1"/>
                </a:solidFill>
                <a:latin typeface="맑은 고딕" panose="020B0503020000020004" pitchFamily="50" charset="-127"/>
                <a:ea typeface="맑은 고딕" panose="020B0503020000020004" pitchFamily="50" charset="-127"/>
                <a:cs typeface="+mn-cs"/>
              </a:rPr>
              <a:t> small, and with probability 1 if the step-size parameter decreases according to the usual stochastic approximation conditions (2.7).</a:t>
            </a:r>
            <a:endParaRPr lang="ko-KR" altLang="en-US" dirty="0"/>
          </a:p>
        </p:txBody>
      </p:sp>
      <p:sp>
        <p:nvSpPr>
          <p:cNvPr id="4" name="슬라이드 번호 개체 틀 3"/>
          <p:cNvSpPr>
            <a:spLocks noGrp="1"/>
          </p:cNvSpPr>
          <p:nvPr>
            <p:ph type="sldNum" sz="quarter" idx="5"/>
          </p:nvPr>
        </p:nvSpPr>
        <p:spPr/>
        <p:txBody>
          <a:bodyPr/>
          <a:lstStyle/>
          <a:p>
            <a:pPr>
              <a:defRPr/>
            </a:pPr>
            <a:fld id="{79642909-6448-426E-9ED7-EFF6CDC2E25C}" type="slidenum">
              <a:rPr lang="ko-KR" altLang="en-US" smtClean="0"/>
              <a:pPr>
                <a:defRPr/>
              </a:pPr>
              <a:t>5</a:t>
            </a:fld>
            <a:endParaRPr lang="en-US" altLang="ko-KR" dirty="0"/>
          </a:p>
        </p:txBody>
      </p:sp>
    </p:spTree>
    <p:extLst>
      <p:ext uri="{BB962C8B-B14F-4D97-AF65-F5344CB8AC3E}">
        <p14:creationId xmlns:p14="http://schemas.microsoft.com/office/powerpoint/2010/main" val="3147041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15E77-8395-50C6-84C9-85ED92A38C0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E74E0AD-AAAE-EA80-1064-0DC1A40D239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F5E1137-B027-14FD-CC81-6A0916B8557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1E45941-6B75-CBBC-515A-12DE668F64A2}"/>
              </a:ext>
            </a:extLst>
          </p:cNvPr>
          <p:cNvSpPr>
            <a:spLocks noGrp="1"/>
          </p:cNvSpPr>
          <p:nvPr>
            <p:ph type="sldNum" sz="quarter" idx="5"/>
          </p:nvPr>
        </p:nvSpPr>
        <p:spPr/>
        <p:txBody>
          <a:bodyPr/>
          <a:lstStyle/>
          <a:p>
            <a:pPr>
              <a:defRPr/>
            </a:pPr>
            <a:fld id="{79642909-6448-426E-9ED7-EFF6CDC2E25C}" type="slidenum">
              <a:rPr lang="ko-KR" altLang="en-US" smtClean="0"/>
              <a:pPr>
                <a:defRPr/>
              </a:pPr>
              <a:t>6</a:t>
            </a:fld>
            <a:endParaRPr lang="en-US" altLang="ko-KR" dirty="0"/>
          </a:p>
        </p:txBody>
      </p:sp>
    </p:spTree>
    <p:extLst>
      <p:ext uri="{BB962C8B-B14F-4D97-AF65-F5344CB8AC3E}">
        <p14:creationId xmlns:p14="http://schemas.microsoft.com/office/powerpoint/2010/main" val="2117543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CBA89-E0C8-FE88-BE99-913204604A9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EBEA039-3E4C-7A37-7333-4C3A7B01C27D}"/>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슬라이드 노트 개체 틀 2">
                <a:extLst>
                  <a:ext uri="{FF2B5EF4-FFF2-40B4-BE49-F238E27FC236}">
                    <a16:creationId xmlns:a16="http://schemas.microsoft.com/office/drawing/2014/main" id="{37A18E8F-B140-1789-AC49-097A2AD1236D}"/>
                  </a:ext>
                </a:extLst>
              </p:cNvPr>
              <p:cNvSpPr>
                <a:spLocks noGrp="1"/>
              </p:cNvSpPr>
              <p:nvPr>
                <p:ph type="body" idx="1"/>
              </p:nvPr>
            </p:nvSpPr>
            <p:spPr/>
            <p:txBody>
              <a:bodyPr/>
              <a:lstStyle/>
              <a:p>
                <a:r>
                  <a:rPr lang="en-US" altLang="ko-KR" dirty="0"/>
                  <a:t>1.</a:t>
                </a:r>
                <a:r>
                  <a:rPr lang="ko-KR" altLang="en-US" dirty="0"/>
                  <a:t> 학습에 따른 </a:t>
                </a:r>
                <a:r>
                  <a:rPr lang="en-US" altLang="ko-KR" dirty="0"/>
                  <a:t>total reward </a:t>
                </a:r>
                <a:r>
                  <a:rPr lang="ko-KR" altLang="en-US" dirty="0"/>
                  <a:t>그래프</a:t>
                </a:r>
                <a:r>
                  <a:rPr lang="en-US" altLang="ko-KR" dirty="0"/>
                  <a:t>. episode</a:t>
                </a:r>
                <a:r>
                  <a:rPr lang="ko-KR" altLang="en-US" dirty="0"/>
                  <a:t>가 진행됨에 따라 학습이 잘 진행됨</a:t>
                </a:r>
                <a:r>
                  <a:rPr lang="en-US" altLang="ko-KR" dirty="0"/>
                  <a:t>.</a:t>
                </a:r>
              </a:p>
              <a:p>
                <a:r>
                  <a:rPr lang="en-US" altLang="ko-KR" dirty="0"/>
                  <a:t>2. </a:t>
                </a:r>
                <a:r>
                  <a:rPr lang="ko-KR" altLang="en-US" dirty="0"/>
                  <a:t>학습에 따른 최종 온도의 그래프</a:t>
                </a:r>
                <a:r>
                  <a:rPr lang="en-US" altLang="ko-KR" dirty="0"/>
                  <a:t>. episode</a:t>
                </a:r>
                <a:r>
                  <a:rPr lang="ko-KR" altLang="en-US" dirty="0"/>
                  <a:t>가 진행됨에 따라 최종온도는 목표온도와 </a:t>
                </a:r>
                <a:r>
                  <a:rPr lang="ko-KR" altLang="en-US" dirty="0" err="1"/>
                  <a:t>가까워짐</a:t>
                </a:r>
                <a:r>
                  <a:rPr lang="en-US" altLang="ko-KR" dirty="0"/>
                  <a:t>.</a:t>
                </a:r>
              </a:p>
              <a:p>
                <a:r>
                  <a:rPr lang="en-US" altLang="ko-KR" dirty="0"/>
                  <a:t>3. </a:t>
                </a:r>
                <a:r>
                  <a:rPr lang="ko-KR" altLang="en-US" dirty="0"/>
                  <a:t>학습 이후의 </a:t>
                </a:r>
                <a:r>
                  <a:rPr lang="en-US" altLang="ko-KR" dirty="0"/>
                  <a:t>Q-table. x</a:t>
                </a:r>
                <a:r>
                  <a:rPr lang="ko-KR" altLang="en-US" dirty="0"/>
                  <a:t>축은 </a:t>
                </a:r>
                <a:r>
                  <a:rPr lang="en-US" altLang="ko-KR" dirty="0"/>
                  <a:t>state, y</a:t>
                </a:r>
                <a:r>
                  <a:rPr lang="ko-KR" altLang="en-US" dirty="0"/>
                  <a:t>축은 </a:t>
                </a:r>
                <a:r>
                  <a:rPr lang="en-US" altLang="ko-KR" dirty="0"/>
                  <a:t>action. </a:t>
                </a:r>
                <a:r>
                  <a:rPr lang="ko-KR" altLang="en-US" dirty="0"/>
                  <a:t>온도</a:t>
                </a:r>
                <a:r>
                  <a:rPr lang="en-US" altLang="ko-KR" dirty="0"/>
                  <a:t>(state)</a:t>
                </a:r>
                <a:r>
                  <a:rPr lang="ko-KR" altLang="en-US" dirty="0"/>
                  <a:t>가 가운데 있을 수록 </a:t>
                </a:r>
                <a:r>
                  <a:rPr lang="en-US" altLang="ko-KR" dirty="0"/>
                  <a:t>Q</a:t>
                </a:r>
                <a:r>
                  <a:rPr lang="ko-KR" altLang="en-US" dirty="0"/>
                  <a:t>값이 큰 경향</a:t>
                </a:r>
                <a:r>
                  <a:rPr lang="en-US" altLang="ko-KR" dirty="0"/>
                  <a:t>. 110</a:t>
                </a:r>
                <a:r>
                  <a:rPr lang="ko-KR" altLang="en-US" dirty="0"/>
                  <a:t>도가 넘어가면 큰 페널티를 받으므로 오른쪽 끝은 낮은 </a:t>
                </a:r>
                <a:r>
                  <a:rPr lang="en-US" altLang="ko-KR" dirty="0"/>
                  <a:t>Q</a:t>
                </a:r>
                <a:r>
                  <a:rPr lang="ko-KR" altLang="en-US" dirty="0"/>
                  <a:t>값을 가짐</a:t>
                </a:r>
                <a:r>
                  <a:rPr lang="en-US" altLang="ko-KR" dirty="0"/>
                  <a:t>.</a:t>
                </a:r>
              </a:p>
              <a:p>
                <a:r>
                  <a:rPr lang="en-US" altLang="ko-KR" dirty="0"/>
                  <a:t>4. </a:t>
                </a:r>
                <a:r>
                  <a:rPr lang="ko-KR" altLang="en-US" dirty="0"/>
                  <a:t>각 </a:t>
                </a:r>
                <a:r>
                  <a:rPr lang="en-US" altLang="ko-KR" dirty="0"/>
                  <a:t>state</a:t>
                </a:r>
                <a:r>
                  <a:rPr lang="ko-KR" altLang="en-US" dirty="0"/>
                  <a:t>에 대한 최적 </a:t>
                </a:r>
                <a:r>
                  <a:rPr lang="en-US" altLang="ko-KR" dirty="0"/>
                  <a:t>action. </a:t>
                </a:r>
                <a:r>
                  <a:rPr lang="ko-KR" altLang="en-US" dirty="0"/>
                  <a:t>왼쪽 </a:t>
                </a:r>
                <a:r>
                  <a:rPr lang="en-US" altLang="ko-KR" dirty="0"/>
                  <a:t>state</a:t>
                </a:r>
                <a:r>
                  <a:rPr lang="ko-KR" altLang="en-US" dirty="0"/>
                  <a:t>는 </a:t>
                </a:r>
                <a:r>
                  <a:rPr lang="ko-KR" altLang="en-US" dirty="0" err="1"/>
                  <a:t>교반온도가</a:t>
                </a:r>
                <a:r>
                  <a:rPr lang="ko-KR" altLang="en-US" dirty="0"/>
                  <a:t> 낮으므로 냉각수의 양을 줄여서 </a:t>
                </a:r>
                <a:r>
                  <a:rPr lang="en-US" altLang="ko-KR" dirty="0"/>
                  <a:t>(Decrease)</a:t>
                </a:r>
                <a:r>
                  <a:rPr lang="ko-KR" altLang="en-US" dirty="0"/>
                  <a:t> </a:t>
                </a:r>
                <a:r>
                  <a:rPr lang="ko-KR" altLang="en-US" dirty="0" err="1"/>
                  <a:t>교반온도를</a:t>
                </a:r>
                <a:r>
                  <a:rPr lang="ko-KR" altLang="en-US" dirty="0"/>
                  <a:t> 높여야 함</a:t>
                </a:r>
                <a:r>
                  <a:rPr lang="en-US" altLang="ko-KR" dirty="0"/>
                  <a:t>. </a:t>
                </a:r>
                <a:r>
                  <a:rPr lang="ko-KR" altLang="en-US" dirty="0"/>
                  <a:t>오른쪽 </a:t>
                </a:r>
                <a:r>
                  <a:rPr lang="en-US" altLang="ko-KR" dirty="0"/>
                  <a:t>state</a:t>
                </a:r>
                <a:r>
                  <a:rPr lang="ko-KR" altLang="en-US" dirty="0"/>
                  <a:t>는 </a:t>
                </a:r>
                <a:r>
                  <a:rPr lang="ko-KR" altLang="en-US" dirty="0" err="1"/>
                  <a:t>교반온도가</a:t>
                </a:r>
                <a:r>
                  <a:rPr lang="ko-KR" altLang="en-US" dirty="0"/>
                  <a:t> 높으므로 냉각수의 양을 높여서 </a:t>
                </a:r>
                <a:r>
                  <a:rPr lang="en-US" altLang="ko-KR" dirty="0"/>
                  <a:t>(Increase) </a:t>
                </a:r>
                <a:r>
                  <a:rPr lang="ko-KR" altLang="en-US" dirty="0" err="1"/>
                  <a:t>교반온도를</a:t>
                </a:r>
                <a:r>
                  <a:rPr lang="ko-KR" altLang="en-US" dirty="0"/>
                  <a:t> 낮춰야 함</a:t>
                </a:r>
                <a:r>
                  <a:rPr lang="en-US" altLang="ko-KR" dirty="0"/>
                  <a:t>. </a:t>
                </a:r>
                <a:r>
                  <a:rPr lang="ko-KR" altLang="en-US" dirty="0"/>
                  <a:t>왼쪽은 대체로 최적 </a:t>
                </a:r>
                <a:r>
                  <a:rPr lang="en-US" altLang="ko-KR" dirty="0"/>
                  <a:t>action</a:t>
                </a:r>
                <a:r>
                  <a:rPr lang="ko-KR" altLang="en-US" dirty="0"/>
                  <a:t>이 잘 배정되어 있지만 오른쪽은 잘 배정되지 않는 경향</a:t>
                </a:r>
                <a:r>
                  <a:rPr lang="en-US" altLang="ko-KR" dirty="0"/>
                  <a:t>. </a:t>
                </a:r>
                <a:r>
                  <a:rPr lang="ko-KR" altLang="en-US" dirty="0"/>
                  <a:t>따라서 </a:t>
                </a:r>
                <a:r>
                  <a:rPr lang="en-US" altLang="ko-KR" dirty="0"/>
                  <a:t>Q-table</a:t>
                </a:r>
                <a:r>
                  <a:rPr lang="ko-KR" altLang="en-US" dirty="0"/>
                  <a:t>이 완벽하다고 볼 수는 없다</a:t>
                </a:r>
                <a:r>
                  <a:rPr lang="en-US" altLang="ko-KR" dirty="0"/>
                  <a:t>. </a:t>
                </a:r>
                <a:r>
                  <a:rPr lang="ko-KR" altLang="en-US" dirty="0"/>
                  <a:t>또한 주어진 </a:t>
                </a:r>
                <a:r>
                  <a:rPr lang="en-US" altLang="ko-KR" dirty="0"/>
                  <a:t>s</a:t>
                </a:r>
                <a:r>
                  <a:rPr lang="ko-KR" altLang="en-US" dirty="0"/>
                  <a:t>에 따른 </a:t>
                </a:r>
                <a:r>
                  <a:rPr lang="en-US" altLang="ko-KR" dirty="0"/>
                  <a:t>Q(</a:t>
                </a:r>
                <a:r>
                  <a:rPr lang="en-US" altLang="ko-KR" dirty="0" err="1"/>
                  <a:t>s,a</a:t>
                </a:r>
                <a:r>
                  <a:rPr lang="en-US" altLang="ko-KR" dirty="0"/>
                  <a:t>)</a:t>
                </a:r>
                <a:r>
                  <a:rPr lang="ko-KR" altLang="en-US" dirty="0"/>
                  <a:t>의 값이 </a:t>
                </a:r>
                <a:r>
                  <a:rPr lang="en-US" altLang="ko-KR" dirty="0"/>
                  <a:t>a</a:t>
                </a:r>
                <a:r>
                  <a:rPr lang="ko-KR" altLang="en-US" dirty="0"/>
                  <a:t>별로 큰 차이가 나지는 않는 이슈도 있음</a:t>
                </a:r>
                <a:r>
                  <a:rPr lang="en-US" altLang="ko-KR" dirty="0"/>
                  <a:t>.</a:t>
                </a:r>
              </a:p>
              <a:p>
                <a:r>
                  <a:rPr lang="en-US" altLang="ko-KR" dirty="0"/>
                  <a:t>5. </a:t>
                </a:r>
                <a:r>
                  <a:rPr lang="ko-KR" altLang="en-US" dirty="0"/>
                  <a:t>하나의 </a:t>
                </a:r>
                <a:r>
                  <a:rPr lang="en-US" altLang="ko-KR" dirty="0"/>
                  <a:t>test sample</a:t>
                </a:r>
                <a:r>
                  <a:rPr lang="ko-KR" altLang="en-US" dirty="0"/>
                  <a:t>에 대하여 학습된 </a:t>
                </a:r>
                <a:r>
                  <a:rPr lang="en-US" altLang="ko-KR" dirty="0"/>
                  <a:t>agent</a:t>
                </a:r>
                <a:r>
                  <a:rPr lang="ko-KR" altLang="en-US" dirty="0"/>
                  <a:t>를 테스트</a:t>
                </a:r>
                <a:r>
                  <a:rPr lang="en-US" altLang="ko-KR" dirty="0"/>
                  <a:t>. </a:t>
                </a:r>
                <a:r>
                  <a:rPr lang="ko-KR" altLang="en-US" dirty="0"/>
                  <a:t>성공적으로 목표온도에 도달</a:t>
                </a:r>
                <a:r>
                  <a:rPr lang="en-US" altLang="ko-KR" dirty="0"/>
                  <a:t>.</a:t>
                </a:r>
              </a:p>
            </p:txBody>
          </p:sp>
        </mc:Choice>
        <mc:Fallback xmlns="">
          <p:sp>
            <p:nvSpPr>
              <p:cNvPr id="3" name="슬라이드 노트 개체 틀 2">
                <a:extLst>
                  <a:ext uri="{FF2B5EF4-FFF2-40B4-BE49-F238E27FC236}">
                    <a16:creationId xmlns:a16="http://schemas.microsoft.com/office/drawing/2014/main" id="{DA150843-E663-57CD-7577-6F739DE9EB42}"/>
                  </a:ext>
                </a:extLst>
              </p:cNvPr>
              <p:cNvSpPr>
                <a:spLocks noGrp="1"/>
              </p:cNvSpPr>
              <p:nvPr>
                <p:ph type="body" idx="1"/>
              </p:nvPr>
            </p:nvSpPr>
            <p:spPr/>
            <p:txBody>
              <a:bodyPr/>
              <a:lstStyle/>
              <a:p>
                <a:pPr marL="180000" indent="-180000">
                  <a:buFont typeface="Arial" panose="020B0604020202020204" pitchFamily="34" charset="0"/>
                  <a:buChar char="•"/>
                </a:pPr>
                <a:r>
                  <a:rPr lang="en-US" altLang="ko-KR" sz="1200" dirty="0">
                    <a:latin typeface="+mn-ea"/>
                  </a:rPr>
                  <a:t>DQN</a:t>
                </a:r>
                <a:r>
                  <a:rPr lang="ko-KR" altLang="en-US" sz="1200" dirty="0">
                    <a:latin typeface="+mn-ea"/>
                  </a:rPr>
                  <a:t>과</a:t>
                </a:r>
                <a:r>
                  <a:rPr lang="en-US" altLang="ko-KR" sz="1200" dirty="0">
                    <a:latin typeface="+mn-ea"/>
                  </a:rPr>
                  <a:t> DDPG</a:t>
                </a:r>
                <a:r>
                  <a:rPr lang="ko-KR" altLang="en-US" sz="1200" dirty="0">
                    <a:latin typeface="+mn-ea"/>
                  </a:rPr>
                  <a:t>의 </a:t>
                </a:r>
                <a:r>
                  <a:rPr lang="en-US" altLang="ko-KR" sz="1200" dirty="0">
                    <a:latin typeface="+mn-ea"/>
                  </a:rPr>
                  <a:t>pseudo-code</a:t>
                </a:r>
                <a:r>
                  <a:rPr lang="ko-KR" altLang="en-US" sz="1200" dirty="0">
                    <a:latin typeface="+mn-ea"/>
                  </a:rPr>
                  <a:t>에서 </a:t>
                </a:r>
                <a:r>
                  <a:rPr lang="en-US" altLang="ko-KR" sz="1200" i="0" dirty="0">
                    <a:latin typeface="Cambria Math" panose="02040503050406030204" pitchFamily="18" charset="0"/>
                  </a:rPr>
                  <a:t>𝑠’</a:t>
                </a:r>
                <a:r>
                  <a:rPr lang="en-US" altLang="ko-KR" sz="1200" dirty="0">
                    <a:latin typeface="+mn-ea"/>
                  </a:rPr>
                  <a:t> </a:t>
                </a:r>
                <a:r>
                  <a:rPr lang="ko-KR" altLang="en-US" sz="1200" dirty="0">
                    <a:latin typeface="+mn-ea"/>
                  </a:rPr>
                  <a:t>혹은 </a:t>
                </a:r>
                <a:r>
                  <a:rPr lang="en-US" altLang="ko-KR" sz="1200" i="0" dirty="0">
                    <a:latin typeface="Cambria Math" panose="02040503050406030204" pitchFamily="18" charset="0"/>
                  </a:rPr>
                  <a:t>𝑠_(</a:t>
                </a:r>
                <a:r>
                  <a:rPr lang="en-US" altLang="ko-KR" sz="1200" b="0" i="0" dirty="0">
                    <a:latin typeface="Cambria Math" panose="02040503050406030204" pitchFamily="18" charset="0"/>
                  </a:rPr>
                  <a:t>𝑡+1)</a:t>
                </a:r>
                <a:r>
                  <a:rPr lang="ko-KR" altLang="en-US" sz="1200" dirty="0">
                    <a:latin typeface="+mn-ea"/>
                  </a:rPr>
                  <a:t>을 </a:t>
                </a:r>
                <a:r>
                  <a:rPr lang="en-US" altLang="ko-KR" sz="1200" dirty="0">
                    <a:latin typeface="+mn-ea"/>
                  </a:rPr>
                  <a:t>observe</a:t>
                </a:r>
                <a:r>
                  <a:rPr lang="ko-KR" altLang="en-US" sz="1200" dirty="0">
                    <a:latin typeface="+mn-ea"/>
                  </a:rPr>
                  <a:t>한다고 되어 있다</a:t>
                </a:r>
                <a:r>
                  <a:rPr lang="en-US" altLang="ko-KR" sz="1200" dirty="0">
                    <a:latin typeface="+mn-ea"/>
                  </a:rPr>
                  <a:t>. DQN </a:t>
                </a:r>
                <a:r>
                  <a:rPr lang="ko-KR" altLang="en-US" sz="1200" dirty="0">
                    <a:latin typeface="+mn-ea"/>
                  </a:rPr>
                  <a:t>논문에서의 </a:t>
                </a:r>
                <a:r>
                  <a:rPr lang="en-US" altLang="ko-KR" sz="1200" dirty="0">
                    <a:latin typeface="+mn-ea"/>
                  </a:rPr>
                  <a:t>DQN</a:t>
                </a:r>
                <a:r>
                  <a:rPr lang="ko-KR" altLang="en-US" sz="1200" dirty="0">
                    <a:latin typeface="+mn-ea"/>
                  </a:rPr>
                  <a:t>은 </a:t>
                </a:r>
                <a:r>
                  <a:rPr lang="en-US" altLang="ko-KR" sz="1200" dirty="0" err="1">
                    <a:latin typeface="+mn-ea"/>
                  </a:rPr>
                  <a:t>atari</a:t>
                </a:r>
                <a:r>
                  <a:rPr lang="en-US" altLang="ko-KR" sz="1200" dirty="0">
                    <a:latin typeface="+mn-ea"/>
                  </a:rPr>
                  <a:t> </a:t>
                </a:r>
                <a:r>
                  <a:rPr lang="ko-KR" altLang="en-US" sz="1200" dirty="0">
                    <a:latin typeface="+mn-ea"/>
                  </a:rPr>
                  <a:t>문제를 푸는 것이므로 바로 다음 순간의 화면을 </a:t>
                </a:r>
                <a:r>
                  <a:rPr lang="en-US" altLang="ko-KR" sz="1200" dirty="0">
                    <a:latin typeface="+mn-ea"/>
                  </a:rPr>
                  <a:t>CNN</a:t>
                </a:r>
                <a:r>
                  <a:rPr lang="ko-KR" altLang="en-US" sz="1200" dirty="0">
                    <a:latin typeface="+mn-ea"/>
                  </a:rPr>
                  <a:t>으로 인식할 수 있고 그렇게 </a:t>
                </a:r>
                <a:r>
                  <a:rPr lang="en-US" altLang="ko-KR" sz="1200" dirty="0">
                    <a:latin typeface="+mn-ea"/>
                  </a:rPr>
                  <a:t>next state</a:t>
                </a:r>
                <a:r>
                  <a:rPr lang="ko-KR" altLang="en-US" sz="1200" dirty="0">
                    <a:latin typeface="+mn-ea"/>
                  </a:rPr>
                  <a:t>를 정하는 식으로 되어 있다</a:t>
                </a:r>
                <a:r>
                  <a:rPr lang="en-US" altLang="ko-KR" sz="1200" dirty="0">
                    <a:latin typeface="+mn-ea"/>
                  </a:rPr>
                  <a:t>. </a:t>
                </a:r>
                <a:r>
                  <a:rPr lang="ko-KR" altLang="en-US" sz="1200" dirty="0">
                    <a:latin typeface="+mn-ea"/>
                  </a:rPr>
                  <a:t>즉 </a:t>
                </a:r>
                <a:r>
                  <a:rPr lang="en-US" altLang="ko-KR" sz="1200" dirty="0">
                    <a:latin typeface="+mn-ea"/>
                  </a:rPr>
                  <a:t>emulator</a:t>
                </a:r>
                <a:r>
                  <a:rPr lang="ko-KR" altLang="en-US" sz="1200" dirty="0">
                    <a:latin typeface="+mn-ea"/>
                  </a:rPr>
                  <a:t>가 있어서 문제가 없다</a:t>
                </a:r>
                <a:r>
                  <a:rPr lang="en-US" altLang="ko-KR" sz="1200" dirty="0">
                    <a:latin typeface="+mn-ea"/>
                  </a:rPr>
                  <a:t>.</a:t>
                </a:r>
              </a:p>
              <a:p>
                <a:pPr marL="180000" indent="-180000">
                  <a:buFont typeface="Arial" panose="020B0604020202020204" pitchFamily="34" charset="0"/>
                  <a:buChar char="•"/>
                </a:pPr>
                <a:r>
                  <a:rPr lang="en-US" altLang="ko-KR" sz="1200" dirty="0">
                    <a:latin typeface="+mn-ea"/>
                  </a:rPr>
                  <a:t>DDQN </a:t>
                </a:r>
                <a:r>
                  <a:rPr lang="ko-KR" altLang="en-US" sz="1200" dirty="0">
                    <a:latin typeface="+mn-ea"/>
                  </a:rPr>
                  <a:t>논문에서는 </a:t>
                </a:r>
                <a:r>
                  <a:rPr lang="en-US" altLang="ko-KR" sz="1200" dirty="0">
                    <a:latin typeface="+mn-ea"/>
                  </a:rPr>
                  <a:t>cartpole, gripper(</a:t>
                </a:r>
                <a:r>
                  <a:rPr lang="ko-KR" altLang="en-US" sz="1200" dirty="0" err="1">
                    <a:latin typeface="+mn-ea"/>
                  </a:rPr>
                  <a:t>로봇팔</a:t>
                </a:r>
                <a:r>
                  <a:rPr lang="en-US" altLang="ko-KR" sz="1200" dirty="0">
                    <a:latin typeface="+mn-ea"/>
                  </a:rPr>
                  <a:t>), puck striking, locomotion(</a:t>
                </a:r>
                <a:r>
                  <a:rPr lang="ko-KR" altLang="en-US" sz="1200" dirty="0">
                    <a:latin typeface="+mn-ea"/>
                  </a:rPr>
                  <a:t>자율보행</a:t>
                </a:r>
                <a:r>
                  <a:rPr lang="en-US" altLang="ko-KR" sz="1200" dirty="0">
                    <a:latin typeface="+mn-ea"/>
                  </a:rPr>
                  <a:t>) </a:t>
                </a:r>
                <a:r>
                  <a:rPr lang="ko-KR" altLang="en-US" sz="1200" dirty="0">
                    <a:latin typeface="+mn-ea"/>
                  </a:rPr>
                  <a:t>등의 문제를 다뤘고 그때 </a:t>
                </a:r>
                <a:r>
                  <a:rPr lang="en-US" altLang="ko-KR" sz="1200" dirty="0">
                    <a:latin typeface="+mn-ea"/>
                  </a:rPr>
                  <a:t>emulator</a:t>
                </a:r>
                <a:r>
                  <a:rPr lang="ko-KR" altLang="en-US" sz="1200" dirty="0">
                    <a:latin typeface="+mn-ea"/>
                  </a:rPr>
                  <a:t>로서 물리엔진 </a:t>
                </a:r>
                <a:r>
                  <a:rPr lang="en-US" altLang="ko-KR" sz="1200" dirty="0" err="1">
                    <a:latin typeface="+mn-ea"/>
                  </a:rPr>
                  <a:t>MuJoCo</a:t>
                </a:r>
                <a:r>
                  <a:rPr lang="ko-KR" altLang="en-US" sz="1200" dirty="0">
                    <a:latin typeface="+mn-ea"/>
                  </a:rPr>
                  <a:t>를 사용했다고 되어 있다</a:t>
                </a:r>
                <a:r>
                  <a:rPr lang="en-US" altLang="ko-KR" sz="1200" dirty="0">
                    <a:latin typeface="+mn-ea"/>
                  </a:rPr>
                  <a:t>.</a:t>
                </a:r>
              </a:p>
              <a:p>
                <a:pPr marL="180000" indent="-180000">
                  <a:buFont typeface="Arial" panose="020B0604020202020204" pitchFamily="34" charset="0"/>
                  <a:buChar char="•"/>
                </a:pPr>
                <a:r>
                  <a:rPr lang="ko-KR" altLang="en-US" sz="1200" dirty="0">
                    <a:latin typeface="+mn-ea"/>
                  </a:rPr>
                  <a:t>하지만 일반적인 공정 문제에서는</a:t>
                </a:r>
                <a:r>
                  <a:rPr lang="en-US" altLang="ko-KR" sz="1200" dirty="0">
                    <a:latin typeface="+mn-ea"/>
                  </a:rPr>
                  <a:t>, next state</a:t>
                </a:r>
                <a:r>
                  <a:rPr lang="ko-KR" altLang="en-US" sz="1200" dirty="0">
                    <a:latin typeface="+mn-ea"/>
                  </a:rPr>
                  <a:t>는 모든 </a:t>
                </a:r>
                <a:r>
                  <a:rPr lang="en-US" altLang="ko-KR" sz="1200" dirty="0">
                    <a:latin typeface="+mn-ea"/>
                  </a:rPr>
                  <a:t>state</a:t>
                </a:r>
                <a:r>
                  <a:rPr lang="ko-KR" altLang="en-US" sz="1200" dirty="0">
                    <a:latin typeface="+mn-ea"/>
                  </a:rPr>
                  <a:t>를 실시간으로 측정하지 않는 이상 </a:t>
                </a:r>
                <a:r>
                  <a:rPr lang="en-US" altLang="ko-KR" sz="1200" dirty="0">
                    <a:latin typeface="+mn-ea"/>
                  </a:rPr>
                  <a:t>next state</a:t>
                </a:r>
                <a:r>
                  <a:rPr lang="ko-KR" altLang="en-US" sz="1200" dirty="0">
                    <a:latin typeface="+mn-ea"/>
                  </a:rPr>
                  <a:t>를 얻을 수 없다</a:t>
                </a:r>
                <a:r>
                  <a:rPr lang="en-US" altLang="ko-KR" sz="1200" dirty="0">
                    <a:latin typeface="+mn-ea"/>
                  </a:rPr>
                  <a:t>. </a:t>
                </a:r>
                <a:r>
                  <a:rPr lang="ko-KR" altLang="en-US" sz="1200" dirty="0">
                    <a:latin typeface="+mn-ea"/>
                  </a:rPr>
                  <a:t>학습 시에는 </a:t>
                </a:r>
                <a:r>
                  <a:rPr lang="ko-KR" altLang="en-US" sz="1200" dirty="0" err="1">
                    <a:latin typeface="+mn-ea"/>
                  </a:rPr>
                  <a:t>쌓여있는</a:t>
                </a:r>
                <a:r>
                  <a:rPr lang="ko-KR" altLang="en-US" sz="1200" dirty="0">
                    <a:latin typeface="+mn-ea"/>
                  </a:rPr>
                  <a:t> </a:t>
                </a:r>
                <a:r>
                  <a:rPr lang="en-US" altLang="ko-KR" sz="1200" dirty="0">
                    <a:latin typeface="+mn-ea"/>
                  </a:rPr>
                  <a:t>next state</a:t>
                </a:r>
                <a:r>
                  <a:rPr lang="ko-KR" altLang="en-US" sz="1200" dirty="0">
                    <a:latin typeface="+mn-ea"/>
                  </a:rPr>
                  <a:t>를 사용할 수 있겠고</a:t>
                </a:r>
                <a:r>
                  <a:rPr lang="en-US" altLang="ko-KR" sz="1200" dirty="0">
                    <a:latin typeface="+mn-ea"/>
                  </a:rPr>
                  <a:t>, </a:t>
                </a:r>
                <a:r>
                  <a:rPr lang="ko-KR" altLang="en-US" sz="1200" dirty="0">
                    <a:latin typeface="+mn-ea"/>
                  </a:rPr>
                  <a:t>이것이 일정 부분 도움이 될 수 있겠지만</a:t>
                </a:r>
                <a:r>
                  <a:rPr lang="en-US" altLang="ko-KR" sz="1200" dirty="0">
                    <a:latin typeface="+mn-ea"/>
                  </a:rPr>
                  <a:t>, test</a:t>
                </a:r>
                <a:r>
                  <a:rPr lang="ko-KR" altLang="en-US" sz="1200" dirty="0">
                    <a:latin typeface="+mn-ea"/>
                  </a:rPr>
                  <a:t>시에는 가능하지 않다</a:t>
                </a:r>
                <a:r>
                  <a:rPr lang="en-US" altLang="ko-KR" sz="1200" dirty="0">
                    <a:latin typeface="+mn-ea"/>
                  </a:rPr>
                  <a:t>.</a:t>
                </a:r>
              </a:p>
              <a:p>
                <a:endParaRPr lang="ko-KR" altLang="en-US" dirty="0"/>
              </a:p>
            </p:txBody>
          </p:sp>
        </mc:Fallback>
      </mc:AlternateContent>
      <p:sp>
        <p:nvSpPr>
          <p:cNvPr id="4" name="슬라이드 번호 개체 틀 3">
            <a:extLst>
              <a:ext uri="{FF2B5EF4-FFF2-40B4-BE49-F238E27FC236}">
                <a16:creationId xmlns:a16="http://schemas.microsoft.com/office/drawing/2014/main" id="{20951504-F594-F158-7CEC-450FE47AB56F}"/>
              </a:ext>
            </a:extLst>
          </p:cNvPr>
          <p:cNvSpPr>
            <a:spLocks noGrp="1"/>
          </p:cNvSpPr>
          <p:nvPr>
            <p:ph type="sldNum" sz="quarter" idx="5"/>
          </p:nvPr>
        </p:nvSpPr>
        <p:spPr/>
        <p:txBody>
          <a:bodyPr/>
          <a:lstStyle/>
          <a:p>
            <a:pPr>
              <a:defRPr/>
            </a:pPr>
            <a:fld id="{79642909-6448-426E-9ED7-EFF6CDC2E25C}" type="slidenum">
              <a:rPr lang="ko-KR" altLang="en-US" smtClean="0"/>
              <a:pPr>
                <a:defRPr/>
              </a:pPr>
              <a:t>7</a:t>
            </a:fld>
            <a:endParaRPr lang="en-US" altLang="ko-KR" dirty="0"/>
          </a:p>
        </p:txBody>
      </p:sp>
    </p:spTree>
    <p:extLst>
      <p:ext uri="{BB962C8B-B14F-4D97-AF65-F5344CB8AC3E}">
        <p14:creationId xmlns:p14="http://schemas.microsoft.com/office/powerpoint/2010/main" val="351186276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표지">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1506"/>
            <a:ext cx="9906000" cy="6238875"/>
          </a:xfrm>
          <a:prstGeom prst="rect">
            <a:avLst/>
          </a:prstGeom>
        </p:spPr>
      </p:pic>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67285" y="6364091"/>
            <a:ext cx="1722052" cy="396000"/>
          </a:xfrm>
          <a:prstGeom prst="rect">
            <a:avLst/>
          </a:prstGeom>
          <a:solidFill>
            <a:schemeClr val="bg1"/>
          </a:solidFill>
        </p:spPr>
      </p:pic>
      <p:pic>
        <p:nvPicPr>
          <p:cNvPr id="4" name="Picture 8" descr="logo_goodmark_%5b245%5d">
            <a:extLst>
              <a:ext uri="{FF2B5EF4-FFF2-40B4-BE49-F238E27FC236}">
                <a16:creationId xmlns:a16="http://schemas.microsoft.com/office/drawing/2014/main" id="{1934DBAA-C187-4B71-BC05-DBE92E855E79}"/>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490520" y="262067"/>
            <a:ext cx="1143000" cy="5715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1240B29-F687-4F45-9708-019B960494DF}">
              <a14:hiddenLine xmlns:a14="http://schemas.microsoft.com/office/drawing/2010/main" w="9525">
                <a:solidFill>
                  <a:srgbClr val="000000"/>
                </a:solidFill>
                <a:miter lim="800000"/>
                <a:headEnd/>
                <a:tailEnd/>
              </a14:hiddenLine>
            </a:ext>
          </a:extLst>
        </p:spPr>
      </p:pic>
      <p:pic>
        <p:nvPicPr>
          <p:cNvPr id="5" name="Picture 17">
            <a:extLst>
              <a:ext uri="{FF2B5EF4-FFF2-40B4-BE49-F238E27FC236}">
                <a16:creationId xmlns:a16="http://schemas.microsoft.com/office/drawing/2014/main" id="{0A8B6B62-1260-49DF-A155-60E5615934C8}"/>
              </a:ext>
            </a:extLst>
          </p:cNvPr>
          <p:cNvPicPr>
            <a:picLocks noChangeAspect="1" noChangeArrowheads="1"/>
          </p:cNvPicPr>
          <p:nvPr userDrawn="1"/>
        </p:nvPicPr>
        <p:blipFill rotWithShape="1">
          <a:blip r:embed="rId5" cstate="print"/>
          <a:srcRect l="959" t="575" r="68657" b="78969"/>
          <a:stretch/>
        </p:blipFill>
        <p:spPr bwMode="auto">
          <a:xfrm>
            <a:off x="7597286" y="260648"/>
            <a:ext cx="647502" cy="57291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내용 개체 틀 7">
            <a:extLst>
              <a:ext uri="{FF2B5EF4-FFF2-40B4-BE49-F238E27FC236}">
                <a16:creationId xmlns:a16="http://schemas.microsoft.com/office/drawing/2014/main" id="{E34D8AA7-8C6E-4CCA-A0FA-DEF653DF9597}"/>
              </a:ext>
            </a:extLst>
          </p:cNvPr>
          <p:cNvSpPr>
            <a:spLocks noGrp="1"/>
          </p:cNvSpPr>
          <p:nvPr>
            <p:ph sz="quarter" idx="10" hasCustomPrompt="1"/>
          </p:nvPr>
        </p:nvSpPr>
        <p:spPr>
          <a:xfrm>
            <a:off x="1545636" y="1378603"/>
            <a:ext cx="6814729" cy="1216815"/>
          </a:xfrm>
          <a:prstGeom prst="rect">
            <a:avLst/>
          </a:prstGeom>
        </p:spPr>
        <p:txBody>
          <a:bodyPr anchor="ctr"/>
          <a:lstStyle>
            <a:lvl1pPr marL="0" indent="0" algn="ctr" rtl="0" fontAlgn="base" latinLnBrk="1">
              <a:spcBef>
                <a:spcPct val="0"/>
              </a:spcBef>
              <a:spcAft>
                <a:spcPct val="0"/>
              </a:spcAft>
              <a:buNone/>
              <a:defRPr kumimoji="1" lang="ko-KR" altLang="en-US" sz="3600" b="1" kern="1200" dirty="0" smtClean="0">
                <a:solidFill>
                  <a:schemeClr val="bg1"/>
                </a:solidFill>
                <a:latin typeface="맑은 고딕" panose="020B0503020000020004" pitchFamily="50" charset="-127"/>
                <a:ea typeface="맑은 고딕" panose="020B0503020000020004" pitchFamily="50" charset="-127"/>
                <a:cs typeface="+mn-cs"/>
                <a:sym typeface="Wingdings" pitchFamily="2" charset="2"/>
              </a:defRPr>
            </a:lvl1pPr>
            <a:lvl2pPr algn="ctr" rtl="0" fontAlgn="base" latinLnBrk="1">
              <a:spcBef>
                <a:spcPct val="0"/>
              </a:spcBef>
              <a:spcAft>
                <a:spcPct val="0"/>
              </a:spcAft>
              <a:defRPr kumimoji="1" lang="ko-KR" altLang="en-US" sz="3600" b="1" kern="1200" dirty="0" smtClean="0">
                <a:solidFill>
                  <a:schemeClr val="bg1"/>
                </a:solidFill>
                <a:latin typeface="맑은 고딕" panose="020B0503020000020004" pitchFamily="50" charset="-127"/>
                <a:ea typeface="맑은 고딕" panose="020B0503020000020004" pitchFamily="50" charset="-127"/>
                <a:cs typeface="+mn-cs"/>
                <a:sym typeface="Wingdings" pitchFamily="2" charset="2"/>
              </a:defRPr>
            </a:lvl2pPr>
            <a:lvl3pPr algn="ctr" rtl="0" fontAlgn="base" latinLnBrk="1">
              <a:spcBef>
                <a:spcPct val="0"/>
              </a:spcBef>
              <a:spcAft>
                <a:spcPct val="0"/>
              </a:spcAft>
              <a:defRPr kumimoji="1" lang="ko-KR" altLang="en-US" sz="3600" b="1" kern="1200" dirty="0" smtClean="0">
                <a:solidFill>
                  <a:schemeClr val="bg1"/>
                </a:solidFill>
                <a:latin typeface="맑은 고딕" panose="020B0503020000020004" pitchFamily="50" charset="-127"/>
                <a:ea typeface="맑은 고딕" panose="020B0503020000020004" pitchFamily="50" charset="-127"/>
                <a:cs typeface="+mn-cs"/>
                <a:sym typeface="Wingdings" pitchFamily="2" charset="2"/>
              </a:defRPr>
            </a:lvl3pPr>
            <a:lvl4pPr algn="ctr" rtl="0" fontAlgn="base" latinLnBrk="1">
              <a:spcBef>
                <a:spcPct val="0"/>
              </a:spcBef>
              <a:spcAft>
                <a:spcPct val="0"/>
              </a:spcAft>
              <a:defRPr kumimoji="1" lang="ko-KR" altLang="en-US" sz="3600" b="1" kern="1200" dirty="0" smtClean="0">
                <a:solidFill>
                  <a:schemeClr val="bg1"/>
                </a:solidFill>
                <a:latin typeface="맑은 고딕" panose="020B0503020000020004" pitchFamily="50" charset="-127"/>
                <a:ea typeface="맑은 고딕" panose="020B0503020000020004" pitchFamily="50" charset="-127"/>
                <a:cs typeface="+mn-cs"/>
                <a:sym typeface="Wingdings" pitchFamily="2" charset="2"/>
              </a:defRPr>
            </a:lvl4pPr>
            <a:lvl5pPr algn="ctr" rtl="0" fontAlgn="base" latinLnBrk="1">
              <a:spcBef>
                <a:spcPct val="0"/>
              </a:spcBef>
              <a:spcAft>
                <a:spcPct val="0"/>
              </a:spcAft>
              <a:defRPr kumimoji="1" lang="ko-KR" altLang="en-US" sz="3600" b="1" kern="1200" dirty="0">
                <a:solidFill>
                  <a:schemeClr val="bg1"/>
                </a:solidFill>
                <a:latin typeface="맑은 고딕" panose="020B0503020000020004" pitchFamily="50" charset="-127"/>
                <a:ea typeface="맑은 고딕" panose="020B0503020000020004" pitchFamily="50" charset="-127"/>
                <a:cs typeface="+mn-cs"/>
                <a:sym typeface="Wingdings" pitchFamily="2" charset="2"/>
              </a:defRPr>
            </a:lvl5pPr>
          </a:lstStyle>
          <a:p>
            <a:pPr lvl="0"/>
            <a:r>
              <a:rPr lang="ko-KR" altLang="en-US" dirty="0"/>
              <a:t>제목 입력</a:t>
            </a:r>
          </a:p>
        </p:txBody>
      </p:sp>
      <p:sp>
        <p:nvSpPr>
          <p:cNvPr id="11" name="텍스트 개체 틀 10">
            <a:extLst>
              <a:ext uri="{FF2B5EF4-FFF2-40B4-BE49-F238E27FC236}">
                <a16:creationId xmlns:a16="http://schemas.microsoft.com/office/drawing/2014/main" id="{BF9C7C0F-DB1B-4BE9-9142-410B314C4B41}"/>
              </a:ext>
            </a:extLst>
          </p:cNvPr>
          <p:cNvSpPr>
            <a:spLocks noGrp="1"/>
          </p:cNvSpPr>
          <p:nvPr>
            <p:ph type="body" sz="quarter" idx="11" hasCustomPrompt="1"/>
          </p:nvPr>
        </p:nvSpPr>
        <p:spPr>
          <a:xfrm>
            <a:off x="6674269" y="4509119"/>
            <a:ext cx="2586181" cy="970278"/>
          </a:xfrm>
          <a:prstGeom prst="rect">
            <a:avLst/>
          </a:prstGeom>
        </p:spPr>
        <p:txBody>
          <a:bodyPr anchor="ctr"/>
          <a:lstStyle>
            <a:lvl1pPr marL="0" indent="0" algn="r" rtl="0" fontAlgn="base" latinLnBrk="1">
              <a:spcBef>
                <a:spcPct val="0"/>
              </a:spcBef>
              <a:spcAft>
                <a:spcPct val="0"/>
              </a:spcAft>
              <a:buNone/>
              <a:defRPr kumimoji="1" lang="ko-KR" altLang="en-US" sz="2400" b="1" kern="1200" dirty="0">
                <a:solidFill>
                  <a:schemeClr val="bg1"/>
                </a:solidFill>
                <a:latin typeface="+mn-ea"/>
                <a:ea typeface="+mn-ea"/>
                <a:cs typeface="Open Sans" panose="020B0606030504020204" pitchFamily="34" charset="0"/>
                <a:sym typeface="Wingdings" pitchFamily="2" charset="2"/>
              </a:defRPr>
            </a:lvl1pPr>
          </a:lstStyle>
          <a:p>
            <a:pPr lvl="0"/>
            <a:r>
              <a:rPr lang="en-US" altLang="ko-KR" dirty="0"/>
              <a:t>202y. mm. dd </a:t>
            </a:r>
            <a:r>
              <a:rPr lang="ko-KR" altLang="en-US" dirty="0"/>
              <a:t>담당자</a:t>
            </a:r>
            <a:r>
              <a:rPr lang="en-US" altLang="ko-KR" dirty="0"/>
              <a:t>/</a:t>
            </a:r>
            <a:r>
              <a:rPr lang="ko-KR" altLang="en-US" dirty="0"/>
              <a:t>직급</a:t>
            </a:r>
          </a:p>
        </p:txBody>
      </p:sp>
      <p:sp>
        <p:nvSpPr>
          <p:cNvPr id="13" name="텍스트 개체 틀 10">
            <a:extLst>
              <a:ext uri="{FF2B5EF4-FFF2-40B4-BE49-F238E27FC236}">
                <a16:creationId xmlns:a16="http://schemas.microsoft.com/office/drawing/2014/main" id="{59E7B7E7-9C05-4667-885B-AB8295A96972}"/>
              </a:ext>
            </a:extLst>
          </p:cNvPr>
          <p:cNvSpPr>
            <a:spLocks noGrp="1"/>
          </p:cNvSpPr>
          <p:nvPr>
            <p:ph type="body" sz="quarter" idx="12" hasCustomPrompt="1"/>
          </p:nvPr>
        </p:nvSpPr>
        <p:spPr>
          <a:xfrm>
            <a:off x="165381" y="6356345"/>
            <a:ext cx="2137340" cy="411493"/>
          </a:xfrm>
          <a:prstGeom prst="rect">
            <a:avLst/>
          </a:prstGeom>
        </p:spPr>
        <p:txBody>
          <a:bodyPr anchor="ctr"/>
          <a:lstStyle>
            <a:lvl1pPr marL="0" indent="0" algn="ctr" rtl="0" fontAlgn="base" latinLnBrk="1">
              <a:spcBef>
                <a:spcPct val="0"/>
              </a:spcBef>
              <a:spcAft>
                <a:spcPct val="0"/>
              </a:spcAft>
              <a:buNone/>
              <a:defRPr kumimoji="1" lang="ko-KR" altLang="en-US" sz="1800" b="1" kern="1200" dirty="0">
                <a:solidFill>
                  <a:schemeClr val="tx1"/>
                </a:solidFill>
                <a:latin typeface="+mn-ea"/>
                <a:ea typeface="+mn-ea"/>
                <a:cs typeface="Open Sans" panose="020B0606030504020204" pitchFamily="34" charset="0"/>
                <a:sym typeface="Wingdings" pitchFamily="2" charset="2"/>
              </a:defRPr>
            </a:lvl1pPr>
          </a:lstStyle>
          <a:p>
            <a:pPr lvl="0"/>
            <a:r>
              <a:rPr lang="ko-KR" altLang="en-US" dirty="0"/>
              <a:t>대상 업체 로고</a:t>
            </a:r>
            <a:endParaRPr lang="en-US" altLang="ko-KR" dirty="0"/>
          </a:p>
          <a:p>
            <a:pPr lvl="0"/>
            <a:r>
              <a:rPr lang="en-US" altLang="ko-KR" dirty="0"/>
              <a:t>*</a:t>
            </a:r>
            <a:r>
              <a:rPr lang="ko-KR" altLang="en-US" dirty="0"/>
              <a:t>없을 시 무시</a:t>
            </a:r>
          </a:p>
        </p:txBody>
      </p:sp>
    </p:spTree>
    <p:extLst>
      <p:ext uri="{BB962C8B-B14F-4D97-AF65-F5344CB8AC3E}">
        <p14:creationId xmlns:p14="http://schemas.microsoft.com/office/powerpoint/2010/main" val="1297784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목차">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1494"/>
            <a:ext cx="9906000" cy="942975"/>
          </a:xfrm>
          <a:prstGeom prst="rect">
            <a:avLst/>
          </a:prstGeom>
        </p:spPr>
      </p:pic>
      <p:pic>
        <p:nvPicPr>
          <p:cNvPr id="6" name="그림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70652" y="6427458"/>
            <a:ext cx="1252399" cy="288000"/>
          </a:xfrm>
          <a:prstGeom prst="rect">
            <a:avLst/>
          </a:prstGeom>
        </p:spPr>
      </p:pic>
      <p:sp>
        <p:nvSpPr>
          <p:cNvPr id="4" name="텍스트 개체 틀 2">
            <a:extLst>
              <a:ext uri="{FF2B5EF4-FFF2-40B4-BE49-F238E27FC236}">
                <a16:creationId xmlns:a16="http://schemas.microsoft.com/office/drawing/2014/main" id="{F2EC38CF-E0DA-4E4F-8879-1DB4A59C6FEA}"/>
              </a:ext>
            </a:extLst>
          </p:cNvPr>
          <p:cNvSpPr txBox="1">
            <a:spLocks/>
          </p:cNvSpPr>
          <p:nvPr userDrawn="1"/>
        </p:nvSpPr>
        <p:spPr>
          <a:xfrm>
            <a:off x="554082" y="188574"/>
            <a:ext cx="8797837" cy="568815"/>
          </a:xfrm>
          <a:prstGeom prst="rect">
            <a:avLst/>
          </a:prstGeom>
        </p:spPr>
        <p:txBody>
          <a:bodyPr vert="horz" lIns="91440" tIns="45720" rIns="91440" bIns="45720" rtlCol="0">
            <a:noAutofit/>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b="1" dirty="0">
                <a:solidFill>
                  <a:schemeClr val="bg1"/>
                </a:solidFill>
                <a:latin typeface="+mn-ea"/>
                <a:cs typeface="한컴돋움" pitchFamily="18" charset="2"/>
              </a:rPr>
              <a:t>CONTENTS</a:t>
            </a:r>
            <a:endParaRPr lang="ko-KR" altLang="en-US" b="1" dirty="0">
              <a:solidFill>
                <a:schemeClr val="bg1"/>
              </a:solidFill>
              <a:latin typeface="+mn-ea"/>
              <a:cs typeface="한컴돋움" pitchFamily="18" charset="2"/>
            </a:endParaRPr>
          </a:p>
        </p:txBody>
      </p:sp>
      <p:sp>
        <p:nvSpPr>
          <p:cNvPr id="7" name="텍스트 개체 틀 6">
            <a:extLst>
              <a:ext uri="{FF2B5EF4-FFF2-40B4-BE49-F238E27FC236}">
                <a16:creationId xmlns:a16="http://schemas.microsoft.com/office/drawing/2014/main" id="{C3C314B1-2864-4E0A-A4EA-09072E8A1F86}"/>
              </a:ext>
            </a:extLst>
          </p:cNvPr>
          <p:cNvSpPr>
            <a:spLocks noGrp="1"/>
          </p:cNvSpPr>
          <p:nvPr>
            <p:ph type="body" sz="quarter" idx="10" hasCustomPrompt="1"/>
          </p:nvPr>
        </p:nvSpPr>
        <p:spPr>
          <a:xfrm>
            <a:off x="3122091" y="1997810"/>
            <a:ext cx="4733230" cy="3571718"/>
          </a:xfrm>
          <a:prstGeom prst="rect">
            <a:avLst/>
          </a:prstGeom>
        </p:spPr>
        <p:txBody>
          <a:bodyPr anchor="t"/>
          <a:lstStyle>
            <a:lvl1pPr marL="360363" indent="-360363" algn="l" rtl="0" fontAlgn="base" latinLnBrk="1">
              <a:lnSpc>
                <a:spcPct val="150000"/>
              </a:lnSpc>
              <a:spcBef>
                <a:spcPts val="600"/>
              </a:spcBef>
              <a:spcAft>
                <a:spcPts val="600"/>
              </a:spcAft>
              <a:buFont typeface="+mj-lt"/>
              <a:buAutoNum type="romanUcPeriod"/>
              <a:defRPr kumimoji="1" lang="ko-KR" altLang="en-US" sz="2800" b="1" kern="1200" dirty="0">
                <a:solidFill>
                  <a:schemeClr val="accent1">
                    <a:lumMod val="75000"/>
                  </a:schemeClr>
                </a:solidFill>
                <a:latin typeface="맑은 고딕" panose="020B0503020000020004" pitchFamily="50" charset="-127"/>
                <a:ea typeface="맑은 고딕" panose="020B0503020000020004" pitchFamily="50" charset="-127"/>
                <a:cs typeface="+mn-cs"/>
                <a:sym typeface="Wingdings" pitchFamily="2" charset="2"/>
              </a:defRPr>
            </a:lvl1pPr>
            <a:lvl2pPr marL="1028700" indent="-571500">
              <a:buFont typeface="+mj-lt"/>
              <a:buAutoNum type="romanUcPeriod"/>
              <a:defRPr/>
            </a:lvl2pPr>
            <a:lvl3pPr marL="1428750" indent="-514350">
              <a:buFont typeface="+mj-lt"/>
              <a:buAutoNum type="romanUcPeriod"/>
              <a:defRPr/>
            </a:lvl3pPr>
            <a:lvl4pPr marL="1885950" indent="-514350">
              <a:buFont typeface="+mj-lt"/>
              <a:buAutoNum type="romanUcPeriod"/>
              <a:defRPr/>
            </a:lvl4pPr>
            <a:lvl5pPr marL="2343150" indent="-514350">
              <a:buFont typeface="+mj-lt"/>
              <a:buAutoNum type="romanUcPeriod"/>
              <a:defRPr/>
            </a:lvl5pPr>
          </a:lstStyle>
          <a:p>
            <a:pPr lvl="0"/>
            <a:r>
              <a:rPr lang="ko-KR" altLang="en-US" dirty="0"/>
              <a:t>챕터 제목</a:t>
            </a:r>
            <a:endParaRPr lang="en-US" altLang="ko-KR" dirty="0"/>
          </a:p>
        </p:txBody>
      </p:sp>
    </p:spTree>
    <p:extLst>
      <p:ext uri="{BB962C8B-B14F-4D97-AF65-F5344CB8AC3E}">
        <p14:creationId xmlns:p14="http://schemas.microsoft.com/office/powerpoint/2010/main" val="410166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세부목차">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1700" y="0"/>
            <a:ext cx="1952625" cy="6858000"/>
          </a:xfrm>
          <a:prstGeom prst="rect">
            <a:avLst/>
          </a:prstGeom>
        </p:spPr>
      </p:pic>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70652" y="6427458"/>
            <a:ext cx="1252399" cy="288000"/>
          </a:xfrm>
          <a:prstGeom prst="rect">
            <a:avLst/>
          </a:prstGeom>
        </p:spPr>
      </p:pic>
      <p:sp>
        <p:nvSpPr>
          <p:cNvPr id="8" name="직사각형 7">
            <a:extLst>
              <a:ext uri="{FF2B5EF4-FFF2-40B4-BE49-F238E27FC236}">
                <a16:creationId xmlns:a16="http://schemas.microsoft.com/office/drawing/2014/main" id="{1F2CE6CF-FA78-495B-9442-39017B283AB8}"/>
              </a:ext>
            </a:extLst>
          </p:cNvPr>
          <p:cNvSpPr/>
          <p:nvPr userDrawn="1"/>
        </p:nvSpPr>
        <p:spPr bwMode="auto">
          <a:xfrm>
            <a:off x="2661084" y="1266012"/>
            <a:ext cx="5909568" cy="702000"/>
          </a:xfrm>
          <a:prstGeom prst="rect">
            <a:avLst/>
          </a:prstGeom>
          <a:noFill/>
          <a:ln w="317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400"/>
              </a:lnSpc>
            </a:pPr>
            <a:endParaRPr lang="en-US" altLang="ko-KR" sz="900" dirty="0">
              <a:solidFill>
                <a:schemeClr val="tx1"/>
              </a:solidFill>
              <a:latin typeface="+mn-ea"/>
            </a:endParaRPr>
          </a:p>
        </p:txBody>
      </p:sp>
      <p:sp>
        <p:nvSpPr>
          <p:cNvPr id="4" name="텍스트 개체 틀 3">
            <a:extLst>
              <a:ext uri="{FF2B5EF4-FFF2-40B4-BE49-F238E27FC236}">
                <a16:creationId xmlns:a16="http://schemas.microsoft.com/office/drawing/2014/main" id="{54E7EA2D-A154-446D-A624-452F1F9623A3}"/>
              </a:ext>
            </a:extLst>
          </p:cNvPr>
          <p:cNvSpPr>
            <a:spLocks noGrp="1"/>
          </p:cNvSpPr>
          <p:nvPr>
            <p:ph type="body" sz="quarter" idx="10" hasCustomPrompt="1"/>
          </p:nvPr>
        </p:nvSpPr>
        <p:spPr>
          <a:xfrm>
            <a:off x="2771916" y="1407161"/>
            <a:ext cx="4953000" cy="419702"/>
          </a:xfrm>
          <a:prstGeom prst="rect">
            <a:avLst/>
          </a:prstGeom>
        </p:spPr>
        <p:txBody>
          <a:bodyPr anchor="ctr"/>
          <a:lstStyle>
            <a:lvl1pPr marL="0" indent="0">
              <a:buNone/>
              <a:defRPr kumimoji="1" lang="ko-KR" altLang="en-US" sz="2400" b="1" kern="1200" dirty="0">
                <a:solidFill>
                  <a:schemeClr val="accent1">
                    <a:lumMod val="75000"/>
                  </a:schemeClr>
                </a:solidFill>
                <a:latin typeface="맑은 고딕" panose="020B0503020000020004" pitchFamily="50" charset="-127"/>
                <a:ea typeface="맑은 고딕" panose="020B0503020000020004" pitchFamily="50" charset="-127"/>
                <a:cs typeface="+mn-cs"/>
                <a:sym typeface="Wingdings" pitchFamily="2" charset="2"/>
              </a:defRPr>
            </a:lvl1pPr>
          </a:lstStyle>
          <a:p>
            <a:pPr lvl="0"/>
            <a:r>
              <a:rPr lang="en-US" altLang="ko-KR" dirty="0"/>
              <a:t>I. </a:t>
            </a:r>
            <a:r>
              <a:rPr lang="ko-KR" altLang="en-US" dirty="0"/>
              <a:t>챕터 제목</a:t>
            </a:r>
          </a:p>
        </p:txBody>
      </p:sp>
      <p:sp>
        <p:nvSpPr>
          <p:cNvPr id="11" name="텍스트 개체 틀 10">
            <a:extLst>
              <a:ext uri="{FF2B5EF4-FFF2-40B4-BE49-F238E27FC236}">
                <a16:creationId xmlns:a16="http://schemas.microsoft.com/office/drawing/2014/main" id="{D2AF3831-91CA-4478-A2C9-FA92065CC98D}"/>
              </a:ext>
            </a:extLst>
          </p:cNvPr>
          <p:cNvSpPr>
            <a:spLocks noGrp="1"/>
          </p:cNvSpPr>
          <p:nvPr>
            <p:ph type="body" sz="quarter" idx="11" hasCustomPrompt="1"/>
          </p:nvPr>
        </p:nvSpPr>
        <p:spPr>
          <a:xfrm>
            <a:off x="3063405" y="2295122"/>
            <a:ext cx="4507345" cy="914400"/>
          </a:xfrm>
          <a:prstGeom prst="rect">
            <a:avLst/>
          </a:prstGeom>
        </p:spPr>
        <p:txBody>
          <a:bodyPr/>
          <a:lstStyle>
            <a:lvl1pPr marL="342900" indent="-342900" algn="l" rtl="0" eaLnBrk="0" fontAlgn="base" latinLnBrk="0" hangingPunct="0">
              <a:lnSpc>
                <a:spcPct val="150000"/>
              </a:lnSpc>
              <a:spcBef>
                <a:spcPts val="600"/>
              </a:spcBef>
              <a:spcAft>
                <a:spcPct val="0"/>
              </a:spcAft>
              <a:buAutoNum type="arabicPeriod"/>
              <a:defRPr kumimoji="1" lang="ko-KR" altLang="en-US" sz="2000" b="1" kern="1200" dirty="0">
                <a:solidFill>
                  <a:srgbClr val="333333"/>
                </a:solidFill>
                <a:latin typeface="맑은 고딕" pitchFamily="50" charset="-127"/>
                <a:ea typeface="맑은 고딕" pitchFamily="50" charset="-127"/>
                <a:cs typeface="+mn-cs"/>
                <a:sym typeface="Wingdings" pitchFamily="2" charset="2"/>
              </a:defRPr>
            </a:lvl1pPr>
          </a:lstStyle>
          <a:p>
            <a:pPr lvl="0"/>
            <a:r>
              <a:rPr lang="ko-KR" altLang="en-US" dirty="0"/>
              <a:t>주제</a:t>
            </a:r>
          </a:p>
        </p:txBody>
      </p:sp>
    </p:spTree>
    <p:extLst>
      <p:ext uri="{BB962C8B-B14F-4D97-AF65-F5344CB8AC3E}">
        <p14:creationId xmlns:p14="http://schemas.microsoft.com/office/powerpoint/2010/main" val="3414547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내용">
    <p:spTree>
      <p:nvGrpSpPr>
        <p:cNvPr id="1" name=""/>
        <p:cNvGrpSpPr/>
        <p:nvPr/>
      </p:nvGrpSpPr>
      <p:grpSpPr>
        <a:xfrm>
          <a:off x="0" y="0"/>
          <a:ext cx="0" cy="0"/>
          <a:chOff x="0" y="0"/>
          <a:chExt cx="0" cy="0"/>
        </a:xfrm>
      </p:grpSpPr>
      <p:sp>
        <p:nvSpPr>
          <p:cNvPr id="5" name="Text Box 1068"/>
          <p:cNvSpPr txBox="1">
            <a:spLocks noChangeArrowheads="1"/>
          </p:cNvSpPr>
          <p:nvPr userDrawn="1"/>
        </p:nvSpPr>
        <p:spPr bwMode="auto">
          <a:xfrm>
            <a:off x="-1513" y="6613337"/>
            <a:ext cx="4162425" cy="200039"/>
          </a:xfrm>
          <a:prstGeom prst="rect">
            <a:avLst/>
          </a:prstGeom>
          <a:noFill/>
          <a:ln w="9525">
            <a:noFill/>
            <a:miter lim="800000"/>
            <a:headEnd/>
            <a:tailEnd/>
          </a:ln>
          <a:effectLst/>
        </p:spPr>
        <p:txBody>
          <a:bodyPr wrap="square" lIns="91423" tIns="45712" rIns="91423" bIns="45712">
            <a:spAutoFit/>
          </a:bodyPr>
          <a:lstStyle/>
          <a:p>
            <a:pPr eaLnBrk="0" latinLnBrk="0" hangingPunct="0">
              <a:defRPr/>
            </a:pPr>
            <a:r>
              <a:rPr kumimoji="0" lang="ko-KR" altLang="en-US" sz="700" b="0" i="0" dirty="0">
                <a:latin typeface="맑은 고딕"/>
                <a:ea typeface="맑은 고딕"/>
              </a:rPr>
              <a:t>  </a:t>
            </a:r>
            <a:r>
              <a:rPr kumimoji="0" lang="en-US" altLang="ko-KR" sz="700" b="0" i="0" dirty="0">
                <a:latin typeface="맑은 고딕"/>
                <a:ea typeface="맑은 고딕"/>
              </a:rPr>
              <a:t>Copyright 2024. ECMiner</a:t>
            </a:r>
            <a:r>
              <a:rPr kumimoji="0" lang="en-US" altLang="ko-KR" sz="700" b="0" i="0" baseline="0" dirty="0">
                <a:latin typeface="맑은 고딕"/>
                <a:ea typeface="맑은 고딕"/>
              </a:rPr>
              <a:t> Co., Ltd. a</a:t>
            </a:r>
            <a:r>
              <a:rPr kumimoji="0" lang="en-US" altLang="ko-KR" sz="700" b="0" i="0" dirty="0">
                <a:latin typeface="맑은 고딕"/>
                <a:ea typeface="맑은 고딕"/>
              </a:rPr>
              <a:t>ll rights reserved.</a:t>
            </a:r>
          </a:p>
        </p:txBody>
      </p:sp>
      <p:sp>
        <p:nvSpPr>
          <p:cNvPr id="7" name="Rectangle 6"/>
          <p:cNvSpPr>
            <a:spLocks noChangeArrowheads="1"/>
          </p:cNvSpPr>
          <p:nvPr userDrawn="1"/>
        </p:nvSpPr>
        <p:spPr bwMode="auto">
          <a:xfrm>
            <a:off x="4797199" y="6597352"/>
            <a:ext cx="311602" cy="195814"/>
          </a:xfrm>
          <a:prstGeom prst="rect">
            <a:avLst/>
          </a:prstGeom>
          <a:noFill/>
          <a:ln w="9525" algn="ctr">
            <a:noFill/>
            <a:miter lim="800000"/>
            <a:headEnd/>
            <a:tailEnd/>
          </a:ln>
          <a:effectLst>
            <a:prstShdw prst="shdw17" dist="17961" dir="13500000">
              <a:schemeClr val="bg2"/>
            </a:prstShdw>
          </a:effectLst>
        </p:spPr>
        <p:txBody>
          <a:bodyPr wrap="none" lIns="90000" tIns="36000" rIns="90000" bIns="36000">
            <a:spAutoFit/>
          </a:bodyPr>
          <a:lstStyle/>
          <a:p>
            <a:pPr algn="ctr">
              <a:defRPr/>
            </a:pPr>
            <a:fld id="{222CA80C-32BB-49ED-A851-5BF43CB034FC}" type="slidenum">
              <a:rPr lang="ko-KR" altLang="en-US" sz="800" b="0">
                <a:solidFill>
                  <a:prstClr val="black"/>
                </a:solidFill>
                <a:latin typeface="+mn-ea"/>
                <a:ea typeface="+mn-ea"/>
              </a:rPr>
              <a:pPr algn="ctr">
                <a:defRPr/>
              </a:pPr>
              <a:t>‹#›</a:t>
            </a:fld>
            <a:endParaRPr lang="en-US" altLang="ko-KR" sz="800" b="0" dirty="0">
              <a:solidFill>
                <a:prstClr val="black"/>
              </a:solidFill>
              <a:latin typeface="+mn-ea"/>
              <a:ea typeface="+mn-ea"/>
            </a:endParaRPr>
          </a:p>
        </p:txBody>
      </p:sp>
      <p:pic>
        <p:nvPicPr>
          <p:cNvPr id="3" name="그림 2"/>
          <p:cNvPicPr>
            <a:picLocks noChangeAspect="1"/>
          </p:cNvPicPr>
          <p:nvPr userDrawn="1"/>
        </p:nvPicPr>
        <p:blipFill>
          <a:blip r:embed="rId2"/>
          <a:stretch>
            <a:fillRect/>
          </a:stretch>
        </p:blipFill>
        <p:spPr>
          <a:xfrm>
            <a:off x="0" y="1494"/>
            <a:ext cx="9906000" cy="561975"/>
          </a:xfrm>
          <a:prstGeom prst="rect">
            <a:avLst/>
          </a:prstGeom>
        </p:spPr>
      </p:pic>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840822" y="6579514"/>
            <a:ext cx="939299" cy="216000"/>
          </a:xfrm>
          <a:prstGeom prst="rect">
            <a:avLst/>
          </a:prstGeom>
        </p:spPr>
      </p:pic>
      <p:sp>
        <p:nvSpPr>
          <p:cNvPr id="14" name="텍스트 개체 틀 19">
            <a:extLst>
              <a:ext uri="{FF2B5EF4-FFF2-40B4-BE49-F238E27FC236}">
                <a16:creationId xmlns:a16="http://schemas.microsoft.com/office/drawing/2014/main" id="{6BEA6CC4-7B5D-42C1-89CC-4D5372474DEF}"/>
              </a:ext>
            </a:extLst>
          </p:cNvPr>
          <p:cNvSpPr>
            <a:spLocks noGrp="1"/>
          </p:cNvSpPr>
          <p:nvPr>
            <p:ph type="body" sz="quarter" idx="10" hasCustomPrompt="1"/>
          </p:nvPr>
        </p:nvSpPr>
        <p:spPr>
          <a:xfrm>
            <a:off x="209708" y="572858"/>
            <a:ext cx="9423242" cy="400110"/>
          </a:xfrm>
          <a:prstGeom prst="rect">
            <a:avLst/>
          </a:prstGeom>
        </p:spPr>
        <p:txBody>
          <a:bodyPr lIns="72000" tIns="108000" anchor="ctr"/>
          <a:lstStyle>
            <a:lvl1pPr marL="182563" indent="-182563" algn="l">
              <a:buFont typeface="Wingdings" panose="05000000000000000000" pitchFamily="2" charset="2"/>
              <a:buChar char="§"/>
              <a:tabLst>
                <a:tab pos="0" algn="l"/>
              </a:tabLst>
              <a:defRPr sz="1600" b="1"/>
            </a:lvl1pPr>
            <a:lvl2pPr marL="457200" indent="0">
              <a:buNone/>
              <a:defRPr/>
            </a:lvl2pPr>
          </a:lstStyle>
          <a:p>
            <a:pPr lvl="0"/>
            <a:r>
              <a:rPr lang="ko-KR" altLang="en-US" dirty="0"/>
              <a:t>소주제</a:t>
            </a:r>
          </a:p>
        </p:txBody>
      </p:sp>
      <p:sp>
        <p:nvSpPr>
          <p:cNvPr id="15" name="텍스트 개체 틀 21">
            <a:extLst>
              <a:ext uri="{FF2B5EF4-FFF2-40B4-BE49-F238E27FC236}">
                <a16:creationId xmlns:a16="http://schemas.microsoft.com/office/drawing/2014/main" id="{55D5FE98-3A06-4B9D-8C1C-494B1EC85FD1}"/>
              </a:ext>
            </a:extLst>
          </p:cNvPr>
          <p:cNvSpPr>
            <a:spLocks noGrp="1"/>
          </p:cNvSpPr>
          <p:nvPr>
            <p:ph type="body" sz="quarter" idx="11" hasCustomPrompt="1"/>
          </p:nvPr>
        </p:nvSpPr>
        <p:spPr>
          <a:xfrm>
            <a:off x="362309" y="922627"/>
            <a:ext cx="9270641" cy="708950"/>
          </a:xfrm>
          <a:prstGeom prst="rect">
            <a:avLst/>
          </a:prstGeom>
        </p:spPr>
        <p:txBody>
          <a:bodyPr lIns="72000" tIns="36000"/>
          <a:lstStyle>
            <a:lvl1pPr marL="0" indent="0" latinLnBrk="0">
              <a:lnSpc>
                <a:spcPct val="100000"/>
              </a:lnSpc>
              <a:spcBef>
                <a:spcPts val="0"/>
              </a:spcBef>
              <a:buNone/>
              <a:defRPr sz="1400"/>
            </a:lvl1pPr>
          </a:lstStyle>
          <a:p>
            <a:pPr lvl="0"/>
            <a:r>
              <a:rPr lang="en-US" altLang="ko-KR" dirty="0"/>
              <a:t>*</a:t>
            </a:r>
            <a:r>
              <a:rPr lang="ko-KR" altLang="en-US" dirty="0"/>
              <a:t>글자 폰트 </a:t>
            </a:r>
            <a:r>
              <a:rPr lang="en-US" altLang="ko-KR" dirty="0"/>
              <a:t>14 </a:t>
            </a:r>
            <a:r>
              <a:rPr lang="ko-KR" altLang="en-US" dirty="0"/>
              <a:t>유지                                                                                                                     </a:t>
            </a:r>
            <a:r>
              <a:rPr lang="en-US" altLang="ko-KR" dirty="0"/>
              <a:t>*</a:t>
            </a:r>
            <a:r>
              <a:rPr lang="ko-KR" altLang="en-US" dirty="0"/>
              <a:t>최대 </a:t>
            </a:r>
            <a:r>
              <a:rPr lang="en-US" altLang="ko-KR" dirty="0"/>
              <a:t>3</a:t>
            </a:r>
            <a:r>
              <a:rPr lang="ko-KR" altLang="en-US" dirty="0"/>
              <a:t>줄까지 기입                                                                                                                      </a:t>
            </a:r>
            <a:r>
              <a:rPr lang="en-US" altLang="ko-KR" dirty="0"/>
              <a:t>*</a:t>
            </a:r>
            <a:r>
              <a:rPr lang="ko-KR" altLang="en-US" dirty="0"/>
              <a:t>그림 자료가 주 내용일 경우</a:t>
            </a:r>
            <a:r>
              <a:rPr lang="en-US" altLang="ko-KR" dirty="0"/>
              <a:t>, </a:t>
            </a:r>
            <a:r>
              <a:rPr lang="ko-KR" altLang="en-US" dirty="0"/>
              <a:t>삭제 가능</a:t>
            </a:r>
          </a:p>
        </p:txBody>
      </p:sp>
      <p:sp>
        <p:nvSpPr>
          <p:cNvPr id="16" name="제목 9">
            <a:extLst>
              <a:ext uri="{FF2B5EF4-FFF2-40B4-BE49-F238E27FC236}">
                <a16:creationId xmlns:a16="http://schemas.microsoft.com/office/drawing/2014/main" id="{4218302E-124C-470D-BB79-F671E8D10CBC}"/>
              </a:ext>
            </a:extLst>
          </p:cNvPr>
          <p:cNvSpPr>
            <a:spLocks noGrp="1"/>
          </p:cNvSpPr>
          <p:nvPr>
            <p:ph type="title" hasCustomPrompt="1"/>
          </p:nvPr>
        </p:nvSpPr>
        <p:spPr>
          <a:xfrm>
            <a:off x="200472" y="76562"/>
            <a:ext cx="8543925" cy="400110"/>
          </a:xfrm>
          <a:prstGeom prst="rect">
            <a:avLst/>
          </a:prstGeom>
          <a:noFill/>
          <a:ln w="12700" algn="ctr">
            <a:noFill/>
            <a:miter lim="800000"/>
            <a:headEnd/>
            <a:tailEnd/>
          </a:ln>
        </p:spPr>
        <p:txBody>
          <a:bodyPr wrap="square">
            <a:spAutoFit/>
          </a:bodyPr>
          <a:lstStyle>
            <a:lvl1pPr algn="l">
              <a:defRPr kumimoji="0" lang="ko-KR" altLang="en-US" sz="2000" b="1" i="0" u="none" strike="noStrike" cap="none" spc="0" normalizeH="0" baseline="0" dirty="0">
                <a:ln>
                  <a:noFill/>
                </a:ln>
                <a:solidFill>
                  <a:prstClr val="white"/>
                </a:solidFill>
                <a:effectLst/>
                <a:uLnTx/>
                <a:uFillTx/>
                <a:latin typeface="맑은 고딕"/>
                <a:ea typeface="맑은 고딕" panose="020B0503020000020004" pitchFamily="50" charset="-127"/>
                <a:cs typeface="Arial" charset="0"/>
                <a:sym typeface="Wingdings" pitchFamily="2" charset="2"/>
              </a:defRPr>
            </a:lvl1pPr>
          </a:lstStyle>
          <a:p>
            <a:pPr marL="0" marR="0" lvl="0" indent="0" algn="l" defTabSz="914400" eaLnBrk="1" latinLnBrk="0" hangingPunct="1">
              <a:lnSpc>
                <a:spcPct val="100000"/>
              </a:lnSpc>
              <a:spcBef>
                <a:spcPct val="50000"/>
              </a:spcBef>
              <a:buClr>
                <a:srgbClr val="4D4D4D"/>
              </a:buClr>
              <a:buSzTx/>
              <a:buFont typeface="Arial" charset="0"/>
              <a:buNone/>
              <a:tabLst/>
            </a:pPr>
            <a:r>
              <a:rPr lang="en-US" altLang="ko-KR" dirty="0"/>
              <a:t>1. </a:t>
            </a:r>
            <a:r>
              <a:rPr lang="ko-KR" altLang="en-US" dirty="0"/>
              <a:t>주제</a:t>
            </a:r>
          </a:p>
        </p:txBody>
      </p:sp>
      <p:sp>
        <p:nvSpPr>
          <p:cNvPr id="17" name="텍스트 개체 틀 3">
            <a:extLst>
              <a:ext uri="{FF2B5EF4-FFF2-40B4-BE49-F238E27FC236}">
                <a16:creationId xmlns:a16="http://schemas.microsoft.com/office/drawing/2014/main" id="{43F91B20-EC10-49FE-B09E-1E543401CC1D}"/>
              </a:ext>
            </a:extLst>
          </p:cNvPr>
          <p:cNvSpPr>
            <a:spLocks noGrp="1"/>
          </p:cNvSpPr>
          <p:nvPr>
            <p:ph type="body" sz="quarter" idx="12" hasCustomPrompt="1"/>
          </p:nvPr>
        </p:nvSpPr>
        <p:spPr>
          <a:xfrm>
            <a:off x="6935096" y="273600"/>
            <a:ext cx="2952000" cy="277200"/>
          </a:xfrm>
          <a:prstGeom prst="rect">
            <a:avLst/>
          </a:prstGeom>
        </p:spPr>
        <p:txBody>
          <a:bodyPr anchor="ctr"/>
          <a:lstStyle>
            <a:lvl1pPr marL="0" indent="0" algn="r">
              <a:buFontTx/>
              <a:buNone/>
              <a:defRPr kumimoji="1" lang="ko-KR" altLang="en-US" sz="1200" b="1" kern="1200" dirty="0" smtClean="0">
                <a:solidFill>
                  <a:schemeClr val="bg1"/>
                </a:solidFill>
                <a:latin typeface="맑은 고딕" panose="020B0503020000020004" pitchFamily="50" charset="-127"/>
                <a:ea typeface="맑은 고딕" panose="020B0503020000020004" pitchFamily="50" charset="-127"/>
                <a:cs typeface="+mn-cs"/>
                <a:sym typeface="Wingdings" pitchFamily="2" charset="2"/>
              </a:defRPr>
            </a:lvl1pPr>
            <a:lvl2pPr>
              <a:defRPr kumimoji="1" lang="ko-KR" altLang="en-US" sz="1200" b="1" kern="1200" dirty="0" smtClean="0">
                <a:solidFill>
                  <a:schemeClr val="bg1"/>
                </a:solidFill>
                <a:latin typeface="맑은 고딕" panose="020B0503020000020004" pitchFamily="50" charset="-127"/>
                <a:ea typeface="맑은 고딕" panose="020B0503020000020004" pitchFamily="50" charset="-127"/>
                <a:cs typeface="+mn-cs"/>
                <a:sym typeface="Wingdings" pitchFamily="2" charset="2"/>
              </a:defRPr>
            </a:lvl2pPr>
            <a:lvl3pPr>
              <a:defRPr kumimoji="1" lang="ko-KR" altLang="en-US" sz="1200" b="1" kern="1200" dirty="0" smtClean="0">
                <a:solidFill>
                  <a:schemeClr val="bg1"/>
                </a:solidFill>
                <a:latin typeface="맑은 고딕" panose="020B0503020000020004" pitchFamily="50" charset="-127"/>
                <a:ea typeface="맑은 고딕" panose="020B0503020000020004" pitchFamily="50" charset="-127"/>
                <a:cs typeface="+mn-cs"/>
                <a:sym typeface="Wingdings" pitchFamily="2" charset="2"/>
              </a:defRPr>
            </a:lvl3pPr>
            <a:lvl4pPr>
              <a:defRPr kumimoji="1" lang="ko-KR" altLang="en-US" sz="1200" b="1" kern="1200" dirty="0" smtClean="0">
                <a:solidFill>
                  <a:schemeClr val="bg1"/>
                </a:solidFill>
                <a:latin typeface="맑은 고딕" panose="020B0503020000020004" pitchFamily="50" charset="-127"/>
                <a:ea typeface="맑은 고딕" panose="020B0503020000020004" pitchFamily="50" charset="-127"/>
                <a:cs typeface="+mn-cs"/>
                <a:sym typeface="Wingdings" pitchFamily="2" charset="2"/>
              </a:defRPr>
            </a:lvl4pPr>
            <a:lvl5pPr>
              <a:defRPr kumimoji="1" lang="ko-KR" altLang="en-US" sz="1200" b="1" kern="1200" dirty="0">
                <a:solidFill>
                  <a:schemeClr val="bg1"/>
                </a:solidFill>
                <a:latin typeface="맑은 고딕" panose="020B0503020000020004" pitchFamily="50" charset="-127"/>
                <a:ea typeface="맑은 고딕" panose="020B0503020000020004" pitchFamily="50" charset="-127"/>
                <a:cs typeface="+mn-cs"/>
                <a:sym typeface="Wingdings" pitchFamily="2" charset="2"/>
              </a:defRPr>
            </a:lvl5pPr>
          </a:lstStyle>
          <a:p>
            <a:pPr lvl="0"/>
            <a:r>
              <a:rPr lang="en-US" altLang="ko-KR" dirty="0"/>
              <a:t>I. </a:t>
            </a:r>
            <a:r>
              <a:rPr lang="ko-KR" altLang="en-US" dirty="0"/>
              <a:t>챕터 제목</a:t>
            </a:r>
          </a:p>
        </p:txBody>
      </p:sp>
    </p:spTree>
    <p:extLst>
      <p:ext uri="{BB962C8B-B14F-4D97-AF65-F5344CB8AC3E}">
        <p14:creationId xmlns:p14="http://schemas.microsoft.com/office/powerpoint/2010/main" val="986182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종료">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stretch>
            <a:fillRect/>
          </a:stretch>
        </p:blipFill>
        <p:spPr>
          <a:xfrm>
            <a:off x="0" y="-1563"/>
            <a:ext cx="9906000" cy="6238875"/>
          </a:xfrm>
          <a:prstGeom prst="rect">
            <a:avLst/>
          </a:prstGeom>
        </p:spPr>
      </p:pic>
      <p:sp>
        <p:nvSpPr>
          <p:cNvPr id="3" name="Rectangle 10"/>
          <p:cNvSpPr>
            <a:spLocks noChangeArrowheads="1"/>
          </p:cNvSpPr>
          <p:nvPr userDrawn="1"/>
        </p:nvSpPr>
        <p:spPr bwMode="auto">
          <a:xfrm>
            <a:off x="5544274" y="4536505"/>
            <a:ext cx="4245264" cy="1392485"/>
          </a:xfrm>
          <a:prstGeom prst="rect">
            <a:avLst/>
          </a:prstGeom>
          <a:noFill/>
          <a:ln w="9525">
            <a:noFill/>
            <a:miter lim="800000"/>
            <a:headEnd/>
            <a:tailEnd/>
          </a:ln>
        </p:spPr>
        <p:txBody>
          <a:bodyPr anchor="ctr" anchorCtr="0"/>
          <a:lstStyle/>
          <a:p>
            <a:pPr marL="342900" indent="-342900" algn="r">
              <a:lnSpc>
                <a:spcPct val="80000"/>
              </a:lnSpc>
              <a:spcBef>
                <a:spcPct val="20000"/>
              </a:spcBef>
            </a:pPr>
            <a:r>
              <a:rPr lang="ko-KR" altLang="en-US" b="1" dirty="0">
                <a:solidFill>
                  <a:schemeClr val="bg1">
                    <a:lumMod val="95000"/>
                  </a:schemeClr>
                </a:solidFill>
                <a:latin typeface="맑은 고딕" panose="020B0503020000020004" pitchFamily="50" charset="-127"/>
                <a:ea typeface="맑은 고딕" panose="020B0503020000020004" pitchFamily="50" charset="-127"/>
              </a:rPr>
              <a:t>㈜</a:t>
            </a:r>
            <a:r>
              <a:rPr lang="ko-KR" altLang="en-US" b="1" dirty="0" err="1">
                <a:solidFill>
                  <a:schemeClr val="bg1">
                    <a:lumMod val="95000"/>
                  </a:schemeClr>
                </a:solidFill>
                <a:latin typeface="맑은 고딕" panose="020B0503020000020004" pitchFamily="50" charset="-127"/>
                <a:ea typeface="맑은 고딕" panose="020B0503020000020004" pitchFamily="50" charset="-127"/>
              </a:rPr>
              <a:t>이씨마이너</a:t>
            </a:r>
            <a:endParaRPr lang="ko-KR" altLang="en-US" b="1" dirty="0">
              <a:solidFill>
                <a:schemeClr val="bg1">
                  <a:lumMod val="95000"/>
                </a:schemeClr>
              </a:solidFill>
              <a:latin typeface="맑은 고딕" panose="020B0503020000020004" pitchFamily="50" charset="-127"/>
              <a:ea typeface="맑은 고딕" panose="020B0503020000020004" pitchFamily="50" charset="-127"/>
            </a:endParaRPr>
          </a:p>
          <a:p>
            <a:pPr marL="342900" indent="-342900" algn="r">
              <a:lnSpc>
                <a:spcPct val="80000"/>
              </a:lnSpc>
              <a:spcBef>
                <a:spcPct val="20000"/>
              </a:spcBef>
            </a:pPr>
            <a:endParaRPr lang="ko-KR" altLang="en-US" sz="1200" b="1" dirty="0">
              <a:solidFill>
                <a:schemeClr val="bg1">
                  <a:lumMod val="95000"/>
                </a:schemeClr>
              </a:solidFill>
              <a:latin typeface="맑은 고딕" panose="020B0503020000020004" pitchFamily="50" charset="-127"/>
              <a:ea typeface="맑은 고딕" panose="020B0503020000020004" pitchFamily="50" charset="-127"/>
            </a:endParaRPr>
          </a:p>
          <a:p>
            <a:pPr marL="342900" indent="-342900" algn="r">
              <a:lnSpc>
                <a:spcPct val="80000"/>
              </a:lnSpc>
              <a:spcBef>
                <a:spcPct val="20000"/>
              </a:spcBef>
            </a:pPr>
            <a:r>
              <a:rPr lang="ko-KR" altLang="en-US" b="1" dirty="0">
                <a:solidFill>
                  <a:schemeClr val="bg1">
                    <a:lumMod val="95000"/>
                  </a:schemeClr>
                </a:solidFill>
                <a:latin typeface="맑은 고딕" panose="020B0503020000020004" pitchFamily="50" charset="-127"/>
                <a:ea typeface="맑은 고딕" panose="020B0503020000020004" pitchFamily="50" charset="-127"/>
              </a:rPr>
              <a:t>  </a:t>
            </a:r>
            <a:r>
              <a:rPr lang="ko-KR" altLang="en-US" sz="1200" b="1" dirty="0">
                <a:solidFill>
                  <a:schemeClr val="bg1">
                    <a:lumMod val="95000"/>
                  </a:schemeClr>
                </a:solidFill>
                <a:latin typeface="맑은 고딕" panose="020B0503020000020004" pitchFamily="50" charset="-127"/>
                <a:ea typeface="맑은 고딕" panose="020B0503020000020004" pitchFamily="50" charset="-127"/>
              </a:rPr>
              <a:t>서울특별시 강남구 </a:t>
            </a:r>
            <a:r>
              <a:rPr lang="ko-KR" altLang="en-US" sz="1200" b="1" dirty="0" err="1">
                <a:solidFill>
                  <a:schemeClr val="bg1">
                    <a:lumMod val="95000"/>
                  </a:schemeClr>
                </a:solidFill>
                <a:latin typeface="맑은 고딕" panose="020B0503020000020004" pitchFamily="50" charset="-127"/>
                <a:ea typeface="맑은 고딕" panose="020B0503020000020004" pitchFamily="50" charset="-127"/>
              </a:rPr>
              <a:t>논현로</a:t>
            </a:r>
            <a:r>
              <a:rPr lang="ko-KR" altLang="en-US" sz="1200" b="1" dirty="0">
                <a:solidFill>
                  <a:schemeClr val="bg1">
                    <a:lumMod val="95000"/>
                  </a:schemeClr>
                </a:solidFill>
                <a:latin typeface="맑은 고딕" panose="020B0503020000020004" pitchFamily="50" charset="-127"/>
                <a:ea typeface="맑은 고딕" panose="020B0503020000020004" pitchFamily="50" charset="-127"/>
              </a:rPr>
              <a:t> </a:t>
            </a:r>
            <a:r>
              <a:rPr lang="en-US" altLang="ko-KR" sz="1200" b="1" dirty="0">
                <a:solidFill>
                  <a:schemeClr val="bg1">
                    <a:lumMod val="95000"/>
                  </a:schemeClr>
                </a:solidFill>
                <a:latin typeface="맑은 고딕" panose="020B0503020000020004" pitchFamily="50" charset="-127"/>
                <a:ea typeface="맑은 고딕" panose="020B0503020000020004" pitchFamily="50" charset="-127"/>
              </a:rPr>
              <a:t>28</a:t>
            </a:r>
            <a:r>
              <a:rPr lang="ko-KR" altLang="en-US" sz="1200" b="1" dirty="0">
                <a:solidFill>
                  <a:schemeClr val="bg1">
                    <a:lumMod val="95000"/>
                  </a:schemeClr>
                </a:solidFill>
                <a:latin typeface="맑은 고딕" panose="020B0503020000020004" pitchFamily="50" charset="-127"/>
                <a:ea typeface="맑은 고딕" panose="020B0503020000020004" pitchFamily="50" charset="-127"/>
              </a:rPr>
              <a:t>길 </a:t>
            </a:r>
            <a:r>
              <a:rPr lang="en-US" altLang="ko-KR" sz="1200" b="1" dirty="0">
                <a:solidFill>
                  <a:schemeClr val="bg1">
                    <a:lumMod val="95000"/>
                  </a:schemeClr>
                </a:solidFill>
                <a:latin typeface="맑은 고딕" panose="020B0503020000020004" pitchFamily="50" charset="-127"/>
                <a:ea typeface="맑은 고딕" panose="020B0503020000020004" pitchFamily="50" charset="-127"/>
              </a:rPr>
              <a:t>54 </a:t>
            </a:r>
            <a:r>
              <a:rPr lang="ko-KR" altLang="en-US" sz="1200" b="1" dirty="0">
                <a:solidFill>
                  <a:schemeClr val="bg1">
                    <a:lumMod val="95000"/>
                  </a:schemeClr>
                </a:solidFill>
                <a:latin typeface="맑은 고딕" panose="020B0503020000020004" pitchFamily="50" charset="-127"/>
                <a:ea typeface="맑은 고딕" panose="020B0503020000020004" pitchFamily="50" charset="-127"/>
              </a:rPr>
              <a:t>덕원빌딩 </a:t>
            </a:r>
            <a:r>
              <a:rPr lang="en-US" altLang="ko-KR" sz="1200" b="1" dirty="0">
                <a:solidFill>
                  <a:schemeClr val="bg1">
                    <a:lumMod val="95000"/>
                  </a:schemeClr>
                </a:solidFill>
                <a:latin typeface="맑은 고딕" panose="020B0503020000020004" pitchFamily="50" charset="-127"/>
                <a:ea typeface="맑은 고딕" panose="020B0503020000020004" pitchFamily="50" charset="-127"/>
              </a:rPr>
              <a:t>4</a:t>
            </a:r>
            <a:r>
              <a:rPr lang="ko-KR" altLang="en-US" sz="1200" b="1" dirty="0">
                <a:solidFill>
                  <a:schemeClr val="bg1">
                    <a:lumMod val="95000"/>
                  </a:schemeClr>
                </a:solidFill>
                <a:latin typeface="맑은 고딕" panose="020B0503020000020004" pitchFamily="50" charset="-127"/>
                <a:ea typeface="맑은 고딕" panose="020B0503020000020004" pitchFamily="50" charset="-127"/>
              </a:rPr>
              <a:t>층</a:t>
            </a:r>
          </a:p>
          <a:p>
            <a:pPr marL="342900" indent="-342900" algn="r">
              <a:lnSpc>
                <a:spcPct val="80000"/>
              </a:lnSpc>
              <a:spcBef>
                <a:spcPct val="20000"/>
              </a:spcBef>
            </a:pPr>
            <a:r>
              <a:rPr lang="en-US" altLang="ko-KR" sz="1200" b="1" dirty="0">
                <a:solidFill>
                  <a:schemeClr val="bg1">
                    <a:lumMod val="95000"/>
                  </a:schemeClr>
                </a:solidFill>
                <a:latin typeface="맑은 고딕" panose="020B0503020000020004" pitchFamily="50" charset="-127"/>
                <a:ea typeface="맑은 고딕" panose="020B0503020000020004" pitchFamily="50" charset="-127"/>
              </a:rPr>
              <a:t>Tel  02-552-5266</a:t>
            </a:r>
          </a:p>
          <a:p>
            <a:pPr marL="342900" indent="-342900" algn="r">
              <a:lnSpc>
                <a:spcPct val="80000"/>
              </a:lnSpc>
              <a:spcBef>
                <a:spcPct val="20000"/>
              </a:spcBef>
            </a:pPr>
            <a:r>
              <a:rPr lang="en-US" altLang="ko-KR" sz="1200" b="1" dirty="0">
                <a:solidFill>
                  <a:schemeClr val="bg1">
                    <a:lumMod val="95000"/>
                  </a:schemeClr>
                </a:solidFill>
                <a:latin typeface="맑은 고딕" panose="020B0503020000020004" pitchFamily="50" charset="-127"/>
                <a:ea typeface="맑은 고딕" panose="020B0503020000020004" pitchFamily="50" charset="-127"/>
              </a:rPr>
              <a:t>Fax  02-566-0768</a:t>
            </a:r>
          </a:p>
          <a:p>
            <a:pPr marL="342900" indent="-342900" algn="r">
              <a:lnSpc>
                <a:spcPct val="80000"/>
              </a:lnSpc>
              <a:spcBef>
                <a:spcPct val="20000"/>
              </a:spcBef>
            </a:pPr>
            <a:r>
              <a:rPr lang="en-US" altLang="ko-KR" sz="1200" b="1" dirty="0">
                <a:solidFill>
                  <a:schemeClr val="bg1">
                    <a:lumMod val="95000"/>
                  </a:schemeClr>
                </a:solidFill>
                <a:latin typeface="맑은 고딕" panose="020B0503020000020004" pitchFamily="50" charset="-127"/>
                <a:ea typeface="맑은 고딕" panose="020B0503020000020004" pitchFamily="50" charset="-127"/>
              </a:rPr>
              <a:t>URL - http://www.ecminer.com</a:t>
            </a:r>
          </a:p>
        </p:txBody>
      </p:sp>
      <p:sp>
        <p:nvSpPr>
          <p:cNvPr id="5" name="Rectangle 14"/>
          <p:cNvSpPr>
            <a:spLocks noChangeArrowheads="1"/>
          </p:cNvSpPr>
          <p:nvPr userDrawn="1"/>
        </p:nvSpPr>
        <p:spPr bwMode="gray">
          <a:xfrm>
            <a:off x="56456" y="6431765"/>
            <a:ext cx="7704856" cy="246221"/>
          </a:xfrm>
          <a:prstGeom prst="rect">
            <a:avLst/>
          </a:prstGeom>
          <a:noFill/>
          <a:ln w="9525" algn="ctr">
            <a:noFill/>
            <a:miter lim="800000"/>
            <a:headEnd/>
            <a:tailEnd/>
          </a:ln>
          <a:effectLst>
            <a:prstShdw prst="shdw17" dist="17961" dir="2700000">
              <a:schemeClr val="accent1">
                <a:gamma/>
                <a:shade val="60000"/>
                <a:invGamma/>
              </a:schemeClr>
            </a:prstShdw>
          </a:effectLst>
        </p:spPr>
        <p:txBody>
          <a:bodyPr wrap="square" anchor="ctr">
            <a:spAutoFit/>
          </a:bodyPr>
          <a:lstStyle/>
          <a:p>
            <a:pPr>
              <a:defRPr/>
            </a:pPr>
            <a:r>
              <a:rPr lang="ko-KR" altLang="en-US" sz="1000" b="1" dirty="0">
                <a:latin typeface="+mn-ea"/>
                <a:ea typeface="+mn-ea"/>
              </a:rPr>
              <a:t>본 문서는 </a:t>
            </a:r>
            <a:r>
              <a:rPr lang="en-US" altLang="ko-KR" sz="1000" b="1" dirty="0">
                <a:latin typeface="+mn-ea"/>
                <a:ea typeface="+mn-ea"/>
              </a:rPr>
              <a:t>㈜</a:t>
            </a:r>
            <a:r>
              <a:rPr lang="ko-KR" altLang="en-US" sz="1000" b="1" dirty="0">
                <a:latin typeface="+mn-ea"/>
                <a:ea typeface="+mn-ea"/>
              </a:rPr>
              <a:t>이씨마이너의 기밀정보 및 영업비밀을 포함하고 있으므로</a:t>
            </a:r>
            <a:r>
              <a:rPr lang="en-US" altLang="ko-KR" sz="1000" b="1" dirty="0">
                <a:latin typeface="+mn-ea"/>
                <a:ea typeface="+mn-ea"/>
              </a:rPr>
              <a:t>, </a:t>
            </a:r>
            <a:r>
              <a:rPr lang="ko-KR" altLang="en-US" sz="1000" b="1" dirty="0">
                <a:latin typeface="+mn-ea"/>
                <a:ea typeface="+mn-ea"/>
              </a:rPr>
              <a:t>제공된 목적 외에 무단으로 복제되거나</a:t>
            </a:r>
            <a:r>
              <a:rPr lang="en-US" altLang="ko-KR" sz="1000" b="1" dirty="0">
                <a:latin typeface="+mn-ea"/>
                <a:ea typeface="+mn-ea"/>
              </a:rPr>
              <a:t> </a:t>
            </a:r>
            <a:r>
              <a:rPr lang="ko-KR" altLang="en-US" sz="1000" b="1" dirty="0">
                <a:latin typeface="+mn-ea"/>
                <a:ea typeface="+mn-ea"/>
              </a:rPr>
              <a:t>배포될 수 없습니다</a:t>
            </a:r>
            <a:r>
              <a:rPr lang="en-US" altLang="ko-KR" sz="1000" b="1" dirty="0">
                <a:latin typeface="+mn-ea"/>
                <a:ea typeface="+mn-ea"/>
              </a:rPr>
              <a:t>.</a:t>
            </a:r>
          </a:p>
        </p:txBody>
      </p:sp>
      <p:sp>
        <p:nvSpPr>
          <p:cNvPr id="6" name="TextBox 5"/>
          <p:cNvSpPr txBox="1"/>
          <p:nvPr userDrawn="1"/>
        </p:nvSpPr>
        <p:spPr>
          <a:xfrm>
            <a:off x="3375123" y="2331628"/>
            <a:ext cx="3153427" cy="769441"/>
          </a:xfrm>
          <a:prstGeom prst="rect">
            <a:avLst/>
          </a:prstGeom>
          <a:noFill/>
        </p:spPr>
        <p:txBody>
          <a:bodyPr wrap="none" rtlCol="0">
            <a:spAutoFit/>
          </a:bodyPr>
          <a:lstStyle/>
          <a:p>
            <a:r>
              <a:rPr lang="ko-KR" altLang="en-US" sz="4400" b="0" dirty="0">
                <a:solidFill>
                  <a:schemeClr val="bg1"/>
                </a:solidFill>
                <a:latin typeface="+mn-ea"/>
                <a:ea typeface="+mn-ea"/>
              </a:rPr>
              <a:t>감사합니다</a:t>
            </a:r>
            <a:r>
              <a:rPr lang="en-US" altLang="ko-KR" sz="4400" b="0" dirty="0">
                <a:solidFill>
                  <a:schemeClr val="bg1"/>
                </a:solidFill>
                <a:latin typeface="+mn-ea"/>
                <a:ea typeface="+mn-ea"/>
              </a:rPr>
              <a:t>.</a:t>
            </a:r>
            <a:endParaRPr lang="ko-KR" altLang="en-US" sz="4400" b="0" dirty="0">
              <a:solidFill>
                <a:schemeClr val="bg1"/>
              </a:solidFill>
              <a:latin typeface="+mn-ea"/>
              <a:ea typeface="+mn-ea"/>
            </a:endParaRPr>
          </a:p>
        </p:txBody>
      </p:sp>
      <p:pic>
        <p:nvPicPr>
          <p:cNvPr id="7" name="그림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70652" y="6427458"/>
            <a:ext cx="1252399" cy="288000"/>
          </a:xfrm>
          <a:prstGeom prst="rect">
            <a:avLst/>
          </a:prstGeom>
        </p:spPr>
      </p:pic>
    </p:spTree>
    <p:extLst>
      <p:ext uri="{BB962C8B-B14F-4D97-AF65-F5344CB8AC3E}">
        <p14:creationId xmlns:p14="http://schemas.microsoft.com/office/powerpoint/2010/main" val="367499756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696721"/>
      </p:ext>
    </p:extLst>
  </p:cSld>
  <p:clrMap bg1="lt1" tx1="dk1" bg2="lt2" tx2="dk2" accent1="accent1" accent2="accent2" accent3="accent3" accent4="accent4" accent5="accent5" accent6="accent6" hlink="hlink" folHlink="folHlink"/>
  <p:sldLayoutIdLst>
    <p:sldLayoutId id="2147483811" r:id="rId1"/>
    <p:sldLayoutId id="2147483810" r:id="rId2"/>
    <p:sldLayoutId id="2147483803" r:id="rId3"/>
    <p:sldLayoutId id="2147483808" r:id="rId4"/>
    <p:sldLayoutId id="2147483804" r:id="rId5"/>
  </p:sldLayoutIdLst>
  <p:txStyles>
    <p:titleStyle>
      <a:lvl1pPr algn="ctr" rtl="0" eaLnBrk="0" fontAlgn="base" latinLnBrk="1" hangingPunct="0">
        <a:spcBef>
          <a:spcPct val="0"/>
        </a:spcBef>
        <a:spcAft>
          <a:spcPct val="0"/>
        </a:spcAft>
        <a:defRPr sz="4400" kern="1200">
          <a:solidFill>
            <a:schemeClr val="tx1"/>
          </a:solidFill>
          <a:latin typeface="+mj-lt"/>
          <a:ea typeface="+mj-ea"/>
          <a:cs typeface="+mj-cs"/>
        </a:defRPr>
      </a:lvl1pPr>
      <a:lvl2pPr algn="ctr" rtl="0" eaLnBrk="0" fontAlgn="base" latinLnBrk="1" hangingPunct="0">
        <a:spcBef>
          <a:spcPct val="0"/>
        </a:spcBef>
        <a:spcAft>
          <a:spcPct val="0"/>
        </a:spcAft>
        <a:defRPr sz="4400">
          <a:solidFill>
            <a:schemeClr val="tx1"/>
          </a:solidFill>
          <a:latin typeface="맑은 고딕" pitchFamily="50" charset="-127"/>
        </a:defRPr>
      </a:lvl2pPr>
      <a:lvl3pPr algn="ctr" rtl="0" eaLnBrk="0" fontAlgn="base" latinLnBrk="1" hangingPunct="0">
        <a:spcBef>
          <a:spcPct val="0"/>
        </a:spcBef>
        <a:spcAft>
          <a:spcPct val="0"/>
        </a:spcAft>
        <a:defRPr sz="4400">
          <a:solidFill>
            <a:schemeClr val="tx1"/>
          </a:solidFill>
          <a:latin typeface="맑은 고딕" pitchFamily="50" charset="-127"/>
        </a:defRPr>
      </a:lvl3pPr>
      <a:lvl4pPr algn="ctr" rtl="0" eaLnBrk="0" fontAlgn="base" latinLnBrk="1" hangingPunct="0">
        <a:spcBef>
          <a:spcPct val="0"/>
        </a:spcBef>
        <a:spcAft>
          <a:spcPct val="0"/>
        </a:spcAft>
        <a:defRPr sz="4400">
          <a:solidFill>
            <a:schemeClr val="tx1"/>
          </a:solidFill>
          <a:latin typeface="맑은 고딕" pitchFamily="50" charset="-127"/>
        </a:defRPr>
      </a:lvl4pPr>
      <a:lvl5pPr algn="ctr" rtl="0" eaLnBrk="0" fontAlgn="base" latinLnBrk="1" hangingPunct="0">
        <a:spcBef>
          <a:spcPct val="0"/>
        </a:spcBef>
        <a:spcAft>
          <a:spcPct val="0"/>
        </a:spcAft>
        <a:defRPr sz="4400">
          <a:solidFill>
            <a:schemeClr val="tx1"/>
          </a:solidFill>
          <a:latin typeface="맑은 고딕" pitchFamily="50" charset="-127"/>
        </a:defRPr>
      </a:lvl5pPr>
      <a:lvl6pPr marL="457200" algn="ctr" rtl="0" fontAlgn="base" latinLnBrk="1">
        <a:spcBef>
          <a:spcPct val="0"/>
        </a:spcBef>
        <a:spcAft>
          <a:spcPct val="0"/>
        </a:spcAft>
        <a:defRPr sz="4400">
          <a:solidFill>
            <a:schemeClr val="tx1"/>
          </a:solidFill>
          <a:latin typeface="맑은 고딕" pitchFamily="50" charset="-127"/>
        </a:defRPr>
      </a:lvl6pPr>
      <a:lvl7pPr marL="914400" algn="ctr" rtl="0" fontAlgn="base" latinLnBrk="1">
        <a:spcBef>
          <a:spcPct val="0"/>
        </a:spcBef>
        <a:spcAft>
          <a:spcPct val="0"/>
        </a:spcAft>
        <a:defRPr sz="4400">
          <a:solidFill>
            <a:schemeClr val="tx1"/>
          </a:solidFill>
          <a:latin typeface="맑은 고딕" pitchFamily="50" charset="-127"/>
        </a:defRPr>
      </a:lvl7pPr>
      <a:lvl8pPr marL="1371600" algn="ctr" rtl="0" fontAlgn="base" latinLnBrk="1">
        <a:spcBef>
          <a:spcPct val="0"/>
        </a:spcBef>
        <a:spcAft>
          <a:spcPct val="0"/>
        </a:spcAft>
        <a:defRPr sz="4400">
          <a:solidFill>
            <a:schemeClr val="tx1"/>
          </a:solidFill>
          <a:latin typeface="맑은 고딕" pitchFamily="50" charset="-127"/>
        </a:defRPr>
      </a:lvl8pPr>
      <a:lvl9pPr marL="1828800" algn="ctr" rtl="0" fontAlgn="base" latinLnBrk="1">
        <a:spcBef>
          <a:spcPct val="0"/>
        </a:spcBef>
        <a:spcAft>
          <a:spcPct val="0"/>
        </a:spcAft>
        <a:defRPr sz="4400">
          <a:solidFill>
            <a:schemeClr val="tx1"/>
          </a:solidFill>
          <a:latin typeface="맑은 고딕" pitchFamily="50" charset="-127"/>
        </a:defRPr>
      </a:lvl9pPr>
    </p:titleStyle>
    <p:bodyStyle>
      <a:lvl1pPr marL="342900" indent="-342900" algn="l" rtl="0" eaLnBrk="0" fontAlgn="base" latinLnBrk="1"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slide" Target="slide12.xml"/><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40.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7.png"/><Relationship Id="rId4" Type="http://schemas.openxmlformats.org/officeDocument/2006/relationships/image" Target="../media/image23.png"/><Relationship Id="rId9" Type="http://schemas.openxmlformats.org/officeDocument/2006/relationships/image" Target="../media/image28.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9.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image" Target="../media/image350.png"/><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slideLayout" Target="../slideLayouts/slideLayout4.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4.png"/><Relationship Id="rId7" Type="http://schemas.openxmlformats.org/officeDocument/2006/relationships/image" Target="../media/image49.png"/><Relationship Id="rId2" Type="http://schemas.openxmlformats.org/officeDocument/2006/relationships/image" Target="../media/image40.png"/><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6.png"/><Relationship Id="rId4" Type="http://schemas.openxmlformats.org/officeDocument/2006/relationships/image" Target="../media/image45.png"/><Relationship Id="rId9"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6FB9C259-F067-4F41-A6FB-E2E1BE7869EE}"/>
              </a:ext>
            </a:extLst>
          </p:cNvPr>
          <p:cNvSpPr>
            <a:spLocks noGrp="1"/>
          </p:cNvSpPr>
          <p:nvPr>
            <p:ph sz="quarter" idx="10"/>
          </p:nvPr>
        </p:nvSpPr>
        <p:spPr>
          <a:xfrm>
            <a:off x="1545636" y="1740473"/>
            <a:ext cx="6814729" cy="1216815"/>
          </a:xfrm>
        </p:spPr>
        <p:txBody>
          <a:bodyPr/>
          <a:lstStyle/>
          <a:p>
            <a:r>
              <a:rPr lang="ko-KR" altLang="en-US" dirty="0"/>
              <a:t>강화학습 </a:t>
            </a:r>
            <a:r>
              <a:rPr lang="en-US" altLang="ko-KR" dirty="0"/>
              <a:t>9</a:t>
            </a:r>
            <a:r>
              <a:rPr lang="ko-KR" altLang="en-US" dirty="0"/>
              <a:t>월 업무 추진계획</a:t>
            </a:r>
          </a:p>
        </p:txBody>
      </p:sp>
      <p:sp>
        <p:nvSpPr>
          <p:cNvPr id="3" name="텍스트 개체 틀 2">
            <a:extLst>
              <a:ext uri="{FF2B5EF4-FFF2-40B4-BE49-F238E27FC236}">
                <a16:creationId xmlns:a16="http://schemas.microsoft.com/office/drawing/2014/main" id="{83535A55-B1BF-4C4C-B8BD-EE34EE9B9E20}"/>
              </a:ext>
            </a:extLst>
          </p:cNvPr>
          <p:cNvSpPr>
            <a:spLocks noGrp="1"/>
          </p:cNvSpPr>
          <p:nvPr>
            <p:ph type="body" sz="quarter" idx="11"/>
          </p:nvPr>
        </p:nvSpPr>
        <p:spPr/>
        <p:txBody>
          <a:bodyPr/>
          <a:lstStyle/>
          <a:p>
            <a:r>
              <a:rPr lang="en-US" altLang="ko-KR" dirty="0"/>
              <a:t>2025</a:t>
            </a:r>
            <a:r>
              <a:rPr lang="ko-KR" altLang="en-US" dirty="0"/>
              <a:t>년</a:t>
            </a:r>
            <a:endParaRPr lang="en-US" altLang="ko-KR" dirty="0"/>
          </a:p>
          <a:p>
            <a:r>
              <a:rPr lang="ko-KR" altLang="en-US" dirty="0" err="1"/>
              <a:t>김선중</a:t>
            </a:r>
            <a:r>
              <a:rPr lang="ko-KR" altLang="en-US" dirty="0"/>
              <a:t> 선임</a:t>
            </a:r>
          </a:p>
        </p:txBody>
      </p:sp>
      <p:sp>
        <p:nvSpPr>
          <p:cNvPr id="4" name="텍스트 개체 틀 3">
            <a:extLst>
              <a:ext uri="{FF2B5EF4-FFF2-40B4-BE49-F238E27FC236}">
                <a16:creationId xmlns:a16="http://schemas.microsoft.com/office/drawing/2014/main" id="{2841FF10-64BF-4D1E-B03D-21849AC56EED}"/>
              </a:ext>
            </a:extLst>
          </p:cNvPr>
          <p:cNvSpPr>
            <a:spLocks noGrp="1"/>
          </p:cNvSpPr>
          <p:nvPr>
            <p:ph type="body" sz="quarter" idx="12"/>
          </p:nvPr>
        </p:nvSpPr>
        <p:spPr/>
        <p:txBody>
          <a:bodyPr/>
          <a:lstStyle/>
          <a:p>
            <a:endParaRPr lang="ko-KR" altLang="en-US"/>
          </a:p>
        </p:txBody>
      </p:sp>
    </p:spTree>
    <p:extLst>
      <p:ext uri="{BB962C8B-B14F-4D97-AF65-F5344CB8AC3E}">
        <p14:creationId xmlns:p14="http://schemas.microsoft.com/office/powerpoint/2010/main" val="79807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C9364A0F-64AF-EE65-CD8D-FEDDDD5745AE}"/>
              </a:ext>
            </a:extLst>
          </p:cNvPr>
          <p:cNvSpPr>
            <a:spLocks noGrp="1"/>
          </p:cNvSpPr>
          <p:nvPr>
            <p:ph type="body" sz="quarter" idx="10"/>
          </p:nvPr>
        </p:nvSpPr>
        <p:spPr>
          <a:xfrm>
            <a:off x="2334439" y="1943490"/>
            <a:ext cx="5858947" cy="4393936"/>
          </a:xfrm>
        </p:spPr>
        <p:txBody>
          <a:bodyPr/>
          <a:lstStyle/>
          <a:p>
            <a:pPr>
              <a:buFont typeface="+mj-lt"/>
              <a:buAutoNum type="arabicPeriod"/>
            </a:pPr>
            <a:r>
              <a:rPr lang="ko-KR" altLang="en-US" dirty="0"/>
              <a:t>강화학습 </a:t>
            </a:r>
            <a:r>
              <a:rPr lang="en-US" altLang="ko-KR" dirty="0"/>
              <a:t>8</a:t>
            </a:r>
            <a:r>
              <a:rPr lang="ko-KR" altLang="en-US" dirty="0"/>
              <a:t>월 실적</a:t>
            </a:r>
            <a:endParaRPr lang="en-US" altLang="ko-KR" dirty="0"/>
          </a:p>
          <a:p>
            <a:pPr marL="720000" lvl="1" indent="-360000">
              <a:buFont typeface="+mj-lt"/>
              <a:buAutoNum type="arabicPeriod"/>
            </a:pPr>
            <a:r>
              <a:rPr lang="ko-KR" altLang="en-US" sz="2000" dirty="0"/>
              <a:t>강화학습 이론 파악</a:t>
            </a:r>
            <a:endParaRPr lang="en-US" altLang="ko-KR" sz="2000" dirty="0"/>
          </a:p>
          <a:p>
            <a:pPr marL="720000" lvl="1" indent="-360000">
              <a:buFont typeface="+mj-lt"/>
              <a:buAutoNum type="arabicPeriod"/>
            </a:pPr>
            <a:r>
              <a:rPr lang="ko-KR" altLang="en-US" sz="2000" dirty="0"/>
              <a:t>강화학습 예제코드 작성</a:t>
            </a:r>
            <a:endParaRPr lang="en-US" altLang="ko-KR" sz="2000" dirty="0"/>
          </a:p>
          <a:p>
            <a:pPr marL="720000" lvl="1" indent="-360000">
              <a:buFont typeface="+mj-lt"/>
              <a:buAutoNum type="arabicPeriod"/>
            </a:pPr>
            <a:r>
              <a:rPr lang="ko-KR" altLang="en-US" sz="2000" dirty="0"/>
              <a:t>서부발전 문제 적용 시도</a:t>
            </a:r>
            <a:endParaRPr lang="en-US" altLang="ko-KR" sz="2000" dirty="0"/>
          </a:p>
          <a:p>
            <a:pPr>
              <a:buAutoNum type="arabicPeriod"/>
            </a:pPr>
            <a:r>
              <a:rPr lang="ko-KR" altLang="en-US" dirty="0"/>
              <a:t>강화학습 </a:t>
            </a:r>
            <a:r>
              <a:rPr lang="en-US" altLang="ko-KR" dirty="0"/>
              <a:t>9</a:t>
            </a:r>
            <a:r>
              <a:rPr lang="ko-KR" altLang="en-US" dirty="0"/>
              <a:t>월 계획</a:t>
            </a:r>
            <a:endParaRPr lang="en-US" altLang="ko-KR" dirty="0"/>
          </a:p>
          <a:p>
            <a:pPr marL="720000" lvl="1" indent="-360000">
              <a:buFont typeface="+mj-lt"/>
              <a:buAutoNum type="arabicPeriod"/>
            </a:pPr>
            <a:r>
              <a:rPr lang="ko-KR" altLang="en-US" sz="2000" dirty="0"/>
              <a:t>강화학습 </a:t>
            </a:r>
            <a:r>
              <a:rPr lang="en-US" altLang="ko-KR" sz="2000" dirty="0"/>
              <a:t>testbed </a:t>
            </a:r>
            <a:r>
              <a:rPr lang="ko-KR" altLang="en-US" sz="2000" dirty="0"/>
              <a:t>환경</a:t>
            </a:r>
            <a:r>
              <a:rPr lang="en-US" altLang="ko-KR" sz="2000" dirty="0"/>
              <a:t> </a:t>
            </a:r>
            <a:r>
              <a:rPr lang="ko-KR" altLang="en-US" sz="2000" dirty="0"/>
              <a:t>구축 및 실험</a:t>
            </a:r>
            <a:endParaRPr lang="en-US" altLang="ko-KR" sz="2000" dirty="0"/>
          </a:p>
          <a:p>
            <a:pPr marL="720000" lvl="1" indent="-360000">
              <a:buFont typeface="+mj-lt"/>
              <a:buAutoNum type="arabicPeriod"/>
            </a:pPr>
            <a:r>
              <a:rPr lang="ko-KR" altLang="en-US" sz="2000" dirty="0"/>
              <a:t>서부발전 문제에 맞는 알고리즘 </a:t>
            </a:r>
            <a:r>
              <a:rPr lang="en-US" altLang="ko-KR" sz="2000" dirty="0"/>
              <a:t>case-study</a:t>
            </a:r>
          </a:p>
          <a:p>
            <a:pPr marL="720000" lvl="1" indent="-360000">
              <a:buFont typeface="+mj-lt"/>
              <a:buAutoNum type="arabicPeriod"/>
            </a:pPr>
            <a:r>
              <a:rPr lang="ko-KR" altLang="en-US" sz="2000" dirty="0"/>
              <a:t>서부발전 솔루션 적용</a:t>
            </a:r>
            <a:endParaRPr lang="en-US" altLang="ko-KR" sz="2000" dirty="0"/>
          </a:p>
          <a:p>
            <a:pPr marL="720000" lvl="1" indent="-360000">
              <a:buFont typeface="+mj-lt"/>
              <a:buAutoNum type="arabicPeriod"/>
            </a:pPr>
            <a:r>
              <a:rPr lang="ko-KR" altLang="en-US" sz="2000" dirty="0"/>
              <a:t>수정된 </a:t>
            </a:r>
            <a:r>
              <a:rPr lang="en-US" altLang="ko-KR" sz="2000" dirty="0"/>
              <a:t>IMS </a:t>
            </a:r>
            <a:r>
              <a:rPr lang="ko-KR" altLang="en-US" sz="2000" dirty="0"/>
              <a:t>노드 테스트 지원</a:t>
            </a:r>
            <a:endParaRPr lang="en-US" altLang="ko-KR" sz="2000" dirty="0"/>
          </a:p>
          <a:p>
            <a:pPr>
              <a:buAutoNum type="arabicPeriod"/>
            </a:pPr>
            <a:endParaRPr lang="ko-KR" altLang="en-US" dirty="0"/>
          </a:p>
        </p:txBody>
      </p:sp>
    </p:spTree>
    <p:extLst>
      <p:ext uri="{BB962C8B-B14F-4D97-AF65-F5344CB8AC3E}">
        <p14:creationId xmlns:p14="http://schemas.microsoft.com/office/powerpoint/2010/main" val="4020587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B540E997-573E-4ACB-8DC3-FAD61A885EF6}"/>
              </a:ext>
            </a:extLst>
          </p:cNvPr>
          <p:cNvSpPr>
            <a:spLocks noGrp="1"/>
          </p:cNvSpPr>
          <p:nvPr>
            <p:ph type="body" sz="quarter" idx="10"/>
          </p:nvPr>
        </p:nvSpPr>
        <p:spPr/>
        <p:txBody>
          <a:bodyPr/>
          <a:lstStyle/>
          <a:p>
            <a:r>
              <a:rPr lang="en-US" altLang="ko-KR" dirty="0"/>
              <a:t>1. </a:t>
            </a:r>
            <a:r>
              <a:rPr lang="ko-KR" altLang="en-US" dirty="0"/>
              <a:t>강화학습 </a:t>
            </a:r>
            <a:r>
              <a:rPr lang="en-US" altLang="ko-KR" dirty="0"/>
              <a:t>8</a:t>
            </a:r>
            <a:r>
              <a:rPr lang="ko-KR" altLang="en-US" dirty="0"/>
              <a:t>월 실적</a:t>
            </a:r>
          </a:p>
        </p:txBody>
      </p:sp>
      <p:sp>
        <p:nvSpPr>
          <p:cNvPr id="3" name="텍스트 개체 틀 2">
            <a:extLst>
              <a:ext uri="{FF2B5EF4-FFF2-40B4-BE49-F238E27FC236}">
                <a16:creationId xmlns:a16="http://schemas.microsoft.com/office/drawing/2014/main" id="{DE45E31E-F3A5-494C-B5E6-A20C1F2B5DD7}"/>
              </a:ext>
            </a:extLst>
          </p:cNvPr>
          <p:cNvSpPr>
            <a:spLocks noGrp="1"/>
          </p:cNvSpPr>
          <p:nvPr>
            <p:ph type="body" sz="quarter" idx="11"/>
          </p:nvPr>
        </p:nvSpPr>
        <p:spPr>
          <a:xfrm>
            <a:off x="3063405" y="2295121"/>
            <a:ext cx="4507345" cy="2090065"/>
          </a:xfrm>
        </p:spPr>
        <p:txBody>
          <a:bodyPr/>
          <a:lstStyle/>
          <a:p>
            <a:r>
              <a:rPr lang="ko-KR" altLang="en-US" dirty="0"/>
              <a:t>강화학습 이론 파악</a:t>
            </a:r>
            <a:endParaRPr lang="en-US" altLang="ko-KR" dirty="0"/>
          </a:p>
          <a:p>
            <a:r>
              <a:rPr lang="ko-KR" altLang="en-US" dirty="0"/>
              <a:t>강화학습 예제코드 작성</a:t>
            </a:r>
            <a:endParaRPr lang="en-US" altLang="ko-KR" dirty="0"/>
          </a:p>
          <a:p>
            <a:r>
              <a:rPr lang="ko-KR" altLang="en-US" dirty="0"/>
              <a:t>서부발전 문제 적용 시도</a:t>
            </a:r>
          </a:p>
        </p:txBody>
      </p:sp>
    </p:spTree>
    <p:extLst>
      <p:ext uri="{BB962C8B-B14F-4D97-AF65-F5344CB8AC3E}">
        <p14:creationId xmlns:p14="http://schemas.microsoft.com/office/powerpoint/2010/main" val="2328087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F3E87-83F9-C372-5510-A7FAA863F902}"/>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63CB5BA5-D7B9-92EC-3EA4-A960EA9E36DE}"/>
              </a:ext>
            </a:extLst>
          </p:cNvPr>
          <p:cNvSpPr>
            <a:spLocks noGrp="1"/>
          </p:cNvSpPr>
          <p:nvPr>
            <p:ph type="body" sz="quarter" idx="10"/>
          </p:nvPr>
        </p:nvSpPr>
        <p:spPr/>
        <p:txBody>
          <a:bodyPr/>
          <a:lstStyle/>
          <a:p>
            <a:pPr marL="0" indent="0">
              <a:buNone/>
            </a:pPr>
            <a:r>
              <a:rPr lang="en-US" altLang="ko-KR" dirty="0"/>
              <a:t>MDP : (Finite) Markov Decision Process</a:t>
            </a:r>
            <a:endParaRPr lang="ko-KR" altLang="en-US" dirty="0"/>
          </a:p>
        </p:txBody>
      </p:sp>
      <mc:AlternateContent xmlns:mc="http://schemas.openxmlformats.org/markup-compatibility/2006" xmlns:a14="http://schemas.microsoft.com/office/drawing/2010/main">
        <mc:Choice Requires="a14">
          <p:sp>
            <p:nvSpPr>
              <p:cNvPr id="6" name="텍스트 개체 틀 5">
                <a:extLst>
                  <a:ext uri="{FF2B5EF4-FFF2-40B4-BE49-F238E27FC236}">
                    <a16:creationId xmlns:a16="http://schemas.microsoft.com/office/drawing/2014/main" id="{6957E4A4-EE93-8BD1-E683-DDD54A197AFA}"/>
                  </a:ext>
                </a:extLst>
              </p:cNvPr>
              <p:cNvSpPr>
                <a:spLocks noGrp="1"/>
              </p:cNvSpPr>
              <p:nvPr>
                <p:ph type="body" sz="quarter" idx="11"/>
              </p:nvPr>
            </p:nvSpPr>
            <p:spPr>
              <a:xfrm>
                <a:off x="200471" y="1174874"/>
                <a:ext cx="7419084" cy="5356489"/>
              </a:xfrm>
            </p:spPr>
            <p:txBody>
              <a:bodyPr/>
              <a:lstStyle/>
              <a:p>
                <a:pPr marL="180000" indent="-180000">
                  <a:lnSpc>
                    <a:spcPct val="150000"/>
                  </a:lnSpc>
                  <a:buFont typeface="Arial" panose="020B0604020202020204" pitchFamily="34" charset="0"/>
                  <a:buChar char="•"/>
                </a:pPr>
                <a:r>
                  <a:rPr lang="ko-KR" altLang="en-US" dirty="0">
                    <a:latin typeface="+mn-ea"/>
                  </a:rPr>
                  <a:t>에이전트</a:t>
                </a:r>
                <a:r>
                  <a:rPr lang="en-US" altLang="ko-KR" dirty="0">
                    <a:latin typeface="+mn-ea"/>
                  </a:rPr>
                  <a:t>(agent) : </a:t>
                </a:r>
                <a:r>
                  <a:rPr lang="ko-KR" altLang="en-US" dirty="0">
                    <a:latin typeface="+mn-ea"/>
                  </a:rPr>
                  <a:t>환경 속에서 행동을 하는 주체</a:t>
                </a:r>
                <a:r>
                  <a:rPr lang="en-US" altLang="ko-KR" dirty="0">
                    <a:latin typeface="+mn-ea"/>
                  </a:rPr>
                  <a:t>.</a:t>
                </a:r>
              </a:p>
              <a:p>
                <a:pPr marL="180000" indent="-180000">
                  <a:lnSpc>
                    <a:spcPct val="150000"/>
                  </a:lnSpc>
                  <a:buFont typeface="Arial" panose="020B0604020202020204" pitchFamily="34" charset="0"/>
                  <a:buChar char="•"/>
                </a:pPr>
                <a:r>
                  <a:rPr lang="ko-KR" altLang="en-US" dirty="0">
                    <a:latin typeface="+mn-ea"/>
                  </a:rPr>
                  <a:t>환경</a:t>
                </a:r>
                <a:r>
                  <a:rPr lang="en-US" altLang="ko-KR" dirty="0">
                    <a:latin typeface="+mn-ea"/>
                  </a:rPr>
                  <a:t>(environment) : agent</a:t>
                </a:r>
                <a:r>
                  <a:rPr lang="ko-KR" altLang="en-US" dirty="0">
                    <a:latin typeface="+mn-ea"/>
                  </a:rPr>
                  <a:t>를 둘러싸고 있는 주변환경</a:t>
                </a:r>
                <a:endParaRPr lang="en-US" altLang="ko-KR" dirty="0">
                  <a:latin typeface="+mn-ea"/>
                </a:endParaRPr>
              </a:p>
              <a:p>
                <a:pPr marL="180000" indent="-180000">
                  <a:lnSpc>
                    <a:spcPct val="150000"/>
                  </a:lnSpc>
                  <a:buFont typeface="Arial" panose="020B0604020202020204" pitchFamily="34" charset="0"/>
                  <a:buChar char="•"/>
                </a:pPr>
                <a:r>
                  <a:rPr lang="ko-KR" altLang="en-US" dirty="0">
                    <a:latin typeface="+mn-ea"/>
                  </a:rPr>
                  <a:t>상태</a:t>
                </a:r>
                <a:r>
                  <a:rPr lang="en-US" altLang="ko-KR" dirty="0">
                    <a:latin typeface="+mn-ea"/>
                  </a:rPr>
                  <a:t>(state,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𝑠</m:t>
                        </m:r>
                      </m:e>
                      <m:sub>
                        <m:r>
                          <a:rPr lang="en-US" altLang="ko-KR" b="0" i="1" smtClean="0">
                            <a:latin typeface="Cambria Math" panose="02040503050406030204" pitchFamily="18" charset="0"/>
                          </a:rPr>
                          <m:t>𝑡</m:t>
                        </m:r>
                      </m:sub>
                    </m:sSub>
                  </m:oMath>
                </a14:m>
                <a:r>
                  <a:rPr lang="en-US" altLang="ko-KR" dirty="0">
                    <a:latin typeface="+mn-ea"/>
                  </a:rPr>
                  <a:t>) : </a:t>
                </a:r>
                <a:r>
                  <a:rPr lang="ko-KR" altLang="en-US" dirty="0">
                    <a:latin typeface="+mn-ea"/>
                  </a:rPr>
                  <a:t>환경과</a:t>
                </a:r>
                <a:r>
                  <a:rPr lang="en-US" altLang="ko-KR" dirty="0">
                    <a:latin typeface="+mn-ea"/>
                  </a:rPr>
                  <a:t> </a:t>
                </a:r>
                <a:r>
                  <a:rPr lang="ko-KR" altLang="en-US" dirty="0">
                    <a:latin typeface="+mn-ea"/>
                  </a:rPr>
                  <a:t>에이전트의 상태</a:t>
                </a:r>
                <a:endParaRPr lang="en-US" altLang="ko-KR" dirty="0">
                  <a:latin typeface="+mn-ea"/>
                </a:endParaRPr>
              </a:p>
              <a:p>
                <a:pPr marL="180000" indent="-180000">
                  <a:lnSpc>
                    <a:spcPct val="150000"/>
                  </a:lnSpc>
                  <a:buFont typeface="Arial" panose="020B0604020202020204" pitchFamily="34" charset="0"/>
                  <a:buChar char="•"/>
                </a:pPr>
                <a:r>
                  <a:rPr lang="ko-KR" altLang="en-US" dirty="0">
                    <a:latin typeface="+mn-ea"/>
                  </a:rPr>
                  <a:t>행동</a:t>
                </a:r>
                <a:r>
                  <a:rPr lang="en-US" altLang="ko-KR" dirty="0">
                    <a:latin typeface="+mn-ea"/>
                  </a:rPr>
                  <a:t>(action,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𝑎</m:t>
                        </m:r>
                      </m:e>
                      <m:sub>
                        <m:r>
                          <a:rPr lang="en-US" altLang="ko-KR" b="0" i="1" smtClean="0">
                            <a:latin typeface="Cambria Math" panose="02040503050406030204" pitchFamily="18" charset="0"/>
                          </a:rPr>
                          <m:t>𝑡</m:t>
                        </m:r>
                      </m:sub>
                    </m:sSub>
                  </m:oMath>
                </a14:m>
                <a:r>
                  <a:rPr lang="en-US" altLang="ko-KR" dirty="0">
                    <a:latin typeface="+mn-ea"/>
                  </a:rPr>
                  <a:t>) : </a:t>
                </a:r>
                <a:r>
                  <a:rPr lang="ko-KR" altLang="en-US" dirty="0">
                    <a:latin typeface="+mn-ea"/>
                  </a:rPr>
                  <a:t>에이전트가 취하는 행동</a:t>
                </a:r>
                <a:endParaRPr lang="en-US" altLang="ko-KR" dirty="0">
                  <a:latin typeface="+mn-ea"/>
                </a:endParaRPr>
              </a:p>
              <a:p>
                <a:pPr marL="180000" indent="-180000">
                  <a:lnSpc>
                    <a:spcPct val="150000"/>
                  </a:lnSpc>
                  <a:buFont typeface="Arial" panose="020B0604020202020204" pitchFamily="34" charset="0"/>
                  <a:buChar char="•"/>
                </a:pPr>
                <a:r>
                  <a:rPr lang="ko-KR" altLang="en-US" dirty="0">
                    <a:latin typeface="+mn-ea"/>
                  </a:rPr>
                  <a:t>상태 전이 확률</a:t>
                </a:r>
                <a:r>
                  <a:rPr lang="en-US" altLang="ko-KR" dirty="0">
                    <a:latin typeface="+mn-ea"/>
                  </a:rPr>
                  <a:t>(state transition probability)</a:t>
                </a:r>
              </a:p>
              <a:p>
                <a:pPr marL="180000" indent="-180000">
                  <a:lnSpc>
                    <a:spcPct val="150000"/>
                  </a:lnSpc>
                  <a:buFont typeface="Arial" panose="020B0604020202020204" pitchFamily="34" charset="0"/>
                  <a:buChar char="•"/>
                </a:pPr>
                <a:endParaRPr lang="en-US" altLang="ko-KR" dirty="0">
                  <a:latin typeface="+mn-ea"/>
                </a:endParaRPr>
              </a:p>
              <a:p>
                <a:pPr marL="180000" indent="-180000">
                  <a:lnSpc>
                    <a:spcPct val="150000"/>
                  </a:lnSpc>
                  <a:buFont typeface="Arial" panose="020B0604020202020204" pitchFamily="34" charset="0"/>
                  <a:buChar char="•"/>
                </a:pPr>
                <a:endParaRPr lang="en-US" altLang="ko-KR" dirty="0">
                  <a:latin typeface="+mn-ea"/>
                </a:endParaRPr>
              </a:p>
              <a:p>
                <a:pPr marL="180000" indent="-180000">
                  <a:lnSpc>
                    <a:spcPct val="150000"/>
                  </a:lnSpc>
                  <a:buFont typeface="Arial" panose="020B0604020202020204" pitchFamily="34" charset="0"/>
                  <a:buChar char="•"/>
                </a:pPr>
                <a:r>
                  <a:rPr lang="ko-KR" altLang="en-US" dirty="0">
                    <a:latin typeface="+mn-ea"/>
                  </a:rPr>
                  <a:t>보상</a:t>
                </a:r>
                <a:r>
                  <a:rPr lang="en-US" altLang="ko-KR" dirty="0">
                    <a:latin typeface="+mn-ea"/>
                  </a:rPr>
                  <a:t>(reward, </a:t>
                </a:r>
                <a14:m>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𝑟</m:t>
                        </m:r>
                      </m:e>
                      <m:sub>
                        <m:r>
                          <a:rPr lang="en-US" altLang="ko-KR" b="0" i="1" smtClean="0">
                            <a:latin typeface="Cambria Math" panose="02040503050406030204" pitchFamily="18" charset="0"/>
                          </a:rPr>
                          <m:t>𝑡</m:t>
                        </m:r>
                      </m:sub>
                    </m:sSub>
                  </m:oMath>
                </a14:m>
                <a:r>
                  <a:rPr lang="en-US" altLang="ko-KR" dirty="0">
                    <a:latin typeface="+mn-ea"/>
                  </a:rPr>
                  <a:t>) : </a:t>
                </a:r>
                <a:r>
                  <a:rPr lang="ko-KR" altLang="en-US" dirty="0">
                    <a:latin typeface="+mn-ea"/>
                  </a:rPr>
                  <a:t>각 </a:t>
                </a:r>
                <a:r>
                  <a:rPr lang="ko-KR" altLang="en-US" dirty="0"/>
                  <a:t>단계마다</a:t>
                </a:r>
                <a:r>
                  <a:rPr lang="ko-KR" altLang="en-US" dirty="0">
                    <a:latin typeface="+mn-ea"/>
                  </a:rPr>
                  <a:t> 에이전트가 받는 보상</a:t>
                </a:r>
                <a:endParaRPr lang="en-US" altLang="ko-KR" dirty="0">
                  <a:latin typeface="+mn-ea"/>
                </a:endParaRPr>
              </a:p>
              <a:p>
                <a:pPr marL="180000" indent="-180000">
                  <a:lnSpc>
                    <a:spcPct val="150000"/>
                  </a:lnSpc>
                  <a:buFont typeface="Arial" panose="020B0604020202020204" pitchFamily="34" charset="0"/>
                  <a:buChar char="•"/>
                </a:pPr>
                <a:endParaRPr lang="en-US" altLang="ko-KR" dirty="0">
                  <a:latin typeface="+mn-ea"/>
                </a:endParaRPr>
              </a:p>
              <a:p>
                <a:pPr marL="180000" indent="-180000">
                  <a:lnSpc>
                    <a:spcPct val="150000"/>
                  </a:lnSpc>
                  <a:buFont typeface="Arial" panose="020B0604020202020204" pitchFamily="34" charset="0"/>
                  <a:buChar char="•"/>
                </a:pPr>
                <a:endParaRPr lang="en-US" altLang="ko-KR" dirty="0">
                  <a:latin typeface="+mn-ea"/>
                </a:endParaRPr>
              </a:p>
              <a:p>
                <a:pPr marL="180000" indent="-180000">
                  <a:lnSpc>
                    <a:spcPct val="150000"/>
                  </a:lnSpc>
                  <a:buFont typeface="Arial" panose="020B0604020202020204" pitchFamily="34" charset="0"/>
                  <a:buChar char="•"/>
                </a:pPr>
                <a:r>
                  <a:rPr lang="ko-KR" altLang="en-US" dirty="0">
                    <a:latin typeface="+mn-ea"/>
                  </a:rPr>
                  <a:t>정책</a:t>
                </a:r>
                <a:r>
                  <a:rPr lang="en-US" altLang="ko-KR" dirty="0">
                    <a:latin typeface="+mn-ea"/>
                  </a:rPr>
                  <a:t>(policy, </a:t>
                </a:r>
                <a14:m>
                  <m:oMath xmlns:m="http://schemas.openxmlformats.org/officeDocument/2006/math">
                    <m:r>
                      <a:rPr lang="en-US" altLang="ko-KR" i="1">
                        <a:latin typeface="Cambria Math" panose="02040503050406030204" pitchFamily="18" charset="0"/>
                      </a:rPr>
                      <m:t>𝜋</m:t>
                    </m:r>
                  </m:oMath>
                </a14:m>
                <a:r>
                  <a:rPr lang="en-US" altLang="ko-KR" dirty="0">
                    <a:latin typeface="+mn-ea"/>
                  </a:rPr>
                  <a:t>) : </a:t>
                </a:r>
                <a:r>
                  <a:rPr lang="ko-KR" altLang="en-US" dirty="0">
                    <a:latin typeface="+mn-ea"/>
                  </a:rPr>
                  <a:t>주어진 상태에 대하여 행동을 결정</a:t>
                </a:r>
                <a:r>
                  <a:rPr lang="en-US" altLang="ko-KR" dirty="0">
                    <a:latin typeface="+mn-ea"/>
                  </a:rPr>
                  <a:t>.</a:t>
                </a:r>
              </a:p>
              <a:p>
                <a:pPr marL="180000" indent="-180000">
                  <a:lnSpc>
                    <a:spcPct val="150000"/>
                  </a:lnSpc>
                  <a:buFont typeface="Arial" panose="020B0604020202020204" pitchFamily="34" charset="0"/>
                  <a:buChar char="•"/>
                </a:pPr>
                <a:r>
                  <a:rPr lang="ko-KR" altLang="en-US" dirty="0">
                    <a:latin typeface="+mn-ea"/>
                  </a:rPr>
                  <a:t>리턴</a:t>
                </a:r>
                <a:r>
                  <a:rPr lang="en-US" altLang="ko-KR" dirty="0">
                    <a:latin typeface="+mn-ea"/>
                  </a:rPr>
                  <a:t>(return) : </a:t>
                </a:r>
                <a:r>
                  <a:rPr lang="ko-KR" altLang="en-US" dirty="0">
                    <a:latin typeface="+mn-ea"/>
                  </a:rPr>
                  <a:t>보상의 </a:t>
                </a:r>
                <a:r>
                  <a:rPr lang="ko-KR" altLang="en-US" dirty="0" err="1">
                    <a:latin typeface="+mn-ea"/>
                  </a:rPr>
                  <a:t>누적합</a:t>
                </a:r>
                <a:r>
                  <a:rPr lang="en-US" altLang="ko-KR" dirty="0">
                    <a:latin typeface="+mn-ea"/>
                  </a:rPr>
                  <a:t>.</a:t>
                </a:r>
              </a:p>
              <a:p>
                <a:pPr marL="180000" indent="-180000">
                  <a:lnSpc>
                    <a:spcPct val="150000"/>
                  </a:lnSpc>
                  <a:buFont typeface="Arial" panose="020B0604020202020204" pitchFamily="34" charset="0"/>
                  <a:buChar char="•"/>
                </a:pPr>
                <a:endParaRPr lang="en-US" altLang="ko-KR" dirty="0">
                  <a:latin typeface="+mn-ea"/>
                </a:endParaRPr>
              </a:p>
              <a:p>
                <a:pPr marL="180000" indent="-180000">
                  <a:lnSpc>
                    <a:spcPct val="150000"/>
                  </a:lnSpc>
                  <a:buFont typeface="Arial" panose="020B0604020202020204" pitchFamily="34" charset="0"/>
                  <a:buChar char="•"/>
                </a:pPr>
                <a:endParaRPr lang="en-US" altLang="ko-KR" dirty="0">
                  <a:latin typeface="+mn-ea"/>
                </a:endParaRPr>
              </a:p>
              <a:p>
                <a:pPr marL="180000" indent="-180000">
                  <a:lnSpc>
                    <a:spcPct val="150000"/>
                  </a:lnSpc>
                  <a:buFont typeface="Arial" panose="020B0604020202020204" pitchFamily="34" charset="0"/>
                  <a:buChar char="•"/>
                </a:pPr>
                <a:r>
                  <a:rPr lang="ko-KR" altLang="en-US" dirty="0" err="1">
                    <a:latin typeface="+mn-ea"/>
                  </a:rPr>
                  <a:t>마르코프성질</a:t>
                </a:r>
                <a:r>
                  <a:rPr lang="ko-KR" altLang="en-US" dirty="0">
                    <a:latin typeface="+mn-ea"/>
                  </a:rPr>
                  <a:t> </a:t>
                </a:r>
                <a:r>
                  <a:rPr lang="en-US" altLang="ko-KR" dirty="0">
                    <a:latin typeface="+mn-ea"/>
                  </a:rPr>
                  <a:t>(Markov property) : </a:t>
                </a:r>
                <a:r>
                  <a:rPr lang="ko-KR" altLang="en-US" dirty="0">
                    <a:latin typeface="+mn-ea"/>
                  </a:rPr>
                  <a:t>다음 상태가 직전 상태와 행동에만 의존</a:t>
                </a:r>
                <a:endParaRPr lang="en-US" altLang="ko-KR" dirty="0">
                  <a:latin typeface="+mn-ea"/>
                </a:endParaRPr>
              </a:p>
              <a:p>
                <a:pPr marL="180000" indent="-180000">
                  <a:lnSpc>
                    <a:spcPct val="150000"/>
                  </a:lnSpc>
                  <a:buFont typeface="Arial" panose="020B0604020202020204" pitchFamily="34" charset="0"/>
                  <a:buChar char="•"/>
                </a:pPr>
                <a:endParaRPr lang="en-US" altLang="ko-KR" sz="1200" dirty="0">
                  <a:latin typeface="+mn-ea"/>
                </a:endParaRPr>
              </a:p>
              <a:p>
                <a:pPr marL="180000" lvl="1" indent="-180000">
                  <a:lnSpc>
                    <a:spcPct val="150000"/>
                  </a:lnSpc>
                  <a:buFont typeface="Arial" panose="020B0604020202020204" pitchFamily="34" charset="0"/>
                  <a:buChar char="•"/>
                </a:pPr>
                <a:endParaRPr lang="en-US" altLang="ko-KR" sz="1200" dirty="0">
                  <a:latin typeface="+mn-ea"/>
                </a:endParaRPr>
              </a:p>
              <a:p>
                <a:pPr marL="180000" indent="-180000">
                  <a:lnSpc>
                    <a:spcPct val="150000"/>
                  </a:lnSpc>
                  <a:buFont typeface="Arial" panose="020B0604020202020204" pitchFamily="34" charset="0"/>
                  <a:buChar char="•"/>
                </a:pPr>
                <a:endParaRPr lang="en-US" altLang="ko-KR" dirty="0">
                  <a:latin typeface="+mn-ea"/>
                </a:endParaRPr>
              </a:p>
            </p:txBody>
          </p:sp>
        </mc:Choice>
        <mc:Fallback xmlns="">
          <p:sp>
            <p:nvSpPr>
              <p:cNvPr id="6" name="텍스트 개체 틀 5">
                <a:extLst>
                  <a:ext uri="{FF2B5EF4-FFF2-40B4-BE49-F238E27FC236}">
                    <a16:creationId xmlns:a16="http://schemas.microsoft.com/office/drawing/2014/main" id="{6957E4A4-EE93-8BD1-E683-DDD54A197AFA}"/>
                  </a:ext>
                </a:extLst>
              </p:cNvPr>
              <p:cNvSpPr>
                <a:spLocks noGrp="1" noRot="1" noChangeAspect="1" noMove="1" noResize="1" noEditPoints="1" noAdjustHandles="1" noChangeArrowheads="1" noChangeShapeType="1" noTextEdit="1"/>
              </p:cNvSpPr>
              <p:nvPr>
                <p:ph type="body" sz="quarter" idx="11"/>
              </p:nvPr>
            </p:nvSpPr>
            <p:spPr>
              <a:xfrm>
                <a:off x="200471" y="1174874"/>
                <a:ext cx="7419084" cy="5356489"/>
              </a:xfrm>
              <a:blipFill>
                <a:blip r:embed="rId3"/>
                <a:stretch>
                  <a:fillRect l="-411"/>
                </a:stretch>
              </a:blipFill>
            </p:spPr>
            <p:txBody>
              <a:bodyPr/>
              <a:lstStyle/>
              <a:p>
                <a:r>
                  <a:rPr lang="ko-KR" altLang="en-US">
                    <a:noFill/>
                  </a:rPr>
                  <a:t> </a:t>
                </a:r>
              </a:p>
            </p:txBody>
          </p:sp>
        </mc:Fallback>
      </mc:AlternateContent>
      <p:sp>
        <p:nvSpPr>
          <p:cNvPr id="4" name="제목 3">
            <a:extLst>
              <a:ext uri="{FF2B5EF4-FFF2-40B4-BE49-F238E27FC236}">
                <a16:creationId xmlns:a16="http://schemas.microsoft.com/office/drawing/2014/main" id="{702A1A16-77D1-8D8A-45E6-82D0C46D3671}"/>
              </a:ext>
            </a:extLst>
          </p:cNvPr>
          <p:cNvSpPr>
            <a:spLocks noGrp="1"/>
          </p:cNvSpPr>
          <p:nvPr>
            <p:ph type="title"/>
          </p:nvPr>
        </p:nvSpPr>
        <p:spPr/>
        <p:txBody>
          <a:bodyPr/>
          <a:lstStyle/>
          <a:p>
            <a:r>
              <a:rPr lang="en-US" altLang="ko-KR" dirty="0"/>
              <a:t>1.1 </a:t>
            </a:r>
            <a:r>
              <a:rPr lang="ko-KR" altLang="en-US" dirty="0"/>
              <a:t>강화학습 이론 파악</a:t>
            </a:r>
          </a:p>
        </p:txBody>
      </p:sp>
      <p:sp>
        <p:nvSpPr>
          <p:cNvPr id="7" name="텍스트 개체 틀 6">
            <a:extLst>
              <a:ext uri="{FF2B5EF4-FFF2-40B4-BE49-F238E27FC236}">
                <a16:creationId xmlns:a16="http://schemas.microsoft.com/office/drawing/2014/main" id="{3FE64B51-084B-8D67-29CE-EAB99B9CA544}"/>
              </a:ext>
            </a:extLst>
          </p:cNvPr>
          <p:cNvSpPr>
            <a:spLocks noGrp="1"/>
          </p:cNvSpPr>
          <p:nvPr>
            <p:ph type="body" sz="quarter" idx="12"/>
          </p:nvPr>
        </p:nvSpPr>
        <p:spPr/>
        <p:txBody>
          <a:bodyPr/>
          <a:lstStyle/>
          <a:p>
            <a:r>
              <a:rPr lang="ko-KR" altLang="en-US" dirty="0"/>
              <a:t>강화학습</a:t>
            </a:r>
          </a:p>
        </p:txBody>
      </p:sp>
      <p:sp>
        <p:nvSpPr>
          <p:cNvPr id="13" name="직사각형 12">
            <a:extLst>
              <a:ext uri="{FF2B5EF4-FFF2-40B4-BE49-F238E27FC236}">
                <a16:creationId xmlns:a16="http://schemas.microsoft.com/office/drawing/2014/main" id="{9C161533-149B-662B-4C88-D6CC05AE29E8}"/>
              </a:ext>
            </a:extLst>
          </p:cNvPr>
          <p:cNvSpPr/>
          <p:nvPr/>
        </p:nvSpPr>
        <p:spPr bwMode="auto">
          <a:xfrm>
            <a:off x="4732774" y="2682910"/>
            <a:ext cx="177832" cy="746090"/>
          </a:xfrm>
          <a:prstGeom prst="rect">
            <a:avLst/>
          </a:prstGeom>
          <a:solidFill>
            <a:schemeClr val="bg1"/>
          </a:solidFill>
          <a:ln>
            <a:solidFill>
              <a:schemeClr val="bg1"/>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sp>
        <p:nvSpPr>
          <p:cNvPr id="14" name="직사각형 13">
            <a:extLst>
              <a:ext uri="{FF2B5EF4-FFF2-40B4-BE49-F238E27FC236}">
                <a16:creationId xmlns:a16="http://schemas.microsoft.com/office/drawing/2014/main" id="{545DAEAA-EA9C-3B64-9F22-72F3E440212D}"/>
              </a:ext>
            </a:extLst>
          </p:cNvPr>
          <p:cNvSpPr/>
          <p:nvPr/>
        </p:nvSpPr>
        <p:spPr bwMode="auto">
          <a:xfrm>
            <a:off x="9466531" y="2682910"/>
            <a:ext cx="177832" cy="746090"/>
          </a:xfrm>
          <a:prstGeom prst="rect">
            <a:avLst/>
          </a:prstGeom>
          <a:solidFill>
            <a:schemeClr val="bg1"/>
          </a:solidFill>
          <a:ln>
            <a:solidFill>
              <a:schemeClr val="bg1"/>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pic>
        <p:nvPicPr>
          <p:cNvPr id="8" name="그림 7">
            <a:extLst>
              <a:ext uri="{FF2B5EF4-FFF2-40B4-BE49-F238E27FC236}">
                <a16:creationId xmlns:a16="http://schemas.microsoft.com/office/drawing/2014/main" id="{31F46DF8-74F7-8614-8161-74F249B1BB21}"/>
              </a:ext>
            </a:extLst>
          </p:cNvPr>
          <p:cNvPicPr>
            <a:picLocks noChangeAspect="1"/>
          </p:cNvPicPr>
          <p:nvPr/>
        </p:nvPicPr>
        <p:blipFill>
          <a:blip r:embed="rId4"/>
          <a:stretch>
            <a:fillRect/>
          </a:stretch>
        </p:blipFill>
        <p:spPr>
          <a:xfrm>
            <a:off x="4910606" y="3055955"/>
            <a:ext cx="4867954" cy="516752"/>
          </a:xfrm>
          <a:prstGeom prst="rect">
            <a:avLst/>
          </a:prstGeom>
        </p:spPr>
      </p:pic>
      <p:pic>
        <p:nvPicPr>
          <p:cNvPr id="11" name="그림 10">
            <a:extLst>
              <a:ext uri="{FF2B5EF4-FFF2-40B4-BE49-F238E27FC236}">
                <a16:creationId xmlns:a16="http://schemas.microsoft.com/office/drawing/2014/main" id="{09DD027C-E1BD-6B49-88DE-2700EADC9768}"/>
              </a:ext>
            </a:extLst>
          </p:cNvPr>
          <p:cNvPicPr>
            <a:picLocks noChangeAspect="1"/>
          </p:cNvPicPr>
          <p:nvPr/>
        </p:nvPicPr>
        <p:blipFill>
          <a:blip r:embed="rId5"/>
          <a:stretch>
            <a:fillRect/>
          </a:stretch>
        </p:blipFill>
        <p:spPr>
          <a:xfrm>
            <a:off x="4776409" y="937034"/>
            <a:ext cx="4867954" cy="1648055"/>
          </a:xfrm>
          <a:prstGeom prst="rect">
            <a:avLst/>
          </a:prstGeom>
        </p:spPr>
      </p:pic>
      <p:pic>
        <p:nvPicPr>
          <p:cNvPr id="18" name="그림 17">
            <a:extLst>
              <a:ext uri="{FF2B5EF4-FFF2-40B4-BE49-F238E27FC236}">
                <a16:creationId xmlns:a16="http://schemas.microsoft.com/office/drawing/2014/main" id="{5C148424-78A1-C0E0-16BA-88CE51754C61}"/>
              </a:ext>
            </a:extLst>
          </p:cNvPr>
          <p:cNvPicPr>
            <a:picLocks noChangeAspect="1"/>
          </p:cNvPicPr>
          <p:nvPr/>
        </p:nvPicPr>
        <p:blipFill>
          <a:blip r:embed="rId6"/>
          <a:stretch>
            <a:fillRect/>
          </a:stretch>
        </p:blipFill>
        <p:spPr>
          <a:xfrm>
            <a:off x="412719" y="5015307"/>
            <a:ext cx="4059715" cy="551618"/>
          </a:xfrm>
          <a:prstGeom prst="rect">
            <a:avLst/>
          </a:prstGeom>
        </p:spPr>
      </p:pic>
      <p:sp>
        <p:nvSpPr>
          <p:cNvPr id="23" name="TextBox 22">
            <a:extLst>
              <a:ext uri="{FF2B5EF4-FFF2-40B4-BE49-F238E27FC236}">
                <a16:creationId xmlns:a16="http://schemas.microsoft.com/office/drawing/2014/main" id="{7EA724B6-D826-92B0-8ADA-A3CA537428CF}"/>
              </a:ext>
            </a:extLst>
          </p:cNvPr>
          <p:cNvSpPr txBox="1"/>
          <p:nvPr/>
        </p:nvSpPr>
        <p:spPr>
          <a:xfrm>
            <a:off x="7889452" y="6285142"/>
            <a:ext cx="1997644" cy="246221"/>
          </a:xfrm>
          <a:prstGeom prst="rect">
            <a:avLst/>
          </a:prstGeom>
          <a:noFill/>
        </p:spPr>
        <p:txBody>
          <a:bodyPr wrap="square" rtlCol="0">
            <a:spAutoFit/>
          </a:bodyPr>
          <a:lstStyle/>
          <a:p>
            <a:r>
              <a:rPr lang="en-US" altLang="ko-KR" sz="1000" dirty="0">
                <a:latin typeface="+mn-ea"/>
                <a:ea typeface="+mn-ea"/>
              </a:rPr>
              <a:t>(Sutton, 2014), 3.1</a:t>
            </a:r>
            <a:r>
              <a:rPr lang="ko-KR" altLang="en-US" sz="1000" dirty="0">
                <a:latin typeface="+mn-ea"/>
                <a:ea typeface="+mn-ea"/>
              </a:rPr>
              <a:t>절 </a:t>
            </a:r>
            <a:r>
              <a:rPr lang="en-US" altLang="ko-KR" sz="1000" dirty="0">
                <a:latin typeface="+mn-ea"/>
                <a:ea typeface="+mn-ea"/>
              </a:rPr>
              <a:t>~ 3.6</a:t>
            </a:r>
            <a:r>
              <a:rPr lang="ko-KR" altLang="en-US" sz="1000" dirty="0">
                <a:latin typeface="+mn-ea"/>
                <a:ea typeface="+mn-ea"/>
              </a:rPr>
              <a:t>절</a:t>
            </a:r>
          </a:p>
        </p:txBody>
      </p:sp>
      <p:pic>
        <p:nvPicPr>
          <p:cNvPr id="30" name="그림 29">
            <a:extLst>
              <a:ext uri="{FF2B5EF4-FFF2-40B4-BE49-F238E27FC236}">
                <a16:creationId xmlns:a16="http://schemas.microsoft.com/office/drawing/2014/main" id="{42EB4F84-93FA-7142-E36E-FB4E99A600BC}"/>
              </a:ext>
            </a:extLst>
          </p:cNvPr>
          <p:cNvPicPr>
            <a:picLocks noChangeAspect="1"/>
          </p:cNvPicPr>
          <p:nvPr/>
        </p:nvPicPr>
        <p:blipFill>
          <a:blip r:embed="rId7"/>
          <a:stretch>
            <a:fillRect/>
          </a:stretch>
        </p:blipFill>
        <p:spPr>
          <a:xfrm>
            <a:off x="284281" y="6077862"/>
            <a:ext cx="7335274" cy="362001"/>
          </a:xfrm>
          <a:prstGeom prst="rect">
            <a:avLst/>
          </a:prstGeom>
        </p:spPr>
      </p:pic>
      <p:sp>
        <p:nvSpPr>
          <p:cNvPr id="2" name="텍스트 개체 틀 5">
            <a:extLst>
              <a:ext uri="{FF2B5EF4-FFF2-40B4-BE49-F238E27FC236}">
                <a16:creationId xmlns:a16="http://schemas.microsoft.com/office/drawing/2014/main" id="{74DB7356-9D65-1F06-1CA1-8FB80F35C647}"/>
              </a:ext>
            </a:extLst>
          </p:cNvPr>
          <p:cNvSpPr txBox="1">
            <a:spLocks/>
          </p:cNvSpPr>
          <p:nvPr/>
        </p:nvSpPr>
        <p:spPr>
          <a:xfrm>
            <a:off x="7619555" y="6438898"/>
            <a:ext cx="1379152" cy="419259"/>
          </a:xfrm>
          <a:prstGeom prst="rect">
            <a:avLst/>
          </a:prstGeom>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kumimoji="0" lang="ko-KR" altLang="en-US" b="0" dirty="0">
                <a:latin typeface="+mn-ea"/>
                <a:hlinkClick r:id="rId8" action="ppaction://hlinksldjump"/>
              </a:rPr>
              <a:t>환경적용문제</a:t>
            </a:r>
            <a:endParaRPr kumimoji="0" lang="en-US" altLang="ko-KR" b="0" dirty="0">
              <a:latin typeface="+mn-ea"/>
            </a:endParaRPr>
          </a:p>
        </p:txBody>
      </p:sp>
      <p:pic>
        <p:nvPicPr>
          <p:cNvPr id="12" name="그림 11">
            <a:extLst>
              <a:ext uri="{FF2B5EF4-FFF2-40B4-BE49-F238E27FC236}">
                <a16:creationId xmlns:a16="http://schemas.microsoft.com/office/drawing/2014/main" id="{3A5F8040-B4EE-13FC-61E4-CBB1303DCDB1}"/>
              </a:ext>
            </a:extLst>
          </p:cNvPr>
          <p:cNvPicPr>
            <a:picLocks noChangeAspect="1"/>
          </p:cNvPicPr>
          <p:nvPr/>
        </p:nvPicPr>
        <p:blipFill>
          <a:blip r:embed="rId9"/>
          <a:stretch>
            <a:fillRect/>
          </a:stretch>
        </p:blipFill>
        <p:spPr>
          <a:xfrm>
            <a:off x="412720" y="2940519"/>
            <a:ext cx="3034674" cy="267372"/>
          </a:xfrm>
          <a:prstGeom prst="rect">
            <a:avLst/>
          </a:prstGeom>
        </p:spPr>
      </p:pic>
      <p:pic>
        <p:nvPicPr>
          <p:cNvPr id="16" name="그림 15">
            <a:extLst>
              <a:ext uri="{FF2B5EF4-FFF2-40B4-BE49-F238E27FC236}">
                <a16:creationId xmlns:a16="http://schemas.microsoft.com/office/drawing/2014/main" id="{EF1FAE7B-A173-CAA2-58A1-BAA76F226ED4}"/>
              </a:ext>
            </a:extLst>
          </p:cNvPr>
          <p:cNvPicPr>
            <a:picLocks noChangeAspect="1"/>
          </p:cNvPicPr>
          <p:nvPr/>
        </p:nvPicPr>
        <p:blipFill>
          <a:blip r:embed="rId10"/>
          <a:stretch>
            <a:fillRect/>
          </a:stretch>
        </p:blipFill>
        <p:spPr>
          <a:xfrm>
            <a:off x="412719" y="3890183"/>
            <a:ext cx="2729874" cy="277367"/>
          </a:xfrm>
          <a:prstGeom prst="rect">
            <a:avLst/>
          </a:prstGeom>
        </p:spPr>
      </p:pic>
    </p:spTree>
    <p:extLst>
      <p:ext uri="{BB962C8B-B14F-4D97-AF65-F5344CB8AC3E}">
        <p14:creationId xmlns:p14="http://schemas.microsoft.com/office/powerpoint/2010/main" val="816352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67DF9-F1AA-6862-7D66-1E2B12D61925}"/>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70627535-3BB5-C9A5-4BC0-EEFE7BA8D10C}"/>
              </a:ext>
            </a:extLst>
          </p:cNvPr>
          <p:cNvSpPr>
            <a:spLocks noGrp="1"/>
          </p:cNvSpPr>
          <p:nvPr>
            <p:ph type="body" sz="quarter" idx="10"/>
          </p:nvPr>
        </p:nvSpPr>
        <p:spPr/>
        <p:txBody>
          <a:bodyPr/>
          <a:lstStyle/>
          <a:p>
            <a:pPr marL="0" indent="0">
              <a:buNone/>
            </a:pPr>
            <a:r>
              <a:rPr lang="ko-KR" altLang="en-US" dirty="0"/>
              <a:t>가치함수와 </a:t>
            </a:r>
            <a:r>
              <a:rPr lang="en-US" altLang="ko-KR" dirty="0"/>
              <a:t>Bellman equation</a:t>
            </a:r>
            <a:endParaRPr lang="ko-KR" altLang="en-US" dirty="0"/>
          </a:p>
        </p:txBody>
      </p:sp>
      <mc:AlternateContent xmlns:mc="http://schemas.openxmlformats.org/markup-compatibility/2006" xmlns:a14="http://schemas.microsoft.com/office/drawing/2010/main">
        <mc:Choice Requires="a14">
          <p:sp>
            <p:nvSpPr>
              <p:cNvPr id="6" name="텍스트 개체 틀 5">
                <a:extLst>
                  <a:ext uri="{FF2B5EF4-FFF2-40B4-BE49-F238E27FC236}">
                    <a16:creationId xmlns:a16="http://schemas.microsoft.com/office/drawing/2014/main" id="{B63B7140-FA78-8091-8E4C-3F72BD73315E}"/>
                  </a:ext>
                </a:extLst>
              </p:cNvPr>
              <p:cNvSpPr>
                <a:spLocks noGrp="1"/>
              </p:cNvSpPr>
              <p:nvPr>
                <p:ph type="body" sz="quarter" idx="11"/>
              </p:nvPr>
            </p:nvSpPr>
            <p:spPr>
              <a:xfrm>
                <a:off x="200472" y="1060574"/>
                <a:ext cx="4710134" cy="4677285"/>
              </a:xfrm>
            </p:spPr>
            <p:txBody>
              <a:bodyPr/>
              <a:lstStyle/>
              <a:p>
                <a:pPr marL="180000" indent="-180000">
                  <a:buFont typeface="Arial" panose="020B0604020202020204" pitchFamily="34" charset="0"/>
                  <a:buChar char="•"/>
                </a:pPr>
                <a:r>
                  <a:rPr lang="en-US" altLang="ko-KR" dirty="0">
                    <a:latin typeface="+mn-ea"/>
                  </a:rPr>
                  <a:t>state value function</a:t>
                </a:r>
              </a:p>
              <a:p>
                <a:pPr marL="180000" lvl="1" indent="180000">
                  <a:buFont typeface="Arial" panose="020B0604020202020204" pitchFamily="34" charset="0"/>
                  <a:buChar char="•"/>
                </a:pPr>
                <a:r>
                  <a:rPr lang="ko-KR" altLang="en-US" sz="1100" dirty="0">
                    <a:latin typeface="+mn-ea"/>
                  </a:rPr>
                  <a:t>주어진 상태 </a:t>
                </a:r>
                <a14:m>
                  <m:oMath xmlns:m="http://schemas.openxmlformats.org/officeDocument/2006/math">
                    <m:r>
                      <a:rPr lang="en-US" altLang="ko-KR" sz="1100" i="1" dirty="0" smtClean="0">
                        <a:latin typeface="Cambria Math" panose="02040503050406030204" pitchFamily="18" charset="0"/>
                      </a:rPr>
                      <m:t>𝑠</m:t>
                    </m:r>
                  </m:oMath>
                </a14:m>
                <a:r>
                  <a:rPr lang="ko-KR" altLang="en-US" sz="1100" dirty="0">
                    <a:latin typeface="+mn-ea"/>
                  </a:rPr>
                  <a:t>에서의 </a:t>
                </a:r>
                <a14:m>
                  <m:oMath xmlns:m="http://schemas.openxmlformats.org/officeDocument/2006/math">
                    <m:sSub>
                      <m:sSubPr>
                        <m:ctrlPr>
                          <a:rPr lang="en-US" altLang="ko-KR" sz="1100" i="1" dirty="0" smtClean="0">
                            <a:latin typeface="Cambria Math" panose="02040503050406030204" pitchFamily="18" charset="0"/>
                          </a:rPr>
                        </m:ctrlPr>
                      </m:sSubPr>
                      <m:e>
                        <m:r>
                          <a:rPr lang="en-US" altLang="ko-KR" sz="1100" i="1" dirty="0">
                            <a:latin typeface="Cambria Math" panose="02040503050406030204" pitchFamily="18" charset="0"/>
                          </a:rPr>
                          <m:t>𝐺</m:t>
                        </m:r>
                      </m:e>
                      <m:sub>
                        <m:r>
                          <a:rPr lang="en-US" altLang="ko-KR" sz="1100" i="1" dirty="0">
                            <a:latin typeface="Cambria Math" panose="02040503050406030204" pitchFamily="18" charset="0"/>
                          </a:rPr>
                          <m:t>𝑡</m:t>
                        </m:r>
                      </m:sub>
                    </m:sSub>
                    <m:r>
                      <a:rPr lang="ko-KR" altLang="en-US" sz="1100" i="1" dirty="0">
                        <a:latin typeface="Cambria Math" panose="02040503050406030204" pitchFamily="18" charset="0"/>
                      </a:rPr>
                      <m:t>의</m:t>
                    </m:r>
                  </m:oMath>
                </a14:m>
                <a:r>
                  <a:rPr lang="en-US" altLang="ko-KR" sz="1100" dirty="0"/>
                  <a:t> </a:t>
                </a:r>
                <a:r>
                  <a:rPr lang="ko-KR" altLang="en-US" sz="1100" dirty="0"/>
                  <a:t>기댓값</a:t>
                </a:r>
                <a:endParaRPr lang="en-US" altLang="ko-KR" sz="1100" dirty="0"/>
              </a:p>
              <a:p>
                <a:pPr marL="180000" lvl="1" indent="180000">
                  <a:buFont typeface="Arial" panose="020B0604020202020204" pitchFamily="34" charset="0"/>
                  <a:buChar char="•"/>
                </a:pPr>
                <a:r>
                  <a:rPr lang="ko-KR" altLang="en-US" sz="1100" dirty="0"/>
                  <a:t>현재 상태에서의 가치를 </a:t>
                </a:r>
                <a:r>
                  <a:rPr lang="ko-KR" altLang="en-US" sz="1100" dirty="0">
                    <a:latin typeface="+mn-ea"/>
                  </a:rPr>
                  <a:t>나타내는 값</a:t>
                </a:r>
                <a:r>
                  <a:rPr lang="en-US" altLang="ko-KR" sz="1100" dirty="0">
                    <a:latin typeface="+mn-ea"/>
                  </a:rPr>
                  <a:t>.</a:t>
                </a: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180000" indent="-180000">
                  <a:buFont typeface="Arial" panose="020B0604020202020204" pitchFamily="34" charset="0"/>
                  <a:buChar char="•"/>
                </a:pPr>
                <a:r>
                  <a:rPr lang="en-US" altLang="ko-KR" dirty="0">
                    <a:latin typeface="+mn-ea"/>
                  </a:rPr>
                  <a:t>action value function</a:t>
                </a:r>
              </a:p>
              <a:p>
                <a:pPr marL="180000" lvl="1" indent="180000">
                  <a:buFont typeface="Arial" panose="020B0604020202020204" pitchFamily="34" charset="0"/>
                  <a:buChar char="•"/>
                </a:pPr>
                <a:r>
                  <a:rPr lang="ko-KR" altLang="en-US" sz="1100" dirty="0">
                    <a:latin typeface="+mn-ea"/>
                  </a:rPr>
                  <a:t>주어진 상태 </a:t>
                </a:r>
                <a14:m>
                  <m:oMath xmlns:m="http://schemas.openxmlformats.org/officeDocument/2006/math">
                    <m:r>
                      <a:rPr lang="en-US" altLang="ko-KR" sz="1100" i="1" dirty="0">
                        <a:latin typeface="Cambria Math" panose="02040503050406030204" pitchFamily="18" charset="0"/>
                      </a:rPr>
                      <m:t>𝑠</m:t>
                    </m:r>
                    <m:r>
                      <a:rPr lang="ko-KR" altLang="en-US" sz="1100" i="1" dirty="0" smtClean="0">
                        <a:latin typeface="Cambria Math" panose="02040503050406030204" pitchFamily="18" charset="0"/>
                      </a:rPr>
                      <m:t>와</m:t>
                    </m:r>
                  </m:oMath>
                </a14:m>
                <a:r>
                  <a:rPr lang="ko-KR" altLang="en-US" sz="1100" dirty="0">
                    <a:latin typeface="+mn-ea"/>
                  </a:rPr>
                  <a:t> 행동 </a:t>
                </a:r>
                <a14:m>
                  <m:oMath xmlns:m="http://schemas.openxmlformats.org/officeDocument/2006/math">
                    <m:r>
                      <a:rPr lang="en-US" altLang="ko-KR" sz="1100" i="1" dirty="0" smtClean="0">
                        <a:latin typeface="Cambria Math" panose="02040503050406030204" pitchFamily="18" charset="0"/>
                      </a:rPr>
                      <m:t>𝑠</m:t>
                    </m:r>
                  </m:oMath>
                </a14:m>
                <a:r>
                  <a:rPr lang="ko-KR" altLang="en-US" sz="1100" dirty="0">
                    <a:latin typeface="+mn-ea"/>
                  </a:rPr>
                  <a:t>에서의 </a:t>
                </a:r>
                <a14:m>
                  <m:oMath xmlns:m="http://schemas.openxmlformats.org/officeDocument/2006/math">
                    <m:sSub>
                      <m:sSubPr>
                        <m:ctrlPr>
                          <a:rPr lang="en-US" altLang="ko-KR" sz="1100" i="1" dirty="0">
                            <a:latin typeface="Cambria Math" panose="02040503050406030204" pitchFamily="18" charset="0"/>
                          </a:rPr>
                        </m:ctrlPr>
                      </m:sSubPr>
                      <m:e>
                        <m:r>
                          <a:rPr lang="en-US" altLang="ko-KR" sz="1100" i="1" dirty="0">
                            <a:latin typeface="Cambria Math" panose="02040503050406030204" pitchFamily="18" charset="0"/>
                          </a:rPr>
                          <m:t>𝐺</m:t>
                        </m:r>
                      </m:e>
                      <m:sub>
                        <m:r>
                          <a:rPr lang="en-US" altLang="ko-KR" sz="1100" i="1" dirty="0">
                            <a:latin typeface="Cambria Math" panose="02040503050406030204" pitchFamily="18" charset="0"/>
                          </a:rPr>
                          <m:t>𝑡</m:t>
                        </m:r>
                      </m:sub>
                    </m:sSub>
                    <m:r>
                      <a:rPr lang="ko-KR" altLang="en-US" sz="1100" i="1" dirty="0">
                        <a:latin typeface="Cambria Math" panose="02040503050406030204" pitchFamily="18" charset="0"/>
                      </a:rPr>
                      <m:t>의</m:t>
                    </m:r>
                  </m:oMath>
                </a14:m>
                <a:r>
                  <a:rPr lang="en-US" altLang="ko-KR" sz="1100" dirty="0"/>
                  <a:t> </a:t>
                </a:r>
                <a:r>
                  <a:rPr lang="ko-KR" altLang="en-US" sz="1100" dirty="0"/>
                  <a:t>기댓값</a:t>
                </a:r>
                <a:endParaRPr lang="en-US" altLang="ko-KR" sz="1100" dirty="0"/>
              </a:p>
              <a:p>
                <a:pPr marL="180000" lvl="1" indent="180000">
                  <a:buFont typeface="Arial" panose="020B0604020202020204" pitchFamily="34" charset="0"/>
                  <a:buChar char="•"/>
                </a:pPr>
                <a:r>
                  <a:rPr lang="ko-KR" altLang="en-US" sz="1100" dirty="0"/>
                  <a:t>현재 상태와 행동에서의 가치를 </a:t>
                </a:r>
                <a:r>
                  <a:rPr lang="ko-KR" altLang="en-US" sz="1100" dirty="0">
                    <a:latin typeface="+mn-ea"/>
                  </a:rPr>
                  <a:t>나타내는 값</a:t>
                </a:r>
                <a:r>
                  <a:rPr lang="en-US" altLang="ko-KR" sz="1100" dirty="0">
                    <a:latin typeface="+mn-ea"/>
                  </a:rPr>
                  <a:t>.</a:t>
                </a:r>
              </a:p>
              <a:p>
                <a:pPr marL="180000" indent="-180000">
                  <a:buFont typeface="Arial" panose="020B0604020202020204" pitchFamily="34" charset="0"/>
                  <a:buChar char="•"/>
                </a:pPr>
                <a:endParaRPr lang="en-US" altLang="ko-KR" dirty="0">
                  <a:latin typeface="+mn-ea"/>
                </a:endParaRPr>
              </a:p>
              <a:p>
                <a:pPr marL="180000" indent="-180000">
                  <a:buFont typeface="Arial" panose="020B0604020202020204" pitchFamily="34" charset="0"/>
                  <a:buChar char="•"/>
                </a:pPr>
                <a:endParaRPr lang="en-US" altLang="ko-KR" dirty="0">
                  <a:latin typeface="+mn-ea"/>
                </a:endParaRPr>
              </a:p>
              <a:p>
                <a:pPr marL="180000" indent="-180000">
                  <a:buFont typeface="Arial" panose="020B0604020202020204" pitchFamily="34" charset="0"/>
                  <a:buChar char="•"/>
                </a:pPr>
                <a:endParaRPr lang="en-US" altLang="ko-KR" dirty="0">
                  <a:latin typeface="+mn-ea"/>
                </a:endParaRPr>
              </a:p>
              <a:p>
                <a:pPr marL="180000" indent="-180000">
                  <a:buFont typeface="Arial" panose="020B0604020202020204" pitchFamily="34" charset="0"/>
                  <a:buChar char="•"/>
                </a:pPr>
                <a:r>
                  <a:rPr lang="en-US" altLang="ko-KR" dirty="0">
                    <a:latin typeface="+mn-ea"/>
                  </a:rPr>
                  <a:t>Bellman</a:t>
                </a:r>
                <a:r>
                  <a:rPr lang="ko-KR" altLang="en-US" dirty="0">
                    <a:latin typeface="+mn-ea"/>
                  </a:rPr>
                  <a:t> </a:t>
                </a:r>
                <a:r>
                  <a:rPr lang="en-US" altLang="ko-KR" dirty="0">
                    <a:latin typeface="+mn-ea"/>
                  </a:rPr>
                  <a:t>equation</a:t>
                </a:r>
              </a:p>
              <a:p>
                <a:pPr marL="180000" lvl="1" indent="180000">
                  <a:buFont typeface="Arial" panose="020B0604020202020204" pitchFamily="34" charset="0"/>
                  <a:buChar char="•"/>
                </a:pPr>
                <a:r>
                  <a:rPr lang="ko-KR" altLang="en-US" sz="1100" dirty="0">
                    <a:latin typeface="+mn-ea"/>
                  </a:rPr>
                  <a:t>인접한 시간차에 대한 가치함수 사이의 관계식</a:t>
                </a:r>
                <a:endParaRPr lang="en-US" altLang="ko-KR" sz="1100" dirty="0">
                  <a:latin typeface="+mn-ea"/>
                </a:endParaRP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285750" indent="-285750">
                  <a:buFont typeface="Arial" panose="020B0604020202020204" pitchFamily="34" charset="0"/>
                  <a:buChar char="•"/>
                </a:pPr>
                <a:endParaRPr lang="en-US" altLang="ko-KR" dirty="0">
                  <a:latin typeface="+mn-ea"/>
                </a:endParaRPr>
              </a:p>
              <a:p>
                <a:pPr marL="180000" indent="-180000">
                  <a:buFont typeface="Arial" panose="020B0604020202020204" pitchFamily="34" charset="0"/>
                  <a:buChar char="•"/>
                </a:pPr>
                <a:endParaRPr lang="en-US" altLang="ko-KR" dirty="0">
                  <a:latin typeface="+mn-ea"/>
                </a:endParaRPr>
              </a:p>
              <a:p>
                <a:pPr marL="180000" indent="-180000">
                  <a:buFont typeface="Arial" panose="020B0604020202020204" pitchFamily="34" charset="0"/>
                  <a:buChar char="•"/>
                </a:pPr>
                <a:r>
                  <a:rPr lang="en-US" altLang="ko-KR" dirty="0">
                    <a:latin typeface="+mn-ea"/>
                  </a:rPr>
                  <a:t>Bellman optimal</a:t>
                </a:r>
                <a:r>
                  <a:rPr lang="ko-KR" altLang="en-US" dirty="0">
                    <a:latin typeface="+mn-ea"/>
                  </a:rPr>
                  <a:t> </a:t>
                </a:r>
                <a:r>
                  <a:rPr lang="en-US" altLang="ko-KR" dirty="0">
                    <a:latin typeface="+mn-ea"/>
                  </a:rPr>
                  <a:t>equation</a:t>
                </a:r>
              </a:p>
              <a:p>
                <a:pPr marL="180000" lvl="1" indent="180000">
                  <a:buFont typeface="Arial" panose="020B0604020202020204" pitchFamily="34" charset="0"/>
                  <a:buChar char="•"/>
                </a:pPr>
                <a:r>
                  <a:rPr lang="ko-KR" altLang="en-US" sz="1100" dirty="0">
                    <a:latin typeface="+mn-ea"/>
                  </a:rPr>
                  <a:t>최적 정책에서의 </a:t>
                </a:r>
                <a:r>
                  <a:rPr lang="en-US" altLang="ko-KR" sz="1100" dirty="0">
                    <a:latin typeface="+mn-ea"/>
                  </a:rPr>
                  <a:t>Bellman equation</a:t>
                </a:r>
              </a:p>
              <a:p>
                <a:pPr marL="285750" indent="-285750">
                  <a:buFont typeface="Arial" panose="020B0604020202020204" pitchFamily="34" charset="0"/>
                  <a:buChar char="•"/>
                </a:pPr>
                <a:endParaRPr lang="en-US" altLang="ko-KR" dirty="0">
                  <a:latin typeface="+mn-ea"/>
                </a:endParaRPr>
              </a:p>
            </p:txBody>
          </p:sp>
        </mc:Choice>
        <mc:Fallback xmlns="">
          <p:sp>
            <p:nvSpPr>
              <p:cNvPr id="6" name="텍스트 개체 틀 5">
                <a:extLst>
                  <a:ext uri="{FF2B5EF4-FFF2-40B4-BE49-F238E27FC236}">
                    <a16:creationId xmlns:a16="http://schemas.microsoft.com/office/drawing/2014/main" id="{B63B7140-FA78-8091-8E4C-3F72BD73315E}"/>
                  </a:ext>
                </a:extLst>
              </p:cNvPr>
              <p:cNvSpPr>
                <a:spLocks noGrp="1" noRot="1" noChangeAspect="1" noMove="1" noResize="1" noEditPoints="1" noAdjustHandles="1" noChangeArrowheads="1" noChangeShapeType="1" noTextEdit="1"/>
              </p:cNvSpPr>
              <p:nvPr>
                <p:ph type="body" sz="quarter" idx="11"/>
              </p:nvPr>
            </p:nvSpPr>
            <p:spPr>
              <a:xfrm>
                <a:off x="200472" y="1060574"/>
                <a:ext cx="4710134" cy="4677285"/>
              </a:xfrm>
              <a:blipFill>
                <a:blip r:embed="rId3"/>
                <a:stretch>
                  <a:fillRect l="-647" t="-391"/>
                </a:stretch>
              </a:blipFill>
            </p:spPr>
            <p:txBody>
              <a:bodyPr/>
              <a:lstStyle/>
              <a:p>
                <a:r>
                  <a:rPr lang="ko-KR" altLang="en-US">
                    <a:noFill/>
                  </a:rPr>
                  <a:t> </a:t>
                </a:r>
              </a:p>
            </p:txBody>
          </p:sp>
        </mc:Fallback>
      </mc:AlternateContent>
      <p:sp>
        <p:nvSpPr>
          <p:cNvPr id="4" name="제목 3">
            <a:extLst>
              <a:ext uri="{FF2B5EF4-FFF2-40B4-BE49-F238E27FC236}">
                <a16:creationId xmlns:a16="http://schemas.microsoft.com/office/drawing/2014/main" id="{F0D101A9-7590-A945-777C-19BFAF56242D}"/>
              </a:ext>
            </a:extLst>
          </p:cNvPr>
          <p:cNvSpPr>
            <a:spLocks noGrp="1"/>
          </p:cNvSpPr>
          <p:nvPr>
            <p:ph type="title"/>
          </p:nvPr>
        </p:nvSpPr>
        <p:spPr/>
        <p:txBody>
          <a:bodyPr/>
          <a:lstStyle/>
          <a:p>
            <a:r>
              <a:rPr lang="en-US" altLang="ko-KR" dirty="0"/>
              <a:t>1.1 </a:t>
            </a:r>
            <a:r>
              <a:rPr lang="ko-KR" altLang="en-US" dirty="0"/>
              <a:t>강화학습 이론 파악</a:t>
            </a:r>
          </a:p>
        </p:txBody>
      </p:sp>
      <p:sp>
        <p:nvSpPr>
          <p:cNvPr id="7" name="텍스트 개체 틀 6">
            <a:extLst>
              <a:ext uri="{FF2B5EF4-FFF2-40B4-BE49-F238E27FC236}">
                <a16:creationId xmlns:a16="http://schemas.microsoft.com/office/drawing/2014/main" id="{F46B2654-D8C7-84EE-066A-AB7BF3D0B537}"/>
              </a:ext>
            </a:extLst>
          </p:cNvPr>
          <p:cNvSpPr>
            <a:spLocks noGrp="1"/>
          </p:cNvSpPr>
          <p:nvPr>
            <p:ph type="body" sz="quarter" idx="12"/>
          </p:nvPr>
        </p:nvSpPr>
        <p:spPr/>
        <p:txBody>
          <a:bodyPr/>
          <a:lstStyle/>
          <a:p>
            <a:r>
              <a:rPr lang="ko-KR" altLang="en-US" dirty="0"/>
              <a:t>강화학습</a:t>
            </a:r>
          </a:p>
        </p:txBody>
      </p:sp>
      <p:sp>
        <p:nvSpPr>
          <p:cNvPr id="13" name="직사각형 12">
            <a:extLst>
              <a:ext uri="{FF2B5EF4-FFF2-40B4-BE49-F238E27FC236}">
                <a16:creationId xmlns:a16="http://schemas.microsoft.com/office/drawing/2014/main" id="{264EF269-E9AD-B049-53EE-A6E8DEBC3765}"/>
              </a:ext>
            </a:extLst>
          </p:cNvPr>
          <p:cNvSpPr/>
          <p:nvPr/>
        </p:nvSpPr>
        <p:spPr bwMode="auto">
          <a:xfrm>
            <a:off x="4732774" y="2682910"/>
            <a:ext cx="177832" cy="746090"/>
          </a:xfrm>
          <a:prstGeom prst="rect">
            <a:avLst/>
          </a:prstGeom>
          <a:solidFill>
            <a:schemeClr val="bg1"/>
          </a:solidFill>
          <a:ln>
            <a:solidFill>
              <a:schemeClr val="bg1"/>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pic>
        <p:nvPicPr>
          <p:cNvPr id="3" name="그림 2">
            <a:extLst>
              <a:ext uri="{FF2B5EF4-FFF2-40B4-BE49-F238E27FC236}">
                <a16:creationId xmlns:a16="http://schemas.microsoft.com/office/drawing/2014/main" id="{92DD5CB5-2064-1A10-B340-6522AF000396}"/>
              </a:ext>
            </a:extLst>
          </p:cNvPr>
          <p:cNvPicPr>
            <a:picLocks noChangeAspect="1"/>
          </p:cNvPicPr>
          <p:nvPr/>
        </p:nvPicPr>
        <p:blipFill>
          <a:blip r:embed="rId4"/>
          <a:stretch>
            <a:fillRect/>
          </a:stretch>
        </p:blipFill>
        <p:spPr>
          <a:xfrm>
            <a:off x="571900" y="1717082"/>
            <a:ext cx="2954651" cy="590930"/>
          </a:xfrm>
          <a:prstGeom prst="rect">
            <a:avLst/>
          </a:prstGeom>
        </p:spPr>
      </p:pic>
      <p:pic>
        <p:nvPicPr>
          <p:cNvPr id="15" name="그림 14">
            <a:extLst>
              <a:ext uri="{FF2B5EF4-FFF2-40B4-BE49-F238E27FC236}">
                <a16:creationId xmlns:a16="http://schemas.microsoft.com/office/drawing/2014/main" id="{C3C999E1-17FE-DD51-396F-AEC88FD243F5}"/>
              </a:ext>
            </a:extLst>
          </p:cNvPr>
          <p:cNvPicPr>
            <a:picLocks noChangeAspect="1"/>
          </p:cNvPicPr>
          <p:nvPr/>
        </p:nvPicPr>
        <p:blipFill>
          <a:blip r:embed="rId5"/>
          <a:stretch>
            <a:fillRect/>
          </a:stretch>
        </p:blipFill>
        <p:spPr>
          <a:xfrm>
            <a:off x="571900" y="3034803"/>
            <a:ext cx="3709851" cy="483593"/>
          </a:xfrm>
          <a:prstGeom prst="rect">
            <a:avLst/>
          </a:prstGeom>
        </p:spPr>
      </p:pic>
      <p:pic>
        <p:nvPicPr>
          <p:cNvPr id="17" name="그림 16">
            <a:extLst>
              <a:ext uri="{FF2B5EF4-FFF2-40B4-BE49-F238E27FC236}">
                <a16:creationId xmlns:a16="http://schemas.microsoft.com/office/drawing/2014/main" id="{C5C3E366-7C87-3B81-6194-8749E3486C59}"/>
              </a:ext>
            </a:extLst>
          </p:cNvPr>
          <p:cNvPicPr>
            <a:picLocks noChangeAspect="1"/>
          </p:cNvPicPr>
          <p:nvPr/>
        </p:nvPicPr>
        <p:blipFill>
          <a:blip r:embed="rId6"/>
          <a:stretch>
            <a:fillRect/>
          </a:stretch>
        </p:blipFill>
        <p:spPr>
          <a:xfrm>
            <a:off x="535666" y="4065274"/>
            <a:ext cx="3557364" cy="451374"/>
          </a:xfrm>
          <a:prstGeom prst="rect">
            <a:avLst/>
          </a:prstGeom>
        </p:spPr>
      </p:pic>
      <p:pic>
        <p:nvPicPr>
          <p:cNvPr id="21" name="그림 20">
            <a:extLst>
              <a:ext uri="{FF2B5EF4-FFF2-40B4-BE49-F238E27FC236}">
                <a16:creationId xmlns:a16="http://schemas.microsoft.com/office/drawing/2014/main" id="{7C19AB52-5A81-4F03-7648-B5623AFA291F}"/>
              </a:ext>
            </a:extLst>
          </p:cNvPr>
          <p:cNvPicPr>
            <a:picLocks noChangeAspect="1"/>
          </p:cNvPicPr>
          <p:nvPr/>
        </p:nvPicPr>
        <p:blipFill>
          <a:blip r:embed="rId7"/>
          <a:stretch>
            <a:fillRect/>
          </a:stretch>
        </p:blipFill>
        <p:spPr>
          <a:xfrm>
            <a:off x="571900" y="4434187"/>
            <a:ext cx="3330870" cy="522602"/>
          </a:xfrm>
          <a:prstGeom prst="rect">
            <a:avLst/>
          </a:prstGeom>
        </p:spPr>
      </p:pic>
      <p:pic>
        <p:nvPicPr>
          <p:cNvPr id="25" name="그림 24">
            <a:extLst>
              <a:ext uri="{FF2B5EF4-FFF2-40B4-BE49-F238E27FC236}">
                <a16:creationId xmlns:a16="http://schemas.microsoft.com/office/drawing/2014/main" id="{C6719444-976F-B5CC-407E-DD4BB4ADE8A2}"/>
              </a:ext>
            </a:extLst>
          </p:cNvPr>
          <p:cNvPicPr>
            <a:picLocks noChangeAspect="1"/>
          </p:cNvPicPr>
          <p:nvPr/>
        </p:nvPicPr>
        <p:blipFill>
          <a:blip r:embed="rId8"/>
          <a:stretch>
            <a:fillRect/>
          </a:stretch>
        </p:blipFill>
        <p:spPr>
          <a:xfrm>
            <a:off x="553083" y="5590006"/>
            <a:ext cx="2845298" cy="417812"/>
          </a:xfrm>
          <a:prstGeom prst="rect">
            <a:avLst/>
          </a:prstGeom>
        </p:spPr>
      </p:pic>
      <p:pic>
        <p:nvPicPr>
          <p:cNvPr id="29" name="그림 28">
            <a:extLst>
              <a:ext uri="{FF2B5EF4-FFF2-40B4-BE49-F238E27FC236}">
                <a16:creationId xmlns:a16="http://schemas.microsoft.com/office/drawing/2014/main" id="{AA5DA636-9068-61C0-C3CC-3DFBE88BA583}"/>
              </a:ext>
            </a:extLst>
          </p:cNvPr>
          <p:cNvPicPr>
            <a:picLocks noChangeAspect="1"/>
          </p:cNvPicPr>
          <p:nvPr/>
        </p:nvPicPr>
        <p:blipFill>
          <a:blip r:embed="rId9"/>
          <a:stretch>
            <a:fillRect/>
          </a:stretch>
        </p:blipFill>
        <p:spPr>
          <a:xfrm>
            <a:off x="535666" y="5928359"/>
            <a:ext cx="3161306" cy="471459"/>
          </a:xfrm>
          <a:prstGeom prst="rect">
            <a:avLst/>
          </a:prstGeom>
        </p:spPr>
      </p:pic>
      <p:sp>
        <p:nvSpPr>
          <p:cNvPr id="30" name="TextBox 29">
            <a:extLst>
              <a:ext uri="{FF2B5EF4-FFF2-40B4-BE49-F238E27FC236}">
                <a16:creationId xmlns:a16="http://schemas.microsoft.com/office/drawing/2014/main" id="{4E005A9B-D08A-2098-9005-B4C492FCF418}"/>
              </a:ext>
            </a:extLst>
          </p:cNvPr>
          <p:cNvSpPr txBox="1"/>
          <p:nvPr/>
        </p:nvSpPr>
        <p:spPr>
          <a:xfrm>
            <a:off x="7889452" y="6293041"/>
            <a:ext cx="1997644" cy="246221"/>
          </a:xfrm>
          <a:prstGeom prst="rect">
            <a:avLst/>
          </a:prstGeom>
          <a:noFill/>
        </p:spPr>
        <p:txBody>
          <a:bodyPr wrap="square" rtlCol="0">
            <a:spAutoFit/>
          </a:bodyPr>
          <a:lstStyle/>
          <a:p>
            <a:r>
              <a:rPr lang="en-US" altLang="ko-KR" sz="1000" dirty="0">
                <a:latin typeface="+mn-ea"/>
                <a:ea typeface="+mn-ea"/>
              </a:rPr>
              <a:t>(Sutton, 2014), 3.7</a:t>
            </a:r>
            <a:r>
              <a:rPr lang="ko-KR" altLang="en-US" sz="1000" dirty="0">
                <a:latin typeface="+mn-ea"/>
                <a:ea typeface="+mn-ea"/>
              </a:rPr>
              <a:t>절 </a:t>
            </a:r>
            <a:r>
              <a:rPr lang="en-US" altLang="ko-KR" sz="1000" dirty="0">
                <a:latin typeface="+mn-ea"/>
                <a:ea typeface="+mn-ea"/>
              </a:rPr>
              <a:t>~ 3.8</a:t>
            </a:r>
            <a:r>
              <a:rPr lang="ko-KR" altLang="en-US" sz="1000" dirty="0">
                <a:latin typeface="+mn-ea"/>
                <a:ea typeface="+mn-ea"/>
              </a:rPr>
              <a:t>절</a:t>
            </a:r>
          </a:p>
        </p:txBody>
      </p:sp>
    </p:spTree>
    <p:extLst>
      <p:ext uri="{BB962C8B-B14F-4D97-AF65-F5344CB8AC3E}">
        <p14:creationId xmlns:p14="http://schemas.microsoft.com/office/powerpoint/2010/main" val="922920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A2F6A-7ADB-CE76-84B6-E54F342A045D}"/>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1D318C76-3F0C-F265-2529-A38BD979E9B5}"/>
              </a:ext>
            </a:extLst>
          </p:cNvPr>
          <p:cNvSpPr>
            <a:spLocks noGrp="1"/>
          </p:cNvSpPr>
          <p:nvPr>
            <p:ph type="body" sz="quarter" idx="10"/>
          </p:nvPr>
        </p:nvSpPr>
        <p:spPr/>
        <p:txBody>
          <a:bodyPr/>
          <a:lstStyle/>
          <a:p>
            <a:pPr marL="0" indent="0">
              <a:buNone/>
            </a:pPr>
            <a:r>
              <a:rPr lang="en-US" altLang="ko-KR" dirty="0"/>
              <a:t>policy evaluation(prediction)</a:t>
            </a:r>
            <a:r>
              <a:rPr lang="ko-KR" altLang="en-US" dirty="0"/>
              <a:t>의 두 방법 </a:t>
            </a:r>
            <a:r>
              <a:rPr lang="en-US" altLang="ko-KR" dirty="0"/>
              <a:t>MC, TD</a:t>
            </a:r>
            <a:endParaRPr lang="ko-KR" altLang="en-US" dirty="0"/>
          </a:p>
        </p:txBody>
      </p:sp>
      <p:sp>
        <p:nvSpPr>
          <p:cNvPr id="4" name="제목 3">
            <a:extLst>
              <a:ext uri="{FF2B5EF4-FFF2-40B4-BE49-F238E27FC236}">
                <a16:creationId xmlns:a16="http://schemas.microsoft.com/office/drawing/2014/main" id="{04A5029C-60E1-2203-E52B-AF77209F7E69}"/>
              </a:ext>
            </a:extLst>
          </p:cNvPr>
          <p:cNvSpPr>
            <a:spLocks noGrp="1"/>
          </p:cNvSpPr>
          <p:nvPr>
            <p:ph type="title"/>
          </p:nvPr>
        </p:nvSpPr>
        <p:spPr/>
        <p:txBody>
          <a:bodyPr/>
          <a:lstStyle/>
          <a:p>
            <a:r>
              <a:rPr lang="en-US" altLang="ko-KR" dirty="0"/>
              <a:t>1.1 </a:t>
            </a:r>
            <a:r>
              <a:rPr lang="ko-KR" altLang="en-US" dirty="0"/>
              <a:t>강화학습 이론 파악</a:t>
            </a:r>
          </a:p>
        </p:txBody>
      </p:sp>
      <p:sp>
        <p:nvSpPr>
          <p:cNvPr id="7" name="텍스트 개체 틀 6">
            <a:extLst>
              <a:ext uri="{FF2B5EF4-FFF2-40B4-BE49-F238E27FC236}">
                <a16:creationId xmlns:a16="http://schemas.microsoft.com/office/drawing/2014/main" id="{48766387-DD36-0318-F8B9-7981D67B9C20}"/>
              </a:ext>
            </a:extLst>
          </p:cNvPr>
          <p:cNvSpPr>
            <a:spLocks noGrp="1"/>
          </p:cNvSpPr>
          <p:nvPr>
            <p:ph type="body" sz="quarter" idx="12"/>
          </p:nvPr>
        </p:nvSpPr>
        <p:spPr/>
        <p:txBody>
          <a:bodyPr/>
          <a:lstStyle/>
          <a:p>
            <a:r>
              <a:rPr lang="ko-KR" altLang="en-US" dirty="0"/>
              <a:t>강화학습</a:t>
            </a:r>
          </a:p>
        </p:txBody>
      </p:sp>
      <p:sp>
        <p:nvSpPr>
          <p:cNvPr id="13" name="직사각형 12">
            <a:extLst>
              <a:ext uri="{FF2B5EF4-FFF2-40B4-BE49-F238E27FC236}">
                <a16:creationId xmlns:a16="http://schemas.microsoft.com/office/drawing/2014/main" id="{2D5FFFF7-0B69-1376-D822-6CDFB13605BD}"/>
              </a:ext>
            </a:extLst>
          </p:cNvPr>
          <p:cNvSpPr/>
          <p:nvPr/>
        </p:nvSpPr>
        <p:spPr bwMode="auto">
          <a:xfrm>
            <a:off x="4732774" y="2682910"/>
            <a:ext cx="177832" cy="746090"/>
          </a:xfrm>
          <a:prstGeom prst="rect">
            <a:avLst/>
          </a:prstGeom>
          <a:solidFill>
            <a:schemeClr val="bg1"/>
          </a:solidFill>
          <a:ln>
            <a:solidFill>
              <a:schemeClr val="bg1"/>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sp>
        <p:nvSpPr>
          <p:cNvPr id="14" name="직사각형 13">
            <a:extLst>
              <a:ext uri="{FF2B5EF4-FFF2-40B4-BE49-F238E27FC236}">
                <a16:creationId xmlns:a16="http://schemas.microsoft.com/office/drawing/2014/main" id="{7A06AB70-8382-FD08-2FC5-8AE5EA04664A}"/>
              </a:ext>
            </a:extLst>
          </p:cNvPr>
          <p:cNvSpPr/>
          <p:nvPr/>
        </p:nvSpPr>
        <p:spPr bwMode="auto">
          <a:xfrm>
            <a:off x="9466531" y="2682910"/>
            <a:ext cx="177832" cy="746090"/>
          </a:xfrm>
          <a:prstGeom prst="rect">
            <a:avLst/>
          </a:prstGeom>
          <a:solidFill>
            <a:schemeClr val="bg1"/>
          </a:solidFill>
          <a:ln>
            <a:solidFill>
              <a:schemeClr val="bg1"/>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pic>
        <p:nvPicPr>
          <p:cNvPr id="8" name="그림 7">
            <a:extLst>
              <a:ext uri="{FF2B5EF4-FFF2-40B4-BE49-F238E27FC236}">
                <a16:creationId xmlns:a16="http://schemas.microsoft.com/office/drawing/2014/main" id="{19978C9C-DB72-9683-5114-C0297AEA55B7}"/>
              </a:ext>
            </a:extLst>
          </p:cNvPr>
          <p:cNvPicPr>
            <a:picLocks noChangeAspect="1"/>
          </p:cNvPicPr>
          <p:nvPr/>
        </p:nvPicPr>
        <p:blipFill>
          <a:blip r:embed="rId3"/>
          <a:stretch>
            <a:fillRect/>
          </a:stretch>
        </p:blipFill>
        <p:spPr>
          <a:xfrm>
            <a:off x="1286480" y="2282040"/>
            <a:ext cx="2414664" cy="452750"/>
          </a:xfrm>
          <a:prstGeom prst="rect">
            <a:avLst/>
          </a:prstGeom>
        </p:spPr>
      </p:pic>
      <p:pic>
        <p:nvPicPr>
          <p:cNvPr id="10" name="그림 9">
            <a:extLst>
              <a:ext uri="{FF2B5EF4-FFF2-40B4-BE49-F238E27FC236}">
                <a16:creationId xmlns:a16="http://schemas.microsoft.com/office/drawing/2014/main" id="{807F06A8-31A3-4BCF-A753-25B5A9BE93DA}"/>
              </a:ext>
            </a:extLst>
          </p:cNvPr>
          <p:cNvPicPr>
            <a:picLocks noChangeAspect="1"/>
          </p:cNvPicPr>
          <p:nvPr/>
        </p:nvPicPr>
        <p:blipFill>
          <a:blip r:embed="rId4"/>
          <a:stretch>
            <a:fillRect/>
          </a:stretch>
        </p:blipFill>
        <p:spPr>
          <a:xfrm>
            <a:off x="1286480" y="3841956"/>
            <a:ext cx="2989282" cy="300233"/>
          </a:xfrm>
          <a:prstGeom prst="rect">
            <a:avLst/>
          </a:prstGeom>
        </p:spPr>
      </p:pic>
      <mc:AlternateContent xmlns:mc="http://schemas.openxmlformats.org/markup-compatibility/2006" xmlns:a14="http://schemas.microsoft.com/office/drawing/2010/main">
        <mc:Choice Requires="a14">
          <p:sp>
            <p:nvSpPr>
              <p:cNvPr id="15" name="텍스트 개체 틀 5">
                <a:extLst>
                  <a:ext uri="{FF2B5EF4-FFF2-40B4-BE49-F238E27FC236}">
                    <a16:creationId xmlns:a16="http://schemas.microsoft.com/office/drawing/2014/main" id="{4350828E-4EB2-A764-E7A6-AD09F3BD70BD}"/>
                  </a:ext>
                </a:extLst>
              </p:cNvPr>
              <p:cNvSpPr>
                <a:spLocks noGrp="1"/>
              </p:cNvSpPr>
              <p:nvPr>
                <p:ph type="body" sz="quarter" idx="11"/>
              </p:nvPr>
            </p:nvSpPr>
            <p:spPr>
              <a:xfrm>
                <a:off x="200471" y="1174874"/>
                <a:ext cx="5619303" cy="1198849"/>
              </a:xfrm>
            </p:spPr>
            <p:txBody>
              <a:bodyPr/>
              <a:lstStyle/>
              <a:p>
                <a:pPr marL="180000" indent="-180000">
                  <a:buFont typeface="Arial" panose="020B0604020202020204" pitchFamily="34" charset="0"/>
                  <a:buChar char="•"/>
                </a:pPr>
                <a:r>
                  <a:rPr lang="en-US" altLang="ko-KR" dirty="0">
                    <a:latin typeface="+mn-ea"/>
                  </a:rPr>
                  <a:t>Monte Carlo (constant-</a:t>
                </a:r>
                <a14:m>
                  <m:oMath xmlns:m="http://schemas.openxmlformats.org/officeDocument/2006/math">
                    <m:r>
                      <a:rPr lang="en-US" altLang="ko-KR" b="0" i="1" smtClean="0">
                        <a:latin typeface="Cambria Math" panose="02040503050406030204" pitchFamily="18" charset="0"/>
                      </a:rPr>
                      <m:t>𝛼</m:t>
                    </m:r>
                  </m:oMath>
                </a14:m>
                <a:r>
                  <a:rPr lang="en-US" altLang="ko-KR" dirty="0">
                    <a:latin typeface="+mn-ea"/>
                  </a:rPr>
                  <a:t> MC)</a:t>
                </a:r>
              </a:p>
              <a:p>
                <a:pPr marL="180000" lvl="1" indent="180000">
                  <a:buFont typeface="Arial" panose="020B0604020202020204" pitchFamily="34" charset="0"/>
                  <a:buChar char="•"/>
                </a:pPr>
                <a:r>
                  <a:rPr lang="ko-KR" altLang="en-US" sz="1100" dirty="0">
                    <a:latin typeface="+mn-ea"/>
                  </a:rPr>
                  <a:t>하나의 </a:t>
                </a:r>
                <a:r>
                  <a:rPr lang="en-US" altLang="ko-KR" sz="1100" dirty="0">
                    <a:latin typeface="+mn-ea"/>
                  </a:rPr>
                  <a:t>episode</a:t>
                </a:r>
                <a:r>
                  <a:rPr lang="ko-KR" altLang="en-US" sz="1100" dirty="0">
                    <a:latin typeface="+mn-ea"/>
                  </a:rPr>
                  <a:t>가 끝난 후에 그 </a:t>
                </a:r>
                <a:r>
                  <a:rPr lang="en-US" altLang="ko-KR" sz="1100" dirty="0">
                    <a:latin typeface="+mn-ea"/>
                  </a:rPr>
                  <a:t>return</a:t>
                </a:r>
                <a:r>
                  <a:rPr lang="ko-KR" altLang="en-US" sz="1100" dirty="0">
                    <a:latin typeface="+mn-ea"/>
                  </a:rPr>
                  <a:t>을 바탕으로 가치함수를 업데이트한다</a:t>
                </a:r>
                <a:r>
                  <a:rPr lang="en-US" altLang="ko-KR" sz="1100" dirty="0">
                    <a:latin typeface="+mn-ea"/>
                  </a:rPr>
                  <a:t>.</a:t>
                </a:r>
              </a:p>
              <a:p>
                <a:pPr marL="180000" lvl="1" indent="180000">
                  <a:buFont typeface="Arial" panose="020B0604020202020204" pitchFamily="34" charset="0"/>
                  <a:buChar char="•"/>
                </a:pPr>
                <a:r>
                  <a:rPr lang="ko-KR" altLang="en-US" sz="1100" dirty="0"/>
                  <a:t>전체 학습 속도가 느리고</a:t>
                </a:r>
                <a:r>
                  <a:rPr lang="en-US" altLang="ko-KR" sz="1100" dirty="0"/>
                  <a:t>, </a:t>
                </a:r>
                <a:r>
                  <a:rPr lang="ko-KR" altLang="en-US" sz="1100" dirty="0"/>
                  <a:t>초기학습상황이 처음 </a:t>
                </a:r>
                <a:r>
                  <a:rPr lang="en-US" altLang="ko-KR" sz="1100" dirty="0"/>
                  <a:t>episode</a:t>
                </a:r>
                <a:r>
                  <a:rPr lang="ko-KR" altLang="en-US" sz="1100" dirty="0"/>
                  <a:t>들에 의존하게 된다</a:t>
                </a:r>
                <a:r>
                  <a:rPr lang="en-US" altLang="ko-KR" sz="1100" dirty="0"/>
                  <a:t>.</a:t>
                </a:r>
              </a:p>
              <a:p>
                <a:pPr marL="180000" lvl="1" indent="180000">
                  <a:buFont typeface="Arial" panose="020B0604020202020204" pitchFamily="34" charset="0"/>
                  <a:buChar char="•"/>
                </a:pPr>
                <a:r>
                  <a:rPr lang="ko-KR" altLang="en-US" sz="1100" dirty="0"/>
                  <a:t>가치함수의 수렴성이 안정적으로 보장된다</a:t>
                </a:r>
                <a:r>
                  <a:rPr lang="en-US" altLang="ko-KR" sz="1100" dirty="0"/>
                  <a:t>.</a:t>
                </a:r>
              </a:p>
              <a:p>
                <a:pPr marL="180000" lvl="1" indent="180000">
                  <a:buFont typeface="Arial" panose="020B0604020202020204" pitchFamily="34" charset="0"/>
                  <a:buChar char="•"/>
                </a:pPr>
                <a:r>
                  <a:rPr lang="ko-KR" altLang="en-US" sz="1100" dirty="0"/>
                  <a:t>편향되지 않은 추정치를 제공한다 </a:t>
                </a:r>
                <a:r>
                  <a:rPr lang="en-US" altLang="ko-KR" sz="1100" dirty="0"/>
                  <a:t>(unbiased)</a:t>
                </a:r>
              </a:p>
              <a:p>
                <a:pPr marL="180000" lvl="1" indent="180000">
                  <a:buFont typeface="Arial" panose="020B0604020202020204" pitchFamily="34" charset="0"/>
                  <a:buChar char="•"/>
                </a:pPr>
                <a:endParaRPr lang="en-US" altLang="ko-KR" sz="1100" dirty="0">
                  <a:latin typeface="+mn-ea"/>
                </a:endParaRPr>
              </a:p>
            </p:txBody>
          </p:sp>
        </mc:Choice>
        <mc:Fallback xmlns="">
          <p:sp>
            <p:nvSpPr>
              <p:cNvPr id="15" name="텍스트 개체 틀 5">
                <a:extLst>
                  <a:ext uri="{FF2B5EF4-FFF2-40B4-BE49-F238E27FC236}">
                    <a16:creationId xmlns:a16="http://schemas.microsoft.com/office/drawing/2014/main" id="{4350828E-4EB2-A764-E7A6-AD09F3BD70BD}"/>
                  </a:ext>
                </a:extLst>
              </p:cNvPr>
              <p:cNvSpPr>
                <a:spLocks noGrp="1" noRot="1" noChangeAspect="1" noMove="1" noResize="1" noEditPoints="1" noAdjustHandles="1" noChangeArrowheads="1" noChangeShapeType="1" noTextEdit="1"/>
              </p:cNvSpPr>
              <p:nvPr>
                <p:ph type="body" sz="quarter" idx="11"/>
              </p:nvPr>
            </p:nvSpPr>
            <p:spPr>
              <a:xfrm>
                <a:off x="200471" y="1174874"/>
                <a:ext cx="5619303" cy="1198849"/>
              </a:xfrm>
              <a:blipFill>
                <a:blip r:embed="rId5"/>
                <a:stretch>
                  <a:fillRect l="-542" t="-2041"/>
                </a:stretch>
              </a:blipFill>
            </p:spPr>
            <p:txBody>
              <a:bodyPr/>
              <a:lstStyle/>
              <a:p>
                <a:r>
                  <a:rPr lang="ko-KR" altLang="en-US">
                    <a:noFill/>
                  </a:rPr>
                  <a:t> </a:t>
                </a:r>
              </a:p>
            </p:txBody>
          </p:sp>
        </mc:Fallback>
      </mc:AlternateContent>
      <p:sp>
        <p:nvSpPr>
          <p:cNvPr id="16" name="TextBox 15">
            <a:extLst>
              <a:ext uri="{FF2B5EF4-FFF2-40B4-BE49-F238E27FC236}">
                <a16:creationId xmlns:a16="http://schemas.microsoft.com/office/drawing/2014/main" id="{FD1A82EE-C708-68D6-F23D-4F35D4A33535}"/>
              </a:ext>
            </a:extLst>
          </p:cNvPr>
          <p:cNvSpPr txBox="1"/>
          <p:nvPr/>
        </p:nvSpPr>
        <p:spPr>
          <a:xfrm>
            <a:off x="7966330" y="6185169"/>
            <a:ext cx="1500201" cy="246221"/>
          </a:xfrm>
          <a:prstGeom prst="rect">
            <a:avLst/>
          </a:prstGeom>
          <a:noFill/>
        </p:spPr>
        <p:txBody>
          <a:bodyPr wrap="square" rtlCol="0">
            <a:spAutoFit/>
          </a:bodyPr>
          <a:lstStyle/>
          <a:p>
            <a:r>
              <a:rPr lang="en-US" altLang="ko-KR" sz="1000" dirty="0">
                <a:latin typeface="+mn-ea"/>
                <a:ea typeface="+mn-ea"/>
              </a:rPr>
              <a:t>(Sutton, 2014), 6.1</a:t>
            </a:r>
            <a:r>
              <a:rPr lang="ko-KR" altLang="en-US" sz="1000" dirty="0">
                <a:latin typeface="+mn-ea"/>
                <a:ea typeface="+mn-ea"/>
              </a:rPr>
              <a:t>절</a:t>
            </a:r>
          </a:p>
        </p:txBody>
      </p:sp>
      <p:sp>
        <p:nvSpPr>
          <p:cNvPr id="17" name="텍스트 개체 틀 5">
            <a:extLst>
              <a:ext uri="{FF2B5EF4-FFF2-40B4-BE49-F238E27FC236}">
                <a16:creationId xmlns:a16="http://schemas.microsoft.com/office/drawing/2014/main" id="{6CEF9BE0-C465-F638-F77F-B4536C1A7A7A}"/>
              </a:ext>
            </a:extLst>
          </p:cNvPr>
          <p:cNvSpPr txBox="1">
            <a:spLocks/>
          </p:cNvSpPr>
          <p:nvPr/>
        </p:nvSpPr>
        <p:spPr>
          <a:xfrm>
            <a:off x="200470" y="2918775"/>
            <a:ext cx="5619303" cy="897766"/>
          </a:xfrm>
          <a:prstGeom prst="rect">
            <a:avLst/>
          </a:prstGeom>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80000" indent="-180000">
              <a:buFont typeface="Arial" panose="020B0604020202020204" pitchFamily="34" charset="0"/>
              <a:buChar char="•"/>
            </a:pPr>
            <a:r>
              <a:rPr kumimoji="0" lang="en-US" altLang="ko-KR" b="0" dirty="0">
                <a:latin typeface="+mn-ea"/>
              </a:rPr>
              <a:t>Temporal</a:t>
            </a:r>
            <a:r>
              <a:rPr kumimoji="0" lang="ko-KR" altLang="en-US" b="0" dirty="0">
                <a:latin typeface="+mn-ea"/>
              </a:rPr>
              <a:t> </a:t>
            </a:r>
            <a:r>
              <a:rPr kumimoji="0" lang="en-US" altLang="ko-KR" b="0" dirty="0">
                <a:latin typeface="+mn-ea"/>
              </a:rPr>
              <a:t>Difference (TD(0))</a:t>
            </a:r>
          </a:p>
          <a:p>
            <a:pPr marL="180000" lvl="1" indent="180000">
              <a:buFont typeface="Arial" panose="020B0604020202020204" pitchFamily="34" charset="0"/>
              <a:buChar char="•"/>
            </a:pPr>
            <a:r>
              <a:rPr kumimoji="0" lang="ko-KR" altLang="en-US" sz="1100" b="0" dirty="0">
                <a:latin typeface="+mn-ea"/>
              </a:rPr>
              <a:t>매 </a:t>
            </a:r>
            <a:r>
              <a:rPr kumimoji="0" lang="en-US" altLang="ko-KR" sz="1100" b="0" dirty="0">
                <a:latin typeface="+mn-ea"/>
              </a:rPr>
              <a:t>step</a:t>
            </a:r>
            <a:r>
              <a:rPr kumimoji="0" lang="ko-KR" altLang="en-US" sz="1100" b="0" dirty="0">
                <a:latin typeface="+mn-ea"/>
              </a:rPr>
              <a:t>마다 가치함수를 업데이트한다</a:t>
            </a:r>
            <a:r>
              <a:rPr kumimoji="0" lang="en-US" altLang="ko-KR" sz="1100" b="0" dirty="0">
                <a:latin typeface="+mn-ea"/>
              </a:rPr>
              <a:t>. (online)</a:t>
            </a:r>
          </a:p>
          <a:p>
            <a:pPr marL="180000" lvl="1" indent="180000">
              <a:buFont typeface="Arial" panose="020B0604020202020204" pitchFamily="34" charset="0"/>
              <a:buChar char="•"/>
            </a:pPr>
            <a:r>
              <a:rPr kumimoji="0" lang="ko-KR" altLang="en-US" sz="1100" b="0" dirty="0"/>
              <a:t>추정치로 추정치를 업데이트한다</a:t>
            </a:r>
            <a:r>
              <a:rPr kumimoji="0" lang="en-US" altLang="ko-KR" sz="1100" b="0" dirty="0"/>
              <a:t>.</a:t>
            </a:r>
            <a:r>
              <a:rPr kumimoji="0" lang="ko-KR" altLang="en-US" sz="1100" b="0" dirty="0"/>
              <a:t> </a:t>
            </a:r>
            <a:r>
              <a:rPr kumimoji="0" lang="en-US" altLang="ko-KR" sz="1100" b="0" dirty="0"/>
              <a:t>(</a:t>
            </a:r>
            <a:r>
              <a:rPr kumimoji="0" lang="en-US" altLang="ko-KR" sz="1100" b="0" dirty="0" err="1"/>
              <a:t>boostrapping</a:t>
            </a:r>
            <a:r>
              <a:rPr kumimoji="0" lang="en-US" altLang="ko-KR" sz="1100" b="0" dirty="0"/>
              <a:t>)</a:t>
            </a:r>
          </a:p>
          <a:p>
            <a:pPr marL="180000" lvl="1" indent="180000">
              <a:buFont typeface="Arial" panose="020B0604020202020204" pitchFamily="34" charset="0"/>
              <a:buChar char="•"/>
            </a:pPr>
            <a:r>
              <a:rPr kumimoji="0" lang="ko-KR" altLang="en-US" sz="1100" b="0" dirty="0"/>
              <a:t>수렴속도는 빠르다</a:t>
            </a:r>
            <a:r>
              <a:rPr kumimoji="0" lang="en-US" altLang="ko-KR" sz="1100" b="0" dirty="0"/>
              <a:t>.</a:t>
            </a:r>
            <a:endParaRPr kumimoji="0" lang="en-US" altLang="ko-KR" sz="1100" b="0" dirty="0">
              <a:latin typeface="+mn-ea"/>
            </a:endParaRPr>
          </a:p>
        </p:txBody>
      </p:sp>
      <p:sp>
        <p:nvSpPr>
          <p:cNvPr id="19" name="텍스트 개체 틀 5">
            <a:extLst>
              <a:ext uri="{FF2B5EF4-FFF2-40B4-BE49-F238E27FC236}">
                <a16:creationId xmlns:a16="http://schemas.microsoft.com/office/drawing/2014/main" id="{735FD617-E42A-0EC0-2872-98BA0B2CB430}"/>
              </a:ext>
            </a:extLst>
          </p:cNvPr>
          <p:cNvSpPr txBox="1">
            <a:spLocks/>
          </p:cNvSpPr>
          <p:nvPr/>
        </p:nvSpPr>
        <p:spPr>
          <a:xfrm>
            <a:off x="200470" y="4271113"/>
            <a:ext cx="1019547" cy="357620"/>
          </a:xfrm>
          <a:prstGeom prst="rect">
            <a:avLst/>
          </a:prstGeom>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80000" indent="-180000">
              <a:buFont typeface="Arial" panose="020B0604020202020204" pitchFamily="34" charset="0"/>
              <a:buChar char="•"/>
            </a:pPr>
            <a:r>
              <a:rPr kumimoji="0" lang="ko-KR" altLang="en-US" b="0" dirty="0">
                <a:latin typeface="+mn-ea"/>
              </a:rPr>
              <a:t>관련 식</a:t>
            </a:r>
            <a:endParaRPr kumimoji="0" lang="en-US" altLang="ko-KR" sz="1100" b="0" dirty="0">
              <a:latin typeface="+mn-ea"/>
            </a:endParaRPr>
          </a:p>
        </p:txBody>
      </p:sp>
      <p:pic>
        <p:nvPicPr>
          <p:cNvPr id="21" name="그림 20">
            <a:extLst>
              <a:ext uri="{FF2B5EF4-FFF2-40B4-BE49-F238E27FC236}">
                <a16:creationId xmlns:a16="http://schemas.microsoft.com/office/drawing/2014/main" id="{EA08558B-101C-DBE3-F5D6-1FB1FFA4B5B0}"/>
              </a:ext>
            </a:extLst>
          </p:cNvPr>
          <p:cNvPicPr>
            <a:picLocks noChangeAspect="1"/>
          </p:cNvPicPr>
          <p:nvPr/>
        </p:nvPicPr>
        <p:blipFill>
          <a:blip r:embed="rId6"/>
          <a:stretch>
            <a:fillRect/>
          </a:stretch>
        </p:blipFill>
        <p:spPr>
          <a:xfrm>
            <a:off x="443271" y="4571848"/>
            <a:ext cx="4354393" cy="1439553"/>
          </a:xfrm>
          <a:prstGeom prst="rect">
            <a:avLst/>
          </a:prstGeom>
        </p:spPr>
      </p:pic>
      <p:pic>
        <p:nvPicPr>
          <p:cNvPr id="23" name="그림 22">
            <a:extLst>
              <a:ext uri="{FF2B5EF4-FFF2-40B4-BE49-F238E27FC236}">
                <a16:creationId xmlns:a16="http://schemas.microsoft.com/office/drawing/2014/main" id="{79C8309E-86D1-8994-CEE2-1AC02A707924}"/>
              </a:ext>
            </a:extLst>
          </p:cNvPr>
          <p:cNvPicPr>
            <a:picLocks noChangeAspect="1"/>
          </p:cNvPicPr>
          <p:nvPr/>
        </p:nvPicPr>
        <p:blipFill>
          <a:blip r:embed="rId7"/>
          <a:stretch>
            <a:fillRect/>
          </a:stretch>
        </p:blipFill>
        <p:spPr>
          <a:xfrm>
            <a:off x="6822997" y="1225335"/>
            <a:ext cx="1764980" cy="1350362"/>
          </a:xfrm>
          <a:prstGeom prst="rect">
            <a:avLst/>
          </a:prstGeom>
        </p:spPr>
      </p:pic>
      <p:pic>
        <p:nvPicPr>
          <p:cNvPr id="25" name="그림 24">
            <a:extLst>
              <a:ext uri="{FF2B5EF4-FFF2-40B4-BE49-F238E27FC236}">
                <a16:creationId xmlns:a16="http://schemas.microsoft.com/office/drawing/2014/main" id="{60EBCD36-595F-9813-5CA6-FEBAC44054A2}"/>
              </a:ext>
            </a:extLst>
          </p:cNvPr>
          <p:cNvPicPr>
            <a:picLocks noChangeAspect="1"/>
          </p:cNvPicPr>
          <p:nvPr/>
        </p:nvPicPr>
        <p:blipFill>
          <a:blip r:embed="rId8"/>
          <a:stretch>
            <a:fillRect/>
          </a:stretch>
        </p:blipFill>
        <p:spPr>
          <a:xfrm>
            <a:off x="6665815" y="2798496"/>
            <a:ext cx="1953705" cy="1394328"/>
          </a:xfrm>
          <a:prstGeom prst="rect">
            <a:avLst/>
          </a:prstGeom>
        </p:spPr>
      </p:pic>
      <p:sp>
        <p:nvSpPr>
          <p:cNvPr id="27" name="사각형: 둥근 모서리 26">
            <a:extLst>
              <a:ext uri="{FF2B5EF4-FFF2-40B4-BE49-F238E27FC236}">
                <a16:creationId xmlns:a16="http://schemas.microsoft.com/office/drawing/2014/main" id="{624BEA09-7981-CF4B-34A7-D2E8E79E880F}"/>
              </a:ext>
            </a:extLst>
          </p:cNvPr>
          <p:cNvSpPr/>
          <p:nvPr/>
        </p:nvSpPr>
        <p:spPr bwMode="auto">
          <a:xfrm>
            <a:off x="2620466" y="3853402"/>
            <a:ext cx="1080677" cy="277340"/>
          </a:xfrm>
          <a:prstGeom prst="roundRect">
            <a:avLst/>
          </a:prstGeom>
          <a:noFill/>
          <a:ln w="6350">
            <a:solidFill>
              <a:srgbClr val="92D050"/>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sp>
        <p:nvSpPr>
          <p:cNvPr id="28" name="사각형: 둥근 모서리 27">
            <a:extLst>
              <a:ext uri="{FF2B5EF4-FFF2-40B4-BE49-F238E27FC236}">
                <a16:creationId xmlns:a16="http://schemas.microsoft.com/office/drawing/2014/main" id="{F8E36548-DF17-05E3-2DA5-3D6C384466D3}"/>
              </a:ext>
            </a:extLst>
          </p:cNvPr>
          <p:cNvSpPr/>
          <p:nvPr/>
        </p:nvSpPr>
        <p:spPr bwMode="auto">
          <a:xfrm>
            <a:off x="2819401" y="2379025"/>
            <a:ext cx="222250" cy="277340"/>
          </a:xfrm>
          <a:prstGeom prst="roundRect">
            <a:avLst/>
          </a:prstGeom>
          <a:noFill/>
          <a:ln w="6350">
            <a:solidFill>
              <a:srgbClr val="92D050"/>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pic>
        <p:nvPicPr>
          <p:cNvPr id="30" name="그림 29">
            <a:extLst>
              <a:ext uri="{FF2B5EF4-FFF2-40B4-BE49-F238E27FC236}">
                <a16:creationId xmlns:a16="http://schemas.microsoft.com/office/drawing/2014/main" id="{2FDC5029-68B1-3701-018B-B11BB6CE64A5}"/>
              </a:ext>
            </a:extLst>
          </p:cNvPr>
          <p:cNvPicPr>
            <a:picLocks noChangeAspect="1"/>
          </p:cNvPicPr>
          <p:nvPr/>
        </p:nvPicPr>
        <p:blipFill>
          <a:blip r:embed="rId9"/>
          <a:stretch>
            <a:fillRect/>
          </a:stretch>
        </p:blipFill>
        <p:spPr>
          <a:xfrm>
            <a:off x="6665815" y="4589081"/>
            <a:ext cx="1831390" cy="1300396"/>
          </a:xfrm>
          <a:prstGeom prst="rect">
            <a:avLst/>
          </a:prstGeom>
        </p:spPr>
      </p:pic>
    </p:spTree>
    <p:extLst>
      <p:ext uri="{BB962C8B-B14F-4D97-AF65-F5344CB8AC3E}">
        <p14:creationId xmlns:p14="http://schemas.microsoft.com/office/powerpoint/2010/main" val="2705130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801A5-A5CD-5C5F-21B5-BDD1B5AA401E}"/>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9CF47008-0F1B-B288-EAB8-D21618914DF2}"/>
              </a:ext>
            </a:extLst>
          </p:cNvPr>
          <p:cNvSpPr>
            <a:spLocks noGrp="1"/>
          </p:cNvSpPr>
          <p:nvPr>
            <p:ph type="body" sz="quarter" idx="10"/>
          </p:nvPr>
        </p:nvSpPr>
        <p:spPr/>
        <p:txBody>
          <a:bodyPr/>
          <a:lstStyle/>
          <a:p>
            <a:pPr marL="0" indent="0">
              <a:buNone/>
            </a:pPr>
            <a:r>
              <a:rPr lang="en-US" altLang="ko-KR" dirty="0"/>
              <a:t>SARSA</a:t>
            </a:r>
            <a:r>
              <a:rPr lang="ko-KR" altLang="en-US" dirty="0"/>
              <a:t>와 </a:t>
            </a:r>
            <a:r>
              <a:rPr lang="en-US" altLang="ko-KR" dirty="0"/>
              <a:t>Q-Learning</a:t>
            </a:r>
            <a:endParaRPr lang="ko-KR" altLang="en-US" dirty="0"/>
          </a:p>
        </p:txBody>
      </p:sp>
      <p:sp>
        <p:nvSpPr>
          <p:cNvPr id="4" name="제목 3">
            <a:extLst>
              <a:ext uri="{FF2B5EF4-FFF2-40B4-BE49-F238E27FC236}">
                <a16:creationId xmlns:a16="http://schemas.microsoft.com/office/drawing/2014/main" id="{F417378C-78AF-DD11-7AD1-CEA8F268660C}"/>
              </a:ext>
            </a:extLst>
          </p:cNvPr>
          <p:cNvSpPr>
            <a:spLocks noGrp="1"/>
          </p:cNvSpPr>
          <p:nvPr>
            <p:ph type="title"/>
          </p:nvPr>
        </p:nvSpPr>
        <p:spPr/>
        <p:txBody>
          <a:bodyPr/>
          <a:lstStyle/>
          <a:p>
            <a:r>
              <a:rPr lang="en-US" altLang="ko-KR" dirty="0"/>
              <a:t>1.1 </a:t>
            </a:r>
            <a:r>
              <a:rPr lang="ko-KR" altLang="en-US" dirty="0"/>
              <a:t>강화학습 이론 파악</a:t>
            </a:r>
          </a:p>
        </p:txBody>
      </p:sp>
      <p:sp>
        <p:nvSpPr>
          <p:cNvPr id="7" name="텍스트 개체 틀 6">
            <a:extLst>
              <a:ext uri="{FF2B5EF4-FFF2-40B4-BE49-F238E27FC236}">
                <a16:creationId xmlns:a16="http://schemas.microsoft.com/office/drawing/2014/main" id="{EDD5BE1B-2FE0-EAEF-CF83-B7C2DC91DFEB}"/>
              </a:ext>
            </a:extLst>
          </p:cNvPr>
          <p:cNvSpPr>
            <a:spLocks noGrp="1"/>
          </p:cNvSpPr>
          <p:nvPr>
            <p:ph type="body" sz="quarter" idx="12"/>
          </p:nvPr>
        </p:nvSpPr>
        <p:spPr/>
        <p:txBody>
          <a:bodyPr/>
          <a:lstStyle/>
          <a:p>
            <a:r>
              <a:rPr lang="ko-KR" altLang="en-US" dirty="0"/>
              <a:t>강화학습</a:t>
            </a:r>
          </a:p>
        </p:txBody>
      </p:sp>
      <p:sp>
        <p:nvSpPr>
          <p:cNvPr id="13" name="직사각형 12">
            <a:extLst>
              <a:ext uri="{FF2B5EF4-FFF2-40B4-BE49-F238E27FC236}">
                <a16:creationId xmlns:a16="http://schemas.microsoft.com/office/drawing/2014/main" id="{F8A0AC2F-D74F-D66A-DFDF-9DA83166FE72}"/>
              </a:ext>
            </a:extLst>
          </p:cNvPr>
          <p:cNvSpPr/>
          <p:nvPr/>
        </p:nvSpPr>
        <p:spPr bwMode="auto">
          <a:xfrm>
            <a:off x="4732774" y="2682910"/>
            <a:ext cx="177832" cy="746090"/>
          </a:xfrm>
          <a:prstGeom prst="rect">
            <a:avLst/>
          </a:prstGeom>
          <a:solidFill>
            <a:schemeClr val="bg1"/>
          </a:solidFill>
          <a:ln>
            <a:solidFill>
              <a:schemeClr val="bg1"/>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sp>
        <p:nvSpPr>
          <p:cNvPr id="14" name="직사각형 13">
            <a:extLst>
              <a:ext uri="{FF2B5EF4-FFF2-40B4-BE49-F238E27FC236}">
                <a16:creationId xmlns:a16="http://schemas.microsoft.com/office/drawing/2014/main" id="{848ACE26-4732-8651-814A-2D6E640688B0}"/>
              </a:ext>
            </a:extLst>
          </p:cNvPr>
          <p:cNvSpPr/>
          <p:nvPr/>
        </p:nvSpPr>
        <p:spPr bwMode="auto">
          <a:xfrm>
            <a:off x="9466531" y="2682910"/>
            <a:ext cx="177832" cy="746090"/>
          </a:xfrm>
          <a:prstGeom prst="rect">
            <a:avLst/>
          </a:prstGeom>
          <a:solidFill>
            <a:schemeClr val="bg1"/>
          </a:solidFill>
          <a:ln>
            <a:solidFill>
              <a:schemeClr val="bg1"/>
            </a:solidFill>
          </a:ln>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defTabSz="911896"/>
            <a:endParaRPr lang="ko-KR" altLang="en-US" dirty="0">
              <a:solidFill>
                <a:prstClr val="white"/>
              </a:solidFill>
              <a:latin typeface="맑은 고딕" panose="020B0503020000020004" pitchFamily="50" charset="-127"/>
              <a:ea typeface="맑은 고딕" panose="020B0503020000020004" pitchFamily="50" charset="-127"/>
            </a:endParaRPr>
          </a:p>
        </p:txBody>
      </p:sp>
      <p:sp>
        <p:nvSpPr>
          <p:cNvPr id="15" name="텍스트 개체 틀 5">
            <a:extLst>
              <a:ext uri="{FF2B5EF4-FFF2-40B4-BE49-F238E27FC236}">
                <a16:creationId xmlns:a16="http://schemas.microsoft.com/office/drawing/2014/main" id="{B0C87CF7-08F4-433E-B0EF-049A07928F75}"/>
              </a:ext>
            </a:extLst>
          </p:cNvPr>
          <p:cNvSpPr>
            <a:spLocks noGrp="1"/>
          </p:cNvSpPr>
          <p:nvPr>
            <p:ph type="body" sz="quarter" idx="11"/>
          </p:nvPr>
        </p:nvSpPr>
        <p:spPr>
          <a:xfrm>
            <a:off x="200471" y="1174874"/>
            <a:ext cx="6033061" cy="2349830"/>
          </a:xfrm>
        </p:spPr>
        <p:txBody>
          <a:bodyPr/>
          <a:lstStyle/>
          <a:p>
            <a:pPr marL="180000" indent="-180000">
              <a:buFont typeface="Arial" panose="020B0604020202020204" pitchFamily="34" charset="0"/>
              <a:buChar char="•"/>
            </a:pPr>
            <a:r>
              <a:rPr lang="en-US" altLang="ko-KR" dirty="0">
                <a:latin typeface="+mn-ea"/>
              </a:rPr>
              <a:t>SARSA</a:t>
            </a:r>
          </a:p>
          <a:p>
            <a:pPr marL="180000" lvl="1" indent="180000">
              <a:buFont typeface="Arial" panose="020B0604020202020204" pitchFamily="34" charset="0"/>
              <a:buChar char="•"/>
            </a:pPr>
            <a:r>
              <a:rPr lang="en-US" altLang="ko-KR" sz="1100" dirty="0">
                <a:latin typeface="+mn-ea"/>
              </a:rPr>
              <a:t>on-policy TD method</a:t>
            </a:r>
          </a:p>
          <a:p>
            <a:pPr marL="180000" lvl="1" indent="180000">
              <a:buFont typeface="Arial" panose="020B0604020202020204" pitchFamily="34" charset="0"/>
              <a:buChar char="•"/>
            </a:pPr>
            <a:r>
              <a:rPr lang="en-US" altLang="ko-KR" sz="1100" dirty="0">
                <a:latin typeface="+mn-ea"/>
              </a:rPr>
              <a:t>prediction</a:t>
            </a:r>
          </a:p>
          <a:p>
            <a:pPr marL="180000" lvl="1" indent="180000">
              <a:buFont typeface="Arial" panose="020B0604020202020204" pitchFamily="34" charset="0"/>
              <a:buChar char="•"/>
            </a:pPr>
            <a:endParaRPr lang="en-US" altLang="ko-KR" sz="1100" dirty="0">
              <a:latin typeface="+mn-ea"/>
            </a:endParaRPr>
          </a:p>
          <a:p>
            <a:pPr marL="180000" lvl="1" indent="180000">
              <a:buFont typeface="Arial" panose="020B0604020202020204" pitchFamily="34" charset="0"/>
              <a:buChar char="•"/>
            </a:pPr>
            <a:endParaRPr lang="en-US" altLang="ko-KR" sz="1100" dirty="0">
              <a:latin typeface="+mn-ea"/>
            </a:endParaRPr>
          </a:p>
          <a:p>
            <a:pPr marL="180000" lvl="1" indent="180000">
              <a:buFont typeface="Arial" panose="020B0604020202020204" pitchFamily="34" charset="0"/>
              <a:buChar char="•"/>
            </a:pPr>
            <a:r>
              <a:rPr lang="en-US" altLang="ko-KR" sz="1100" dirty="0">
                <a:latin typeface="+mn-ea"/>
              </a:rPr>
              <a:t> control</a:t>
            </a:r>
          </a:p>
          <a:p>
            <a:pPr marL="180000" lvl="1" indent="180000">
              <a:buFont typeface="Arial" panose="020B0604020202020204" pitchFamily="34" charset="0"/>
              <a:buChar char="•"/>
            </a:pPr>
            <a:endParaRPr lang="en-US" altLang="ko-KR" sz="1100" dirty="0"/>
          </a:p>
          <a:p>
            <a:pPr marL="180000" lvl="1" indent="180000">
              <a:buFont typeface="Arial" panose="020B0604020202020204" pitchFamily="34" charset="0"/>
              <a:buChar char="•"/>
            </a:pPr>
            <a:endParaRPr lang="en-US" altLang="ko-KR" sz="1100" dirty="0"/>
          </a:p>
          <a:p>
            <a:pPr marL="180000" lvl="1" indent="180000">
              <a:buFont typeface="Arial" panose="020B0604020202020204" pitchFamily="34" charset="0"/>
              <a:buChar char="•"/>
            </a:pPr>
            <a:endParaRPr lang="en-US" altLang="ko-KR" sz="1100" dirty="0"/>
          </a:p>
          <a:p>
            <a:pPr marL="180000" lvl="1" indent="180000">
              <a:buFont typeface="Arial" panose="020B0604020202020204" pitchFamily="34" charset="0"/>
              <a:buChar char="•"/>
            </a:pPr>
            <a:endParaRPr lang="en-US" altLang="ko-KR" sz="1100" dirty="0"/>
          </a:p>
          <a:p>
            <a:pPr marL="180000" lvl="1" indent="180000">
              <a:buFont typeface="Arial" panose="020B0604020202020204" pitchFamily="34" charset="0"/>
              <a:buChar char="•"/>
            </a:pPr>
            <a:endParaRPr lang="en-US" altLang="ko-KR" sz="1100" dirty="0">
              <a:latin typeface="+mn-ea"/>
            </a:endParaRPr>
          </a:p>
        </p:txBody>
      </p:sp>
      <p:sp>
        <p:nvSpPr>
          <p:cNvPr id="16" name="TextBox 15">
            <a:extLst>
              <a:ext uri="{FF2B5EF4-FFF2-40B4-BE49-F238E27FC236}">
                <a16:creationId xmlns:a16="http://schemas.microsoft.com/office/drawing/2014/main" id="{5B17B5D6-26B7-62A8-9615-DE6F1C1675B2}"/>
              </a:ext>
            </a:extLst>
          </p:cNvPr>
          <p:cNvSpPr txBox="1"/>
          <p:nvPr/>
        </p:nvSpPr>
        <p:spPr>
          <a:xfrm>
            <a:off x="7593980" y="6185169"/>
            <a:ext cx="1872551" cy="246221"/>
          </a:xfrm>
          <a:prstGeom prst="rect">
            <a:avLst/>
          </a:prstGeom>
          <a:noFill/>
        </p:spPr>
        <p:txBody>
          <a:bodyPr wrap="square" rtlCol="0">
            <a:spAutoFit/>
          </a:bodyPr>
          <a:lstStyle/>
          <a:p>
            <a:r>
              <a:rPr lang="en-US" altLang="ko-KR" sz="1000" dirty="0">
                <a:latin typeface="+mn-ea"/>
                <a:ea typeface="+mn-ea"/>
              </a:rPr>
              <a:t>(Sutton, 2014), 6.4</a:t>
            </a:r>
            <a:r>
              <a:rPr lang="ko-KR" altLang="en-US" sz="1000" dirty="0">
                <a:latin typeface="+mn-ea"/>
                <a:ea typeface="+mn-ea"/>
              </a:rPr>
              <a:t>절</a:t>
            </a:r>
            <a:r>
              <a:rPr lang="en-US" altLang="ko-KR" sz="1000" dirty="0">
                <a:latin typeface="+mn-ea"/>
                <a:ea typeface="+mn-ea"/>
              </a:rPr>
              <a:t>, 6.5</a:t>
            </a:r>
            <a:r>
              <a:rPr lang="ko-KR" altLang="en-US" sz="1000" dirty="0">
                <a:latin typeface="+mn-ea"/>
                <a:ea typeface="+mn-ea"/>
              </a:rPr>
              <a:t>절</a:t>
            </a:r>
          </a:p>
        </p:txBody>
      </p:sp>
      <p:sp>
        <p:nvSpPr>
          <p:cNvPr id="17" name="텍스트 개체 틀 5">
            <a:extLst>
              <a:ext uri="{FF2B5EF4-FFF2-40B4-BE49-F238E27FC236}">
                <a16:creationId xmlns:a16="http://schemas.microsoft.com/office/drawing/2014/main" id="{27C9CBB8-2EBF-B24C-D426-6790D21E0A2B}"/>
              </a:ext>
            </a:extLst>
          </p:cNvPr>
          <p:cNvSpPr txBox="1">
            <a:spLocks/>
          </p:cNvSpPr>
          <p:nvPr/>
        </p:nvSpPr>
        <p:spPr>
          <a:xfrm>
            <a:off x="200470" y="3654753"/>
            <a:ext cx="5619303" cy="897766"/>
          </a:xfrm>
          <a:prstGeom prst="rect">
            <a:avLst/>
          </a:prstGeom>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80000" indent="-180000">
              <a:buFont typeface="Arial" panose="020B0604020202020204" pitchFamily="34" charset="0"/>
              <a:buChar char="•"/>
            </a:pPr>
            <a:r>
              <a:rPr kumimoji="0" lang="en-US" altLang="ko-KR" b="0" dirty="0">
                <a:latin typeface="+mn-ea"/>
              </a:rPr>
              <a:t>Q-learning</a:t>
            </a:r>
          </a:p>
          <a:p>
            <a:pPr marL="180000" lvl="1" indent="180000">
              <a:buFont typeface="Arial" panose="020B0604020202020204" pitchFamily="34" charset="0"/>
              <a:buChar char="•"/>
            </a:pPr>
            <a:r>
              <a:rPr kumimoji="0" lang="en-US" altLang="ko-KR" sz="1100" b="0" dirty="0">
                <a:latin typeface="+mn-ea"/>
              </a:rPr>
              <a:t>off-policy TD control algorithm (Watkins,1989)</a:t>
            </a:r>
          </a:p>
          <a:p>
            <a:pPr marL="180000" lvl="1" indent="180000">
              <a:buFont typeface="Arial" panose="020B0604020202020204" pitchFamily="34" charset="0"/>
              <a:buChar char="•"/>
            </a:pPr>
            <a:r>
              <a:rPr kumimoji="0" lang="en-US" altLang="ko-KR" sz="1100" b="0" dirty="0"/>
              <a:t>prediction</a:t>
            </a:r>
          </a:p>
          <a:p>
            <a:pPr marL="180000" lvl="1" indent="180000">
              <a:buFont typeface="Arial" panose="020B0604020202020204" pitchFamily="34" charset="0"/>
              <a:buChar char="•"/>
            </a:pPr>
            <a:endParaRPr kumimoji="0" lang="en-US" altLang="ko-KR" sz="1100" b="0" dirty="0">
              <a:latin typeface="+mn-ea"/>
            </a:endParaRPr>
          </a:p>
          <a:p>
            <a:pPr marL="180000" lvl="1" indent="180000">
              <a:buFont typeface="Arial" panose="020B0604020202020204" pitchFamily="34" charset="0"/>
              <a:buChar char="•"/>
            </a:pPr>
            <a:endParaRPr kumimoji="0" lang="en-US" altLang="ko-KR" sz="1100" b="0" dirty="0">
              <a:latin typeface="+mn-ea"/>
            </a:endParaRPr>
          </a:p>
          <a:p>
            <a:pPr marL="180000" lvl="1" indent="180000">
              <a:buFont typeface="Arial" panose="020B0604020202020204" pitchFamily="34" charset="0"/>
              <a:buChar char="•"/>
            </a:pPr>
            <a:r>
              <a:rPr kumimoji="0" lang="en-US" altLang="ko-KR" sz="1100" b="0" dirty="0">
                <a:latin typeface="+mn-ea"/>
              </a:rPr>
              <a:t>pseudo-code</a:t>
            </a:r>
          </a:p>
        </p:txBody>
      </p:sp>
      <p:sp>
        <p:nvSpPr>
          <p:cNvPr id="11" name="TextBox 10">
            <a:extLst>
              <a:ext uri="{FF2B5EF4-FFF2-40B4-BE49-F238E27FC236}">
                <a16:creationId xmlns:a16="http://schemas.microsoft.com/office/drawing/2014/main" id="{C27419A4-5465-A0E2-7DA1-B98E77048C33}"/>
              </a:ext>
            </a:extLst>
          </p:cNvPr>
          <p:cNvSpPr txBox="1"/>
          <p:nvPr/>
        </p:nvSpPr>
        <p:spPr>
          <a:xfrm>
            <a:off x="7456572" y="677501"/>
            <a:ext cx="2575649" cy="553998"/>
          </a:xfrm>
          <a:prstGeom prst="rect">
            <a:avLst/>
          </a:prstGeom>
          <a:noFill/>
        </p:spPr>
        <p:txBody>
          <a:bodyPr wrap="square" rtlCol="0">
            <a:spAutoFit/>
          </a:bodyPr>
          <a:lstStyle/>
          <a:p>
            <a:r>
              <a:rPr lang="en-US" altLang="ko-KR" sz="1000" b="0" dirty="0">
                <a:latin typeface="+mn-ea"/>
                <a:ea typeface="+mn-ea"/>
              </a:rPr>
              <a:t>*</a:t>
            </a:r>
            <a:r>
              <a:rPr lang="ko-KR" altLang="en-US" sz="1000" b="0" dirty="0">
                <a:latin typeface="+mn-ea"/>
                <a:ea typeface="+mn-ea"/>
              </a:rPr>
              <a:t>종종 다음과 같은 용어를 사용한다</a:t>
            </a:r>
            <a:r>
              <a:rPr lang="en-US" altLang="ko-KR" sz="1000" b="0" dirty="0">
                <a:latin typeface="+mn-ea"/>
                <a:ea typeface="+mn-ea"/>
              </a:rPr>
              <a:t>.</a:t>
            </a:r>
          </a:p>
          <a:p>
            <a:r>
              <a:rPr lang="en-US" altLang="ko-KR" sz="1000" b="0" dirty="0">
                <a:latin typeface="+mn-ea"/>
                <a:ea typeface="+mn-ea"/>
              </a:rPr>
              <a:t>policy evaluation : </a:t>
            </a:r>
            <a:r>
              <a:rPr lang="en-US" altLang="ko-KR" sz="1000" dirty="0">
                <a:latin typeface="+mn-ea"/>
                <a:ea typeface="+mn-ea"/>
              </a:rPr>
              <a:t>prediction</a:t>
            </a:r>
            <a:r>
              <a:rPr lang="en-US" altLang="ko-KR" sz="1000" b="0" dirty="0">
                <a:latin typeface="+mn-ea"/>
                <a:ea typeface="+mn-ea"/>
              </a:rPr>
              <a:t> problem</a:t>
            </a:r>
          </a:p>
          <a:p>
            <a:r>
              <a:rPr lang="en-US" altLang="ko-KR" sz="1000" b="0" dirty="0">
                <a:latin typeface="+mn-ea"/>
                <a:ea typeface="+mn-ea"/>
              </a:rPr>
              <a:t>policy improvement : </a:t>
            </a:r>
            <a:r>
              <a:rPr lang="en-US" altLang="ko-KR" sz="1000" dirty="0">
                <a:latin typeface="+mn-ea"/>
                <a:ea typeface="+mn-ea"/>
              </a:rPr>
              <a:t>control</a:t>
            </a:r>
            <a:r>
              <a:rPr lang="en-US" altLang="ko-KR" sz="1000" b="0" dirty="0">
                <a:latin typeface="+mn-ea"/>
                <a:ea typeface="+mn-ea"/>
              </a:rPr>
              <a:t> problem</a:t>
            </a:r>
            <a:endParaRPr lang="ko-KR" altLang="en-US" sz="1000" b="0" dirty="0">
              <a:latin typeface="+mn-ea"/>
              <a:ea typeface="+mn-ea"/>
            </a:endParaRPr>
          </a:p>
        </p:txBody>
      </p:sp>
      <p:pic>
        <p:nvPicPr>
          <p:cNvPr id="3" name="그림 2">
            <a:extLst>
              <a:ext uri="{FF2B5EF4-FFF2-40B4-BE49-F238E27FC236}">
                <a16:creationId xmlns:a16="http://schemas.microsoft.com/office/drawing/2014/main" id="{E213CDA8-F56F-522C-8B33-7C476CF3640B}"/>
              </a:ext>
            </a:extLst>
          </p:cNvPr>
          <p:cNvPicPr>
            <a:picLocks noChangeAspect="1"/>
          </p:cNvPicPr>
          <p:nvPr/>
        </p:nvPicPr>
        <p:blipFill>
          <a:blip r:embed="rId3"/>
          <a:stretch>
            <a:fillRect/>
          </a:stretch>
        </p:blipFill>
        <p:spPr>
          <a:xfrm>
            <a:off x="644435" y="1889979"/>
            <a:ext cx="4072654" cy="329611"/>
          </a:xfrm>
          <a:prstGeom prst="rect">
            <a:avLst/>
          </a:prstGeom>
        </p:spPr>
      </p:pic>
      <p:cxnSp>
        <p:nvCxnSpPr>
          <p:cNvPr id="29" name="직선 연결선 28">
            <a:extLst>
              <a:ext uri="{FF2B5EF4-FFF2-40B4-BE49-F238E27FC236}">
                <a16:creationId xmlns:a16="http://schemas.microsoft.com/office/drawing/2014/main" id="{D39E0D5D-48B1-1B1B-1C2A-449C396CC65A}"/>
              </a:ext>
            </a:extLst>
          </p:cNvPr>
          <p:cNvCxnSpPr>
            <a:cxnSpLocks/>
          </p:cNvCxnSpPr>
          <p:nvPr/>
        </p:nvCxnSpPr>
        <p:spPr>
          <a:xfrm>
            <a:off x="744794" y="2841660"/>
            <a:ext cx="18865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36" name="그룹 35">
            <a:extLst>
              <a:ext uri="{FF2B5EF4-FFF2-40B4-BE49-F238E27FC236}">
                <a16:creationId xmlns:a16="http://schemas.microsoft.com/office/drawing/2014/main" id="{95F4FE07-DB71-7D86-F20C-56AC057CD1CD}"/>
              </a:ext>
            </a:extLst>
          </p:cNvPr>
          <p:cNvGrpSpPr/>
          <p:nvPr/>
        </p:nvGrpSpPr>
        <p:grpSpPr>
          <a:xfrm>
            <a:off x="618710" y="2523839"/>
            <a:ext cx="5410561" cy="1000865"/>
            <a:chOff x="618710" y="2523839"/>
            <a:chExt cx="5410561" cy="1000865"/>
          </a:xfrm>
        </p:grpSpPr>
        <p:pic>
          <p:nvPicPr>
            <p:cNvPr id="18" name="그림 17">
              <a:extLst>
                <a:ext uri="{FF2B5EF4-FFF2-40B4-BE49-F238E27FC236}">
                  <a16:creationId xmlns:a16="http://schemas.microsoft.com/office/drawing/2014/main" id="{99F0DD16-3C64-D409-7366-42948297B83F}"/>
                </a:ext>
              </a:extLst>
            </p:cNvPr>
            <p:cNvPicPr>
              <a:picLocks noChangeAspect="1"/>
            </p:cNvPicPr>
            <p:nvPr/>
          </p:nvPicPr>
          <p:blipFill>
            <a:blip r:embed="rId4"/>
            <a:stretch>
              <a:fillRect/>
            </a:stretch>
          </p:blipFill>
          <p:spPr>
            <a:xfrm>
              <a:off x="618710" y="2523839"/>
              <a:ext cx="5410561" cy="1000865"/>
            </a:xfrm>
            <a:prstGeom prst="rect">
              <a:avLst/>
            </a:prstGeom>
          </p:spPr>
        </p:pic>
        <p:cxnSp>
          <p:nvCxnSpPr>
            <p:cNvPr id="22" name="직선 연결선 21">
              <a:extLst>
                <a:ext uri="{FF2B5EF4-FFF2-40B4-BE49-F238E27FC236}">
                  <a16:creationId xmlns:a16="http://schemas.microsoft.com/office/drawing/2014/main" id="{E188EBED-B2B8-C2EA-DA46-B3297E9A4F24}"/>
                </a:ext>
              </a:extLst>
            </p:cNvPr>
            <p:cNvCxnSpPr/>
            <p:nvPr/>
          </p:nvCxnSpPr>
          <p:spPr>
            <a:xfrm>
              <a:off x="2988384" y="2682173"/>
              <a:ext cx="209765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직선 연결선 23">
              <a:extLst>
                <a:ext uri="{FF2B5EF4-FFF2-40B4-BE49-F238E27FC236}">
                  <a16:creationId xmlns:a16="http://schemas.microsoft.com/office/drawing/2014/main" id="{0DB341FD-7763-EF24-25BA-C09D52A37BAC}"/>
                </a:ext>
              </a:extLst>
            </p:cNvPr>
            <p:cNvCxnSpPr>
              <a:cxnSpLocks/>
            </p:cNvCxnSpPr>
            <p:nvPr/>
          </p:nvCxnSpPr>
          <p:spPr>
            <a:xfrm>
              <a:off x="4398084" y="2907633"/>
              <a:ext cx="160870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E320248A-8671-D59D-2372-801DD81F7D67}"/>
                </a:ext>
              </a:extLst>
            </p:cNvPr>
            <p:cNvCxnSpPr>
              <a:cxnSpLocks/>
            </p:cNvCxnSpPr>
            <p:nvPr/>
          </p:nvCxnSpPr>
          <p:spPr>
            <a:xfrm>
              <a:off x="4135386" y="3098133"/>
              <a:ext cx="1871406"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35" name="그림 34">
            <a:extLst>
              <a:ext uri="{FF2B5EF4-FFF2-40B4-BE49-F238E27FC236}">
                <a16:creationId xmlns:a16="http://schemas.microsoft.com/office/drawing/2014/main" id="{C9CE0AFD-7A30-E23E-A1E2-2C7690663C3B}"/>
              </a:ext>
            </a:extLst>
          </p:cNvPr>
          <p:cNvPicPr>
            <a:picLocks noChangeAspect="1"/>
          </p:cNvPicPr>
          <p:nvPr/>
        </p:nvPicPr>
        <p:blipFill>
          <a:blip r:embed="rId5"/>
          <a:stretch>
            <a:fillRect/>
          </a:stretch>
        </p:blipFill>
        <p:spPr>
          <a:xfrm>
            <a:off x="586961" y="4382757"/>
            <a:ext cx="4088339" cy="299811"/>
          </a:xfrm>
          <a:prstGeom prst="rect">
            <a:avLst/>
          </a:prstGeom>
        </p:spPr>
      </p:pic>
      <p:pic>
        <p:nvPicPr>
          <p:cNvPr id="38" name="그림 37">
            <a:extLst>
              <a:ext uri="{FF2B5EF4-FFF2-40B4-BE49-F238E27FC236}">
                <a16:creationId xmlns:a16="http://schemas.microsoft.com/office/drawing/2014/main" id="{48518E72-0525-EFE7-3CBF-C9E355620628}"/>
              </a:ext>
            </a:extLst>
          </p:cNvPr>
          <p:cNvPicPr>
            <a:picLocks noChangeAspect="1"/>
          </p:cNvPicPr>
          <p:nvPr/>
        </p:nvPicPr>
        <p:blipFill>
          <a:blip r:embed="rId6"/>
          <a:stretch>
            <a:fillRect/>
          </a:stretch>
        </p:blipFill>
        <p:spPr>
          <a:xfrm>
            <a:off x="586961" y="4933941"/>
            <a:ext cx="4293305" cy="1498369"/>
          </a:xfrm>
          <a:prstGeom prst="rect">
            <a:avLst/>
          </a:prstGeom>
        </p:spPr>
      </p:pic>
      <p:pic>
        <p:nvPicPr>
          <p:cNvPr id="40" name="그림 39">
            <a:extLst>
              <a:ext uri="{FF2B5EF4-FFF2-40B4-BE49-F238E27FC236}">
                <a16:creationId xmlns:a16="http://schemas.microsoft.com/office/drawing/2014/main" id="{E8CC76EF-9DB2-95D9-5297-9E77848E3D93}"/>
              </a:ext>
            </a:extLst>
          </p:cNvPr>
          <p:cNvPicPr>
            <a:picLocks noChangeAspect="1"/>
          </p:cNvPicPr>
          <p:nvPr/>
        </p:nvPicPr>
        <p:blipFill>
          <a:blip r:embed="rId7"/>
          <a:stretch>
            <a:fillRect/>
          </a:stretch>
        </p:blipFill>
        <p:spPr>
          <a:xfrm>
            <a:off x="6229934" y="2436345"/>
            <a:ext cx="3369213" cy="1292792"/>
          </a:xfrm>
          <a:prstGeom prst="rect">
            <a:avLst/>
          </a:prstGeom>
        </p:spPr>
      </p:pic>
      <p:pic>
        <p:nvPicPr>
          <p:cNvPr id="2" name="그림 1">
            <a:extLst>
              <a:ext uri="{FF2B5EF4-FFF2-40B4-BE49-F238E27FC236}">
                <a16:creationId xmlns:a16="http://schemas.microsoft.com/office/drawing/2014/main" id="{E251FDE1-16CB-9282-6B76-3AD29C4ACEA7}"/>
              </a:ext>
            </a:extLst>
          </p:cNvPr>
          <p:cNvPicPr>
            <a:picLocks noChangeAspect="1"/>
          </p:cNvPicPr>
          <p:nvPr/>
        </p:nvPicPr>
        <p:blipFill>
          <a:blip r:embed="rId8"/>
          <a:stretch>
            <a:fillRect/>
          </a:stretch>
        </p:blipFill>
        <p:spPr>
          <a:xfrm>
            <a:off x="4953000" y="1798974"/>
            <a:ext cx="4867954" cy="516752"/>
          </a:xfrm>
          <a:prstGeom prst="rect">
            <a:avLst/>
          </a:prstGeom>
        </p:spPr>
      </p:pic>
    </p:spTree>
    <p:extLst>
      <p:ext uri="{BB962C8B-B14F-4D97-AF65-F5344CB8AC3E}">
        <p14:creationId xmlns:p14="http://schemas.microsoft.com/office/powerpoint/2010/main" val="1670279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B88AE-63EB-9A3F-060D-272C3F86C809}"/>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DF938E53-C246-E4B7-B48D-5FD48678AC55}"/>
              </a:ext>
            </a:extLst>
          </p:cNvPr>
          <p:cNvSpPr>
            <a:spLocks noGrp="1"/>
          </p:cNvSpPr>
          <p:nvPr>
            <p:ph type="body" sz="quarter" idx="10"/>
          </p:nvPr>
        </p:nvSpPr>
        <p:spPr/>
        <p:txBody>
          <a:bodyPr/>
          <a:lstStyle/>
          <a:p>
            <a:pPr marL="0" indent="0">
              <a:buNone/>
            </a:pPr>
            <a:r>
              <a:rPr lang="en-US" altLang="ko-KR" dirty="0"/>
              <a:t>Q-learning</a:t>
            </a:r>
            <a:r>
              <a:rPr lang="ko-KR" altLang="en-US" dirty="0"/>
              <a:t>을 통한 </a:t>
            </a:r>
            <a:r>
              <a:rPr lang="ko-KR" altLang="en-US" dirty="0" err="1"/>
              <a:t>연속교반탱크반응기</a:t>
            </a:r>
            <a:r>
              <a:rPr lang="en-US" altLang="ko-KR" dirty="0"/>
              <a:t>(CSTR)</a:t>
            </a:r>
            <a:r>
              <a:rPr lang="ko-KR" altLang="en-US" dirty="0"/>
              <a:t>의 온도 제어</a:t>
            </a:r>
          </a:p>
        </p:txBody>
      </p:sp>
      <p:sp>
        <p:nvSpPr>
          <p:cNvPr id="4" name="제목 3">
            <a:extLst>
              <a:ext uri="{FF2B5EF4-FFF2-40B4-BE49-F238E27FC236}">
                <a16:creationId xmlns:a16="http://schemas.microsoft.com/office/drawing/2014/main" id="{5B4C1B3F-E931-99B2-3F14-B3AA7E96F912}"/>
              </a:ext>
            </a:extLst>
          </p:cNvPr>
          <p:cNvSpPr>
            <a:spLocks noGrp="1"/>
          </p:cNvSpPr>
          <p:nvPr>
            <p:ph type="title"/>
          </p:nvPr>
        </p:nvSpPr>
        <p:spPr/>
        <p:txBody>
          <a:bodyPr/>
          <a:lstStyle/>
          <a:p>
            <a:r>
              <a:rPr lang="en-US" altLang="ko-KR" dirty="0"/>
              <a:t>1.2 </a:t>
            </a:r>
            <a:r>
              <a:rPr lang="ko-KR" altLang="en-US" dirty="0"/>
              <a:t>강화학습 예제 코드 작성 </a:t>
            </a:r>
            <a:r>
              <a:rPr lang="en-US" altLang="ko-KR" dirty="0"/>
              <a:t>: Q-learning - </a:t>
            </a:r>
            <a:r>
              <a:rPr lang="ko-KR" altLang="en-US" dirty="0"/>
              <a:t>온도제어</a:t>
            </a:r>
          </a:p>
        </p:txBody>
      </p:sp>
      <p:sp>
        <p:nvSpPr>
          <p:cNvPr id="7" name="텍스트 개체 틀 6">
            <a:extLst>
              <a:ext uri="{FF2B5EF4-FFF2-40B4-BE49-F238E27FC236}">
                <a16:creationId xmlns:a16="http://schemas.microsoft.com/office/drawing/2014/main" id="{768ED17C-B868-C04B-2324-41232B2C12C8}"/>
              </a:ext>
            </a:extLst>
          </p:cNvPr>
          <p:cNvSpPr>
            <a:spLocks noGrp="1"/>
          </p:cNvSpPr>
          <p:nvPr>
            <p:ph type="body" sz="quarter" idx="12"/>
          </p:nvPr>
        </p:nvSpPr>
        <p:spPr/>
        <p:txBody>
          <a:bodyPr/>
          <a:lstStyle/>
          <a:p>
            <a:r>
              <a:rPr lang="ko-KR" altLang="en-US" dirty="0"/>
              <a:t>강화학습</a:t>
            </a:r>
          </a:p>
        </p:txBody>
      </p:sp>
      <mc:AlternateContent xmlns:mc="http://schemas.openxmlformats.org/markup-compatibility/2006">
        <mc:Choice xmlns:a14="http://schemas.microsoft.com/office/drawing/2010/main" Requires="a14">
          <p:sp>
            <p:nvSpPr>
              <p:cNvPr id="6" name="텍스트 개체 틀 5">
                <a:extLst>
                  <a:ext uri="{FF2B5EF4-FFF2-40B4-BE49-F238E27FC236}">
                    <a16:creationId xmlns:a16="http://schemas.microsoft.com/office/drawing/2014/main" id="{A029E7AD-E7CA-A046-63FD-181C080F222B}"/>
                  </a:ext>
                </a:extLst>
              </p:cNvPr>
              <p:cNvSpPr txBox="1">
                <a:spLocks/>
              </p:cNvSpPr>
              <p:nvPr/>
            </p:nvSpPr>
            <p:spPr>
              <a:xfrm>
                <a:off x="209708" y="1047296"/>
                <a:ext cx="8781892" cy="1335689"/>
              </a:xfrm>
              <a:prstGeom prst="rect">
                <a:avLst/>
              </a:prstGeom>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80000" indent="-180000">
                  <a:buFont typeface="Arial" panose="020B0604020202020204" pitchFamily="34" charset="0"/>
                  <a:buChar char="•"/>
                </a:pPr>
                <a:r>
                  <a:rPr lang="ko-KR" altLang="en-US" b="0" dirty="0">
                    <a:latin typeface="+mn-ea"/>
                  </a:rPr>
                  <a:t>냉각수 유량 조절을 통한 교반 온도 제어</a:t>
                </a:r>
                <a:r>
                  <a:rPr lang="en-US" altLang="ko-KR" b="0" dirty="0">
                    <a:latin typeface="+mn-ea"/>
                  </a:rPr>
                  <a:t>.</a:t>
                </a:r>
              </a:p>
              <a:p>
                <a:pPr marL="180000" lvl="1" indent="180000">
                  <a:buFont typeface="Arial" panose="020B0604020202020204" pitchFamily="34" charset="0"/>
                  <a:buChar char="•"/>
                </a:pPr>
                <a:r>
                  <a:rPr kumimoji="0" lang="en-US" altLang="ko-KR" sz="1100" b="0" dirty="0">
                    <a:latin typeface="+mn-ea"/>
                  </a:rPr>
                  <a:t>state (1</a:t>
                </a:r>
                <a:r>
                  <a:rPr kumimoji="0" lang="ko-KR" altLang="en-US" sz="1100" b="0" dirty="0">
                    <a:latin typeface="+mn-ea"/>
                  </a:rPr>
                  <a:t>개</a:t>
                </a:r>
                <a:r>
                  <a:rPr kumimoji="0" lang="en-US" altLang="ko-KR" sz="1100" b="0" dirty="0">
                    <a:latin typeface="+mn-ea"/>
                  </a:rPr>
                  <a:t>) : </a:t>
                </a:r>
                <a:r>
                  <a:rPr kumimoji="0" lang="ko-KR" altLang="en-US" sz="1100" b="0" dirty="0">
                    <a:latin typeface="+mn-ea"/>
                  </a:rPr>
                  <a:t>교반 온도 </a:t>
                </a:r>
                <a:r>
                  <a:rPr kumimoji="0" lang="en-US" altLang="ko-KR" sz="1100" b="0" dirty="0">
                    <a:latin typeface="+mn-ea"/>
                  </a:rPr>
                  <a:t>(continuous -&gt; discretize)</a:t>
                </a:r>
              </a:p>
              <a:p>
                <a:pPr marL="180000" lvl="1" indent="180000">
                  <a:buFont typeface="Arial" panose="020B0604020202020204" pitchFamily="34" charset="0"/>
                  <a:buChar char="•"/>
                </a:pPr>
                <a:r>
                  <a:rPr kumimoji="0" lang="en-US" altLang="ko-KR" sz="1100" b="0" dirty="0">
                    <a:latin typeface="+mn-ea"/>
                  </a:rPr>
                  <a:t>action (1</a:t>
                </a:r>
                <a:r>
                  <a:rPr kumimoji="0" lang="ko-KR" altLang="en-US" sz="1100" b="0" dirty="0">
                    <a:latin typeface="+mn-ea"/>
                  </a:rPr>
                  <a:t>개</a:t>
                </a:r>
                <a:r>
                  <a:rPr kumimoji="0" lang="en-US" altLang="ko-KR" sz="1100" b="0" dirty="0">
                    <a:latin typeface="+mn-ea"/>
                  </a:rPr>
                  <a:t>) : </a:t>
                </a:r>
                <a:r>
                  <a:rPr kumimoji="0" lang="ko-KR" altLang="en-US" sz="1100" b="0" dirty="0">
                    <a:latin typeface="+mn-ea"/>
                  </a:rPr>
                  <a:t>냉각수 유량 </a:t>
                </a:r>
                <a:r>
                  <a:rPr kumimoji="0" lang="en-US" altLang="ko-KR" sz="1100" b="0" dirty="0">
                    <a:latin typeface="+mn-ea"/>
                  </a:rPr>
                  <a:t>(discrete : </a:t>
                </a:r>
                <a:r>
                  <a:rPr kumimoji="0" lang="ko-KR" altLang="en-US" sz="1100" b="0" dirty="0">
                    <a:latin typeface="+mn-ea"/>
                  </a:rPr>
                  <a:t>증가 </a:t>
                </a:r>
                <a:r>
                  <a:rPr kumimoji="0" lang="en-US" altLang="ko-KR" sz="1100" b="0" dirty="0">
                    <a:latin typeface="+mn-ea"/>
                  </a:rPr>
                  <a:t>/ </a:t>
                </a:r>
                <a:r>
                  <a:rPr kumimoji="0" lang="ko-KR" altLang="en-US" sz="1100" b="0" dirty="0">
                    <a:latin typeface="+mn-ea"/>
                  </a:rPr>
                  <a:t>멈춤 </a:t>
                </a:r>
                <a:r>
                  <a:rPr kumimoji="0" lang="en-US" altLang="ko-KR" sz="1100" b="0" dirty="0">
                    <a:latin typeface="+mn-ea"/>
                  </a:rPr>
                  <a:t>/ </a:t>
                </a:r>
                <a:r>
                  <a:rPr kumimoji="0" lang="ko-KR" altLang="en-US" sz="1100" b="0" dirty="0">
                    <a:latin typeface="+mn-ea"/>
                  </a:rPr>
                  <a:t>감소</a:t>
                </a:r>
                <a:r>
                  <a:rPr kumimoji="0" lang="en-US" altLang="ko-KR" sz="1100" b="0" dirty="0">
                    <a:latin typeface="+mn-ea"/>
                  </a:rPr>
                  <a:t>)</a:t>
                </a:r>
              </a:p>
              <a:p>
                <a:pPr marL="180000" lvl="1" indent="180000">
                  <a:buFont typeface="Arial" panose="020B0604020202020204" pitchFamily="34" charset="0"/>
                  <a:buChar char="•"/>
                </a:pPr>
                <a14:m>
                  <m:oMath xmlns:m="http://schemas.openxmlformats.org/officeDocument/2006/math">
                    <m:r>
                      <a:rPr lang="en-US" altLang="ko-KR" sz="1100" i="1" dirty="0">
                        <a:latin typeface="Cambria Math" panose="02040503050406030204" pitchFamily="18" charset="0"/>
                      </a:rPr>
                      <m:t>𝑝</m:t>
                    </m:r>
                    <m:r>
                      <a:rPr lang="en-US" altLang="ko-KR" sz="1100" i="1" dirty="0">
                        <a:latin typeface="Cambria Math" panose="02040503050406030204" pitchFamily="18" charset="0"/>
                      </a:rPr>
                      <m:t>(</m:t>
                    </m:r>
                    <m:r>
                      <a:rPr lang="en-US" altLang="ko-KR" sz="1100" i="1" dirty="0">
                        <a:latin typeface="Cambria Math" panose="02040503050406030204" pitchFamily="18" charset="0"/>
                      </a:rPr>
                      <m:t>𝑠</m:t>
                    </m:r>
                    <m:r>
                      <a:rPr lang="en-US" altLang="ko-KR" sz="1100" i="1" dirty="0">
                        <a:latin typeface="Cambria Math" panose="02040503050406030204" pitchFamily="18" charset="0"/>
                      </a:rPr>
                      <m:t>’|</m:t>
                    </m:r>
                    <m:r>
                      <a:rPr lang="en-US" altLang="ko-KR" sz="1100" i="1" dirty="0" err="1">
                        <a:latin typeface="Cambria Math" panose="02040503050406030204" pitchFamily="18" charset="0"/>
                      </a:rPr>
                      <m:t>𝑠</m:t>
                    </m:r>
                    <m:r>
                      <a:rPr lang="en-US" altLang="ko-KR" sz="1100" i="1" dirty="0" err="1">
                        <a:latin typeface="Cambria Math" panose="02040503050406030204" pitchFamily="18" charset="0"/>
                      </a:rPr>
                      <m:t>,</m:t>
                    </m:r>
                    <m:r>
                      <a:rPr lang="en-US" altLang="ko-KR" sz="1100" i="1" dirty="0" err="1">
                        <a:latin typeface="Cambria Math" panose="02040503050406030204" pitchFamily="18" charset="0"/>
                      </a:rPr>
                      <m:t>𝑎</m:t>
                    </m:r>
                    <m:r>
                      <a:rPr lang="en-US" altLang="ko-KR" sz="1100" i="1" dirty="0">
                        <a:latin typeface="Cambria Math" panose="02040503050406030204" pitchFamily="18" charset="0"/>
                      </a:rPr>
                      <m:t>) </m:t>
                    </m:r>
                  </m:oMath>
                </a14:m>
                <a:r>
                  <a:rPr lang="ko-KR" altLang="en-US" sz="1100" b="0" dirty="0">
                    <a:latin typeface="+mn-ea"/>
                  </a:rPr>
                  <a:t>는 열수지방정식으로 주어짐</a:t>
                </a:r>
                <a:r>
                  <a:rPr lang="en-US" altLang="ko-KR" sz="1100" b="0" dirty="0">
                    <a:latin typeface="+mn-ea"/>
                  </a:rPr>
                  <a:t>, </a:t>
                </a:r>
                <a14:m>
                  <m:oMath xmlns:m="http://schemas.openxmlformats.org/officeDocument/2006/math">
                    <m:r>
                      <a:rPr lang="en-US" altLang="ko-KR" sz="1100" b="0" i="1">
                        <a:latin typeface="Cambria Math" panose="02040503050406030204" pitchFamily="18" charset="0"/>
                      </a:rPr>
                      <m:t>𝑟</m:t>
                    </m:r>
                    <m:d>
                      <m:dPr>
                        <m:ctrlPr>
                          <a:rPr lang="en-US" altLang="ko-KR" sz="1100" b="0" i="1">
                            <a:latin typeface="Cambria Math" panose="02040503050406030204" pitchFamily="18" charset="0"/>
                          </a:rPr>
                        </m:ctrlPr>
                      </m:dPr>
                      <m:e>
                        <m:r>
                          <a:rPr lang="en-US" altLang="ko-KR" sz="1100" b="0" i="1">
                            <a:latin typeface="Cambria Math" panose="02040503050406030204" pitchFamily="18" charset="0"/>
                          </a:rPr>
                          <m:t>𝑠</m:t>
                        </m:r>
                        <m:r>
                          <a:rPr lang="en-US" altLang="ko-KR" sz="1100" b="0" i="1">
                            <a:latin typeface="Cambria Math" panose="02040503050406030204" pitchFamily="18" charset="0"/>
                          </a:rPr>
                          <m:t>,</m:t>
                        </m:r>
                        <m:r>
                          <a:rPr lang="en-US" altLang="ko-KR" sz="1100" b="0" i="1">
                            <a:latin typeface="Cambria Math" panose="02040503050406030204" pitchFamily="18" charset="0"/>
                          </a:rPr>
                          <m:t>𝑎</m:t>
                        </m:r>
                      </m:e>
                    </m:d>
                    <m:r>
                      <a:rPr lang="ko-KR" altLang="en-US" sz="1100" b="0" i="1">
                        <a:latin typeface="Cambria Math" panose="02040503050406030204" pitchFamily="18" charset="0"/>
                      </a:rPr>
                      <m:t>는</m:t>
                    </m:r>
                  </m:oMath>
                </a14:m>
                <a:r>
                  <a:rPr lang="en-US" altLang="ko-KR" sz="1100" b="0" dirty="0">
                    <a:latin typeface="+mn-ea"/>
                  </a:rPr>
                  <a:t> </a:t>
                </a:r>
                <a:r>
                  <a:rPr lang="ko-KR" altLang="en-US" sz="1100" b="0" dirty="0">
                    <a:latin typeface="+mn-ea"/>
                  </a:rPr>
                  <a:t>현재 온도와 목표 온도</a:t>
                </a:r>
                <a:r>
                  <a:rPr lang="en-US" altLang="ko-KR" sz="1100" b="0" dirty="0">
                    <a:latin typeface="+mn-ea"/>
                  </a:rPr>
                  <a:t>(80</a:t>
                </a:r>
                <a:r>
                  <a:rPr lang="ko-KR" altLang="en-US" sz="1100" b="0" dirty="0">
                    <a:latin typeface="+mn-ea"/>
                  </a:rPr>
                  <a:t>도</a:t>
                </a:r>
                <a:r>
                  <a:rPr lang="en-US" altLang="ko-KR" sz="1100" b="0" dirty="0">
                    <a:latin typeface="+mn-ea"/>
                  </a:rPr>
                  <a:t>)</a:t>
                </a:r>
                <a:r>
                  <a:rPr lang="ko-KR" altLang="en-US" sz="1100" b="0" dirty="0">
                    <a:latin typeface="+mn-ea"/>
                  </a:rPr>
                  <a:t>의 차가 적을 수록 높게 설정</a:t>
                </a:r>
                <a:r>
                  <a:rPr lang="en-US" altLang="ko-KR" sz="1100" b="0" dirty="0">
                    <a:latin typeface="+mn-ea"/>
                  </a:rPr>
                  <a:t>.</a:t>
                </a:r>
                <a:endParaRPr kumimoji="0" lang="en-US" altLang="ko-KR" sz="1100" b="0" dirty="0">
                  <a:latin typeface="+mn-ea"/>
                </a:endParaRPr>
              </a:p>
              <a:p>
                <a:pPr marL="180000" indent="-180000">
                  <a:buFont typeface="Arial" panose="020B0604020202020204" pitchFamily="34" charset="0"/>
                  <a:buChar char="•"/>
                </a:pPr>
                <a:r>
                  <a:rPr lang="en-US" altLang="ko-KR" b="0" dirty="0">
                    <a:latin typeface="+mn-ea"/>
                  </a:rPr>
                  <a:t>Q-table</a:t>
                </a:r>
                <a:r>
                  <a:rPr lang="ko-KR" altLang="en-US" b="0" dirty="0">
                    <a:latin typeface="+mn-ea"/>
                  </a:rPr>
                  <a:t>이 완벽하게 나오지는 않음</a:t>
                </a:r>
                <a:r>
                  <a:rPr lang="en-US" altLang="ko-KR" b="0" dirty="0">
                    <a:latin typeface="+mn-ea"/>
                  </a:rPr>
                  <a:t>. </a:t>
                </a:r>
                <a:r>
                  <a:rPr lang="ko-KR" altLang="en-US" b="0" dirty="0">
                    <a:latin typeface="+mn-ea"/>
                  </a:rPr>
                  <a:t>하지만 테스트 결과</a:t>
                </a:r>
                <a:r>
                  <a:rPr lang="en-US" altLang="ko-KR" b="0" dirty="0">
                    <a:latin typeface="+mn-ea"/>
                  </a:rPr>
                  <a:t>, 100</a:t>
                </a:r>
                <a:r>
                  <a:rPr lang="ko-KR" altLang="en-US" b="0" dirty="0">
                    <a:latin typeface="+mn-ea"/>
                  </a:rPr>
                  <a:t>번의 </a:t>
                </a:r>
                <a:r>
                  <a:rPr lang="en-US" altLang="ko-KR" b="0" dirty="0">
                    <a:latin typeface="+mn-ea"/>
                  </a:rPr>
                  <a:t>test sample</a:t>
                </a:r>
                <a:r>
                  <a:rPr lang="ko-KR" altLang="en-US" b="0" dirty="0">
                    <a:latin typeface="+mn-ea"/>
                  </a:rPr>
                  <a:t>이 모두 목표치에 도달</a:t>
                </a:r>
                <a:r>
                  <a:rPr lang="en-US" altLang="ko-KR" b="0" dirty="0">
                    <a:latin typeface="+mn-ea"/>
                  </a:rPr>
                  <a:t>.</a:t>
                </a:r>
              </a:p>
              <a:p>
                <a:pPr marL="180000" lvl="1" indent="180000">
                  <a:buFont typeface="Arial" panose="020B0604020202020204" pitchFamily="34" charset="0"/>
                  <a:buChar char="•"/>
                </a:pPr>
                <a:endParaRPr kumimoji="0" lang="en-US" altLang="ko-KR" sz="1100" b="0" dirty="0"/>
              </a:p>
              <a:p>
                <a:pPr marL="180000" lvl="1" indent="180000">
                  <a:buFont typeface="Arial" panose="020B0604020202020204" pitchFamily="34" charset="0"/>
                  <a:buChar char="•"/>
                </a:pPr>
                <a:endParaRPr kumimoji="0" lang="en-US" altLang="ko-KR" sz="1100" b="0" dirty="0"/>
              </a:p>
              <a:p>
                <a:pPr marL="180000" lvl="1" indent="180000">
                  <a:buFont typeface="Arial" panose="020B0604020202020204" pitchFamily="34" charset="0"/>
                  <a:buChar char="•"/>
                </a:pPr>
                <a:endParaRPr kumimoji="0" lang="en-US" altLang="ko-KR" sz="1100" b="0" dirty="0"/>
              </a:p>
              <a:p>
                <a:pPr marL="180000" lvl="1" indent="180000">
                  <a:buFont typeface="Arial" panose="020B0604020202020204" pitchFamily="34" charset="0"/>
                  <a:buChar char="•"/>
                </a:pPr>
                <a:endParaRPr kumimoji="0" lang="en-US" altLang="ko-KR" sz="1100" b="0" dirty="0">
                  <a:latin typeface="+mn-ea"/>
                </a:endParaRPr>
              </a:p>
            </p:txBody>
          </p:sp>
        </mc:Choice>
        <mc:Fallback>
          <p:sp>
            <p:nvSpPr>
              <p:cNvPr id="6" name="텍스트 개체 틀 5">
                <a:extLst>
                  <a:ext uri="{FF2B5EF4-FFF2-40B4-BE49-F238E27FC236}">
                    <a16:creationId xmlns:a16="http://schemas.microsoft.com/office/drawing/2014/main" id="{A029E7AD-E7CA-A046-63FD-181C080F222B}"/>
                  </a:ext>
                </a:extLst>
              </p:cNvPr>
              <p:cNvSpPr txBox="1">
                <a:spLocks noRot="1" noChangeAspect="1" noMove="1" noResize="1" noEditPoints="1" noAdjustHandles="1" noChangeArrowheads="1" noChangeShapeType="1" noTextEdit="1"/>
              </p:cNvSpPr>
              <p:nvPr/>
            </p:nvSpPr>
            <p:spPr>
              <a:xfrm>
                <a:off x="209708" y="1047296"/>
                <a:ext cx="8781892" cy="1335689"/>
              </a:xfrm>
              <a:prstGeom prst="rect">
                <a:avLst/>
              </a:prstGeom>
              <a:blipFill>
                <a:blip r:embed="rId3"/>
                <a:stretch>
                  <a:fillRect l="-278" t="-1826"/>
                </a:stretch>
              </a:blipFill>
            </p:spPr>
            <p:txBody>
              <a:bodyPr/>
              <a:lstStyle/>
              <a:p>
                <a:r>
                  <a:rPr lang="ko-KR" altLang="en-US">
                    <a:noFill/>
                  </a:rPr>
                  <a:t> </a:t>
                </a:r>
              </a:p>
            </p:txBody>
          </p:sp>
        </mc:Fallback>
      </mc:AlternateContent>
      <p:pic>
        <p:nvPicPr>
          <p:cNvPr id="18" name="그림 17">
            <a:extLst>
              <a:ext uri="{FF2B5EF4-FFF2-40B4-BE49-F238E27FC236}">
                <a16:creationId xmlns:a16="http://schemas.microsoft.com/office/drawing/2014/main" id="{0597528C-2B34-5BFD-632A-808D7861A2C7}"/>
              </a:ext>
            </a:extLst>
          </p:cNvPr>
          <p:cNvPicPr>
            <a:picLocks noChangeAspect="1"/>
          </p:cNvPicPr>
          <p:nvPr/>
        </p:nvPicPr>
        <p:blipFill>
          <a:blip r:embed="rId4"/>
          <a:stretch>
            <a:fillRect/>
          </a:stretch>
        </p:blipFill>
        <p:spPr>
          <a:xfrm>
            <a:off x="557742" y="2271031"/>
            <a:ext cx="6037385" cy="4014111"/>
          </a:xfrm>
          <a:prstGeom prst="rect">
            <a:avLst/>
          </a:prstGeom>
        </p:spPr>
      </p:pic>
    </p:spTree>
    <p:extLst>
      <p:ext uri="{BB962C8B-B14F-4D97-AF65-F5344CB8AC3E}">
        <p14:creationId xmlns:p14="http://schemas.microsoft.com/office/powerpoint/2010/main" val="654015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140BE9C8-BBFC-BB40-E0BB-6B667D72BF65}"/>
              </a:ext>
            </a:extLst>
          </p:cNvPr>
          <p:cNvSpPr>
            <a:spLocks noGrp="1"/>
          </p:cNvSpPr>
          <p:nvPr>
            <p:ph type="body" sz="quarter" idx="10"/>
          </p:nvPr>
        </p:nvSpPr>
        <p:spPr/>
        <p:txBody>
          <a:bodyPr/>
          <a:lstStyle/>
          <a:p>
            <a:pPr marL="0" indent="0">
              <a:buNone/>
            </a:pPr>
            <a:r>
              <a:rPr lang="en-US" altLang="ko-KR" dirty="0"/>
              <a:t>gymnasium </a:t>
            </a:r>
            <a:r>
              <a:rPr lang="ko-KR" altLang="en-US" dirty="0"/>
              <a:t>모듈의 </a:t>
            </a:r>
            <a:r>
              <a:rPr lang="en-US" altLang="ko-KR" dirty="0" err="1"/>
              <a:t>MountainCar</a:t>
            </a:r>
            <a:r>
              <a:rPr lang="en-US" altLang="ko-KR" dirty="0"/>
              <a:t> </a:t>
            </a:r>
            <a:r>
              <a:rPr lang="ko-KR" altLang="en-US" dirty="0"/>
              <a:t>문제</a:t>
            </a:r>
          </a:p>
        </p:txBody>
      </p:sp>
      <mc:AlternateContent xmlns:mc="http://schemas.openxmlformats.org/markup-compatibility/2006" xmlns:a14="http://schemas.microsoft.com/office/drawing/2010/main">
        <mc:Choice Requires="a14">
          <p:sp>
            <p:nvSpPr>
              <p:cNvPr id="3" name="텍스트 개체 틀 2">
                <a:extLst>
                  <a:ext uri="{FF2B5EF4-FFF2-40B4-BE49-F238E27FC236}">
                    <a16:creationId xmlns:a16="http://schemas.microsoft.com/office/drawing/2014/main" id="{FF60CC2A-B558-6322-236C-F35826F47D5B}"/>
                  </a:ext>
                </a:extLst>
              </p:cNvPr>
              <p:cNvSpPr>
                <a:spLocks noGrp="1"/>
              </p:cNvSpPr>
              <p:nvPr>
                <p:ph type="body" sz="quarter" idx="11"/>
              </p:nvPr>
            </p:nvSpPr>
            <p:spPr>
              <a:xfrm>
                <a:off x="440967" y="1047470"/>
                <a:ext cx="7345035" cy="2954161"/>
              </a:xfrm>
            </p:spPr>
            <p:txBody>
              <a:bodyPr/>
              <a:lstStyle/>
              <a:p>
                <a:r>
                  <a:rPr lang="ko-KR" altLang="en-US" dirty="0"/>
                  <a:t>환경 세부</a:t>
                </a:r>
                <a:endParaRPr lang="en-US" altLang="ko-KR" dirty="0"/>
              </a:p>
              <a:p>
                <a:pPr marL="180000" indent="-180000">
                  <a:buFont typeface="Arial" panose="020B0604020202020204" pitchFamily="34" charset="0"/>
                  <a:buChar char="•"/>
                </a:pPr>
                <a:r>
                  <a:rPr lang="en-US" altLang="ko-KR" dirty="0"/>
                  <a:t>state space : position,</a:t>
                </a:r>
                <a:r>
                  <a:rPr lang="ko-KR" altLang="en-US" dirty="0"/>
                  <a:t> </a:t>
                </a:r>
                <a:r>
                  <a:rPr lang="en-US" altLang="ko-KR" dirty="0"/>
                  <a:t>velocity</a:t>
                </a:r>
              </a:p>
              <a:p>
                <a:pPr marL="180000" indent="-180000">
                  <a:buFont typeface="Arial" panose="020B0604020202020204" pitchFamily="34" charset="0"/>
                  <a:buChar char="•"/>
                </a:pPr>
                <a:r>
                  <a:rPr lang="en-US" altLang="ko-KR" dirty="0"/>
                  <a:t>action space : force</a:t>
                </a:r>
              </a:p>
              <a:p>
                <a:pPr marL="180000" indent="-180000">
                  <a:buFont typeface="Arial" panose="020B0604020202020204" pitchFamily="34" charset="0"/>
                  <a:buChar char="•"/>
                </a:pPr>
                <a:r>
                  <a:rPr lang="en-US" altLang="ko-KR" dirty="0"/>
                  <a:t>transition dynamics</a:t>
                </a:r>
              </a:p>
              <a:p>
                <a:pPr algn="ctr"/>
                <a14:m>
                  <m:oMathPara xmlns:m="http://schemas.openxmlformats.org/officeDocument/2006/math">
                    <m:oMathParaPr>
                      <m:jc m:val="centerGroup"/>
                    </m:oMathParaPr>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𝑣</m:t>
                          </m:r>
                        </m:e>
                        <m:sub>
                          <m:r>
                            <a:rPr lang="en-US" altLang="ko-KR" b="0" i="1" smtClean="0">
                              <a:latin typeface="Cambria Math" panose="02040503050406030204" pitchFamily="18" charset="0"/>
                            </a:rPr>
                            <m:t>𝑡</m:t>
                          </m:r>
                          <m:r>
                            <a:rPr lang="en-US" altLang="ko-KR" b="0" i="1" smtClean="0">
                              <a:latin typeface="Cambria Math" panose="02040503050406030204" pitchFamily="18" charset="0"/>
                            </a:rPr>
                            <m:t>+1</m:t>
                          </m:r>
                        </m:sub>
                      </m:sSub>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𝑣</m:t>
                          </m:r>
                        </m:e>
                        <m:sub>
                          <m:r>
                            <a:rPr lang="en-US" altLang="ko-KR" b="0" i="1" smtClean="0">
                              <a:latin typeface="Cambria Math" panose="02040503050406030204" pitchFamily="18" charset="0"/>
                            </a:rPr>
                            <m:t>𝑡</m:t>
                          </m:r>
                        </m:sub>
                      </m:sSub>
                      <m:r>
                        <a:rPr lang="en-US" altLang="ko-KR" b="0" i="1" smtClean="0">
                          <a:latin typeface="Cambria Math" panose="02040503050406030204" pitchFamily="18" charset="0"/>
                        </a:rPr>
                        <m:t>+</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𝑐</m:t>
                          </m:r>
                        </m:e>
                        <m:sub>
                          <m:r>
                            <a:rPr lang="en-US" altLang="ko-KR" b="0" i="1" smtClean="0">
                              <a:latin typeface="Cambria Math" panose="02040503050406030204" pitchFamily="18" charset="0"/>
                            </a:rPr>
                            <m:t>1</m:t>
                          </m:r>
                        </m:sub>
                      </m:sSub>
                      <m:r>
                        <a:rPr lang="en-US" altLang="ko-KR" b="0" i="1" smtClean="0">
                          <a:latin typeface="Cambria Math" panose="02040503050406030204" pitchFamily="18" charset="0"/>
                        </a:rPr>
                        <m:t>𝑓</m:t>
                      </m:r>
                      <m:r>
                        <a:rPr lang="en-US" altLang="ko-KR" b="0" i="1" smtClean="0">
                          <a:latin typeface="Cambria Math" panose="02040503050406030204" pitchFamily="18" charset="0"/>
                        </a:rPr>
                        <m:t> −</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𝑐</m:t>
                          </m:r>
                        </m:e>
                        <m:sub>
                          <m:r>
                            <a:rPr lang="en-US" altLang="ko-KR" b="0" i="1" smtClean="0">
                              <a:latin typeface="Cambria Math" panose="02040503050406030204" pitchFamily="18" charset="0"/>
                            </a:rPr>
                            <m:t>2</m:t>
                          </m:r>
                        </m:sub>
                      </m:sSub>
                      <m:func>
                        <m:funcPr>
                          <m:ctrlPr>
                            <a:rPr lang="en-US" altLang="ko-KR" b="0" i="1" smtClean="0">
                              <a:latin typeface="Cambria Math" panose="02040503050406030204" pitchFamily="18" charset="0"/>
                            </a:rPr>
                          </m:ctrlPr>
                        </m:funcPr>
                        <m:fName>
                          <m:r>
                            <m:rPr>
                              <m:sty m:val="p"/>
                            </m:rPr>
                            <a:rPr lang="en-US" altLang="ko-KR" b="0" i="0" smtClean="0">
                              <a:latin typeface="Cambria Math" panose="02040503050406030204" pitchFamily="18" charset="0"/>
                            </a:rPr>
                            <m:t>cos</m:t>
                          </m:r>
                        </m:fName>
                        <m:e>
                          <m:r>
                            <a:rPr lang="en-US" altLang="ko-KR" b="0" i="1" smtClean="0">
                              <a:latin typeface="Cambria Math" panose="02040503050406030204" pitchFamily="18" charset="0"/>
                            </a:rPr>
                            <m:t>3</m:t>
                          </m:r>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𝑝</m:t>
                              </m:r>
                            </m:e>
                            <m:sub>
                              <m:r>
                                <a:rPr lang="en-US" altLang="ko-KR" b="0" i="1" smtClean="0">
                                  <a:latin typeface="Cambria Math" panose="02040503050406030204" pitchFamily="18" charset="0"/>
                                </a:rPr>
                                <m:t>𝑡</m:t>
                              </m:r>
                            </m:sub>
                          </m:sSub>
                        </m:e>
                      </m:func>
                    </m:oMath>
                  </m:oMathPara>
                </a14:m>
                <a:endParaRPr lang="en-US" altLang="ko-KR" dirty="0"/>
              </a:p>
              <a:p>
                <a:pPr algn="ctr"/>
                <a14:m>
                  <m:oMath xmlns:m="http://schemas.openxmlformats.org/officeDocument/2006/math">
                    <m:sSub>
                      <m:sSubPr>
                        <m:ctrlPr>
                          <a:rPr lang="en-US" altLang="ko-KR" i="1" dirty="0" smtClean="0">
                            <a:latin typeface="Cambria Math" panose="02040503050406030204" pitchFamily="18" charset="0"/>
                          </a:rPr>
                        </m:ctrlPr>
                      </m:sSubPr>
                      <m:e>
                        <m:r>
                          <a:rPr lang="en-US" altLang="ko-KR" i="1" dirty="0" smtClean="0">
                            <a:latin typeface="Cambria Math" panose="02040503050406030204" pitchFamily="18" charset="0"/>
                          </a:rPr>
                          <m:t>𝑝</m:t>
                        </m:r>
                      </m:e>
                      <m:sub>
                        <m:r>
                          <a:rPr lang="en-US" altLang="ko-KR" i="1" dirty="0" smtClean="0">
                            <a:latin typeface="Cambria Math" panose="02040503050406030204" pitchFamily="18" charset="0"/>
                          </a:rPr>
                          <m:t>𝑡</m:t>
                        </m:r>
                        <m:r>
                          <a:rPr lang="en-US" altLang="ko-KR" b="0" i="1" dirty="0" smtClean="0">
                            <a:latin typeface="Cambria Math" panose="02040503050406030204" pitchFamily="18" charset="0"/>
                          </a:rPr>
                          <m:t>+1</m:t>
                        </m:r>
                      </m:sub>
                    </m:sSub>
                    <m:r>
                      <a:rPr lang="en-US" altLang="ko-KR" b="0" i="1" dirty="0" smtClean="0">
                        <a:latin typeface="Cambria Math" panose="02040503050406030204" pitchFamily="18" charset="0"/>
                      </a:rPr>
                      <m:t>=</m:t>
                    </m:r>
                    <m:sSub>
                      <m:sSubPr>
                        <m:ctrlPr>
                          <a:rPr lang="en-US" altLang="ko-KR" b="0" i="1" dirty="0" smtClean="0">
                            <a:latin typeface="Cambria Math" panose="02040503050406030204" pitchFamily="18" charset="0"/>
                          </a:rPr>
                        </m:ctrlPr>
                      </m:sSubPr>
                      <m:e>
                        <m:r>
                          <a:rPr lang="en-US" altLang="ko-KR" b="0" i="1" dirty="0" smtClean="0">
                            <a:latin typeface="Cambria Math" panose="02040503050406030204" pitchFamily="18" charset="0"/>
                          </a:rPr>
                          <m:t>𝑝</m:t>
                        </m:r>
                      </m:e>
                      <m:sub>
                        <m:r>
                          <a:rPr lang="en-US" altLang="ko-KR" b="0" i="1" dirty="0" smtClean="0">
                            <a:latin typeface="Cambria Math" panose="02040503050406030204" pitchFamily="18" charset="0"/>
                          </a:rPr>
                          <m:t>𝑡</m:t>
                        </m:r>
                      </m:sub>
                    </m:sSub>
                    <m:r>
                      <a:rPr lang="en-US" altLang="ko-KR" b="0" i="1" dirty="0" smtClean="0">
                        <a:latin typeface="Cambria Math" panose="02040503050406030204" pitchFamily="18" charset="0"/>
                      </a:rPr>
                      <m:t>+</m:t>
                    </m:r>
                    <m:sSub>
                      <m:sSubPr>
                        <m:ctrlPr>
                          <a:rPr lang="en-US" altLang="ko-KR" b="0" i="1" dirty="0" smtClean="0">
                            <a:latin typeface="Cambria Math" panose="02040503050406030204" pitchFamily="18" charset="0"/>
                          </a:rPr>
                        </m:ctrlPr>
                      </m:sSubPr>
                      <m:e>
                        <m:r>
                          <a:rPr lang="en-US" altLang="ko-KR" b="0" i="1" dirty="0" smtClean="0">
                            <a:latin typeface="Cambria Math" panose="02040503050406030204" pitchFamily="18" charset="0"/>
                          </a:rPr>
                          <m:t>𝑣</m:t>
                        </m:r>
                      </m:e>
                      <m:sub>
                        <m:r>
                          <a:rPr lang="en-US" altLang="ko-KR" b="0" i="1" dirty="0" smtClean="0">
                            <a:latin typeface="Cambria Math" panose="02040503050406030204" pitchFamily="18" charset="0"/>
                          </a:rPr>
                          <m:t>𝑡</m:t>
                        </m:r>
                        <m:r>
                          <a:rPr lang="en-US" altLang="ko-KR" b="0" i="1" dirty="0" smtClean="0">
                            <a:latin typeface="Cambria Math" panose="02040503050406030204" pitchFamily="18" charset="0"/>
                          </a:rPr>
                          <m:t>+1</m:t>
                        </m:r>
                      </m:sub>
                    </m:sSub>
                  </m:oMath>
                </a14:m>
                <a:r>
                  <a:rPr lang="en-US" altLang="ko-KR" dirty="0"/>
                  <a:t>  </a:t>
                </a:r>
              </a:p>
              <a:p>
                <a:pPr marL="180000" indent="-180000">
                  <a:buFont typeface="Arial" panose="020B0604020202020204" pitchFamily="34" charset="0"/>
                  <a:buChar char="•"/>
                </a:pPr>
                <a:r>
                  <a:rPr lang="en-US" altLang="ko-KR" dirty="0"/>
                  <a:t>rewards</a:t>
                </a:r>
              </a:p>
              <a:p>
                <a:pPr algn="ctr"/>
                <a14:m>
                  <m:oMathPara xmlns:m="http://schemas.openxmlformats.org/officeDocument/2006/math">
                    <m:oMathParaPr>
                      <m:jc m:val="centerGroup"/>
                    </m:oMathParaPr>
                    <m:oMath xmlns:m="http://schemas.openxmlformats.org/officeDocument/2006/math">
                      <m:sSub>
                        <m:sSubPr>
                          <m:ctrlPr>
                            <a:rPr lang="en-US" altLang="ko-KR" b="0" i="1" smtClean="0">
                              <a:latin typeface="Cambria Math" panose="02040503050406030204" pitchFamily="18" charset="0"/>
                            </a:rPr>
                          </m:ctrlPr>
                        </m:sSubPr>
                        <m:e>
                          <m:r>
                            <a:rPr lang="en-US" altLang="ko-KR" b="0" i="1" smtClean="0">
                              <a:latin typeface="Cambria Math" panose="02040503050406030204" pitchFamily="18" charset="0"/>
                            </a:rPr>
                            <m:t>𝑟</m:t>
                          </m:r>
                        </m:e>
                        <m:sub>
                          <m:r>
                            <a:rPr lang="en-US" altLang="ko-KR" b="0" i="1" smtClean="0">
                              <a:latin typeface="Cambria Math" panose="02040503050406030204" pitchFamily="18" charset="0"/>
                            </a:rPr>
                            <m:t>𝑡</m:t>
                          </m:r>
                          <m:r>
                            <a:rPr lang="en-US" altLang="ko-KR" b="0" i="1" smtClean="0">
                              <a:latin typeface="Cambria Math" panose="02040503050406030204" pitchFamily="18" charset="0"/>
                            </a:rPr>
                            <m:t>+1</m:t>
                          </m:r>
                        </m:sub>
                      </m:sSub>
                      <m:r>
                        <a:rPr lang="en-US" altLang="ko-KR" b="0" i="1" smtClean="0">
                          <a:latin typeface="Cambria Math" panose="02040503050406030204" pitchFamily="18" charset="0"/>
                        </a:rPr>
                        <m:t>=</m:t>
                      </m:r>
                      <m:d>
                        <m:dPr>
                          <m:begChr m:val="{"/>
                          <m:endChr m:val=""/>
                          <m:ctrlPr>
                            <a:rPr lang="en-US" altLang="ko-KR" b="0" i="1" smtClean="0">
                              <a:latin typeface="Cambria Math" panose="02040503050406030204" pitchFamily="18" charset="0"/>
                            </a:rPr>
                          </m:ctrlPr>
                        </m:dPr>
                        <m:e>
                          <m:eqArr>
                            <m:eqArrPr>
                              <m:ctrlPr>
                                <a:rPr lang="en-US" altLang="ko-KR" b="0" i="1" smtClean="0">
                                  <a:latin typeface="Cambria Math" panose="02040503050406030204" pitchFamily="18" charset="0"/>
                                </a:rPr>
                              </m:ctrlPr>
                            </m:eqArrPr>
                            <m:e>
                              <m:r>
                                <a:rPr lang="en-US" altLang="ko-KR" b="0" i="1" smtClean="0">
                                  <a:latin typeface="Cambria Math" panose="02040503050406030204" pitchFamily="18" charset="0"/>
                                </a:rPr>
                                <m:t>100      </m:t>
                              </m:r>
                              <m:r>
                                <a:rPr lang="en-US" altLang="ko-KR" i="1">
                                  <a:latin typeface="Cambria Math" panose="02040503050406030204" pitchFamily="18" charset="0"/>
                                </a:rPr>
                                <m:t>(</m:t>
                              </m:r>
                              <m:r>
                                <m:rPr>
                                  <m:nor/>
                                </m:rPr>
                                <a:rPr lang="en-US" altLang="ko-KR">
                                  <a:latin typeface="Cambria Math" panose="02040503050406030204" pitchFamily="18" charset="0"/>
                                </a:rPr>
                                <m:t>if</m:t>
                              </m:r>
                              <m:r>
                                <m:rPr>
                                  <m:nor/>
                                </m:rPr>
                                <a:rPr lang="en-US" altLang="ko-KR">
                                  <a:latin typeface="Cambria Math" panose="02040503050406030204" pitchFamily="18" charset="0"/>
                                </a:rPr>
                                <m:t> </m:t>
                              </m:r>
                              <m:r>
                                <m:rPr>
                                  <m:nor/>
                                </m:rPr>
                                <a:rPr lang="en-US" altLang="ko-KR">
                                  <a:latin typeface="Cambria Math" panose="02040503050406030204" pitchFamily="18" charset="0"/>
                                </a:rPr>
                                <m:t>done</m:t>
                              </m:r>
                              <m:r>
                                <m:rPr>
                                  <m:nor/>
                                </m:rPr>
                                <a:rPr lang="en-US" altLang="ko-KR">
                                  <a:latin typeface="Cambria Math" panose="02040503050406030204" pitchFamily="18" charset="0"/>
                                </a:rPr>
                                <m:t>)</m:t>
                              </m:r>
                            </m:e>
                            <m:e>
                              <m:r>
                                <a:rPr lang="en-US" altLang="ko-KR" b="0" i="1" smtClean="0">
                                  <a:latin typeface="Cambria Math" panose="02040503050406030204" pitchFamily="18" charset="0"/>
                                </a:rPr>
                                <m:t>−0.1</m:t>
                              </m:r>
                              <m:sSubSup>
                                <m:sSubSupPr>
                                  <m:ctrlPr>
                                    <a:rPr lang="en-US" altLang="ko-KR" b="0" i="1" smtClean="0">
                                      <a:latin typeface="Cambria Math" panose="02040503050406030204" pitchFamily="18" charset="0"/>
                                    </a:rPr>
                                  </m:ctrlPr>
                                </m:sSubSupPr>
                                <m:e>
                                  <m:r>
                                    <a:rPr lang="en-US" altLang="ko-KR" b="0" i="1" smtClean="0">
                                      <a:latin typeface="Cambria Math" panose="02040503050406030204" pitchFamily="18" charset="0"/>
                                    </a:rPr>
                                    <m:t>𝑎</m:t>
                                  </m:r>
                                </m:e>
                                <m:sub>
                                  <m:r>
                                    <a:rPr lang="en-US" altLang="ko-KR" b="0" i="1" smtClean="0">
                                      <a:latin typeface="Cambria Math" panose="02040503050406030204" pitchFamily="18" charset="0"/>
                                    </a:rPr>
                                    <m:t>𝑡</m:t>
                                  </m:r>
                                </m:sub>
                                <m:sup>
                                  <m:r>
                                    <a:rPr lang="en-US" altLang="ko-KR" b="0" i="1" smtClean="0">
                                      <a:latin typeface="Cambria Math" panose="02040503050406030204" pitchFamily="18" charset="0"/>
                                    </a:rPr>
                                    <m:t>2</m:t>
                                  </m:r>
                                </m:sup>
                              </m:sSubSup>
                              <m:r>
                                <a:rPr lang="en-US" altLang="ko-KR" b="0" i="1" smtClean="0">
                                  <a:latin typeface="Cambria Math" panose="02040503050406030204" pitchFamily="18" charset="0"/>
                                </a:rPr>
                                <m:t>     (</m:t>
                              </m:r>
                              <m:r>
                                <m:rPr>
                                  <m:nor/>
                                </m:rPr>
                                <a:rPr lang="en-US" altLang="ko-KR" b="0" i="0" smtClean="0">
                                  <a:latin typeface="Cambria Math" panose="02040503050406030204" pitchFamily="18" charset="0"/>
                                </a:rPr>
                                <m:t>otherwise</m:t>
                              </m:r>
                              <m:r>
                                <m:rPr>
                                  <m:nor/>
                                </m:rPr>
                                <a:rPr lang="en-US" altLang="ko-KR" b="0" i="0" smtClean="0">
                                  <a:latin typeface="Cambria Math" panose="02040503050406030204" pitchFamily="18" charset="0"/>
                                </a:rPr>
                                <m:t>)</m:t>
                              </m:r>
                            </m:e>
                          </m:eqArr>
                        </m:e>
                      </m:d>
                    </m:oMath>
                  </m:oMathPara>
                </a14:m>
                <a:endParaRPr lang="en-US" altLang="ko-KR" dirty="0"/>
              </a:p>
              <a:p>
                <a:pPr algn="ctr"/>
                <a:endParaRPr lang="en-US" altLang="ko-KR" dirty="0"/>
              </a:p>
              <a:p>
                <a:r>
                  <a:rPr lang="en-US" altLang="ko-KR" dirty="0" err="1"/>
                  <a:t>MountainCar</a:t>
                </a:r>
                <a:r>
                  <a:rPr lang="en-US" altLang="ko-KR" dirty="0"/>
                  <a:t> </a:t>
                </a:r>
                <a:r>
                  <a:rPr lang="ko-KR" altLang="en-US" dirty="0"/>
                  <a:t>문제에 </a:t>
                </a:r>
                <a:r>
                  <a:rPr lang="en-US" altLang="ko-KR" dirty="0"/>
                  <a:t>DDPG</a:t>
                </a:r>
                <a:r>
                  <a:rPr lang="ko-KR" altLang="en-US" dirty="0"/>
                  <a:t>를 적용했을 때 </a:t>
                </a:r>
                <a:r>
                  <a:rPr lang="en-US" altLang="ko-KR" dirty="0"/>
                  <a:t>reward</a:t>
                </a:r>
                <a:r>
                  <a:rPr lang="ko-KR" altLang="en-US" dirty="0"/>
                  <a:t>가 안정적으로 증가하는 것이 관찰됨</a:t>
                </a:r>
                <a:endParaRPr lang="en-US" altLang="ko-KR" dirty="0"/>
              </a:p>
              <a:p>
                <a:pPr algn="ctr"/>
                <a:endParaRPr lang="ko-KR" altLang="en-US" dirty="0"/>
              </a:p>
            </p:txBody>
          </p:sp>
        </mc:Choice>
        <mc:Fallback xmlns="">
          <p:sp>
            <p:nvSpPr>
              <p:cNvPr id="3" name="텍스트 개체 틀 2">
                <a:extLst>
                  <a:ext uri="{FF2B5EF4-FFF2-40B4-BE49-F238E27FC236}">
                    <a16:creationId xmlns:a16="http://schemas.microsoft.com/office/drawing/2014/main" id="{FF60CC2A-B558-6322-236C-F35826F47D5B}"/>
                  </a:ext>
                </a:extLst>
              </p:cNvPr>
              <p:cNvSpPr>
                <a:spLocks noGrp="1" noRot="1" noChangeAspect="1" noMove="1" noResize="1" noEditPoints="1" noAdjustHandles="1" noChangeArrowheads="1" noChangeShapeType="1" noTextEdit="1"/>
              </p:cNvSpPr>
              <p:nvPr>
                <p:ph type="body" sz="quarter" idx="11"/>
              </p:nvPr>
            </p:nvSpPr>
            <p:spPr>
              <a:xfrm>
                <a:off x="440967" y="1047470"/>
                <a:ext cx="7345035" cy="2954161"/>
              </a:xfrm>
              <a:blipFill>
                <a:blip r:embed="rId2"/>
                <a:stretch>
                  <a:fillRect l="-498" t="-826"/>
                </a:stretch>
              </a:blipFill>
            </p:spPr>
            <p:txBody>
              <a:bodyPr/>
              <a:lstStyle/>
              <a:p>
                <a:r>
                  <a:rPr lang="ko-KR" altLang="en-US">
                    <a:noFill/>
                  </a:rPr>
                  <a:t> </a:t>
                </a:r>
              </a:p>
            </p:txBody>
          </p:sp>
        </mc:Fallback>
      </mc:AlternateContent>
      <p:sp>
        <p:nvSpPr>
          <p:cNvPr id="4" name="제목 3">
            <a:extLst>
              <a:ext uri="{FF2B5EF4-FFF2-40B4-BE49-F238E27FC236}">
                <a16:creationId xmlns:a16="http://schemas.microsoft.com/office/drawing/2014/main" id="{475F3B3A-29DB-FB64-53AA-46C17345BA51}"/>
              </a:ext>
            </a:extLst>
          </p:cNvPr>
          <p:cNvSpPr>
            <a:spLocks noGrp="1"/>
          </p:cNvSpPr>
          <p:nvPr>
            <p:ph type="title"/>
          </p:nvPr>
        </p:nvSpPr>
        <p:spPr/>
        <p:txBody>
          <a:bodyPr/>
          <a:lstStyle/>
          <a:p>
            <a:r>
              <a:rPr lang="en-US" altLang="ko-KR" dirty="0"/>
              <a:t>1.2 </a:t>
            </a:r>
            <a:r>
              <a:rPr lang="ko-KR" altLang="en-US" dirty="0"/>
              <a:t>강화학습 예제 코드 작성 </a:t>
            </a:r>
            <a:r>
              <a:rPr lang="en-US" altLang="ko-KR" dirty="0"/>
              <a:t>: DDPG - </a:t>
            </a:r>
            <a:r>
              <a:rPr lang="en-US" altLang="ko-KR" dirty="0" err="1"/>
              <a:t>MountainCar</a:t>
            </a:r>
            <a:endParaRPr lang="ko-KR" altLang="en-US" dirty="0"/>
          </a:p>
        </p:txBody>
      </p:sp>
      <p:sp>
        <p:nvSpPr>
          <p:cNvPr id="5" name="텍스트 개체 틀 4">
            <a:extLst>
              <a:ext uri="{FF2B5EF4-FFF2-40B4-BE49-F238E27FC236}">
                <a16:creationId xmlns:a16="http://schemas.microsoft.com/office/drawing/2014/main" id="{1E20CD26-8797-9C07-CCC4-EE1106B4D84E}"/>
              </a:ext>
            </a:extLst>
          </p:cNvPr>
          <p:cNvSpPr>
            <a:spLocks noGrp="1"/>
          </p:cNvSpPr>
          <p:nvPr>
            <p:ph type="body" sz="quarter" idx="12"/>
          </p:nvPr>
        </p:nvSpPr>
        <p:spPr/>
        <p:txBody>
          <a:bodyPr/>
          <a:lstStyle/>
          <a:p>
            <a:r>
              <a:rPr lang="ko-KR" altLang="en-US" dirty="0"/>
              <a:t>서부발전</a:t>
            </a:r>
          </a:p>
        </p:txBody>
      </p:sp>
      <p:pic>
        <p:nvPicPr>
          <p:cNvPr id="6" name="그림 5" descr="스케치, 디자인, 예술이(가) 표시된 사진&#10;&#10;AI 생성 콘텐츠는 정확하지 않을 수 있습니다.">
            <a:extLst>
              <a:ext uri="{FF2B5EF4-FFF2-40B4-BE49-F238E27FC236}">
                <a16:creationId xmlns:a16="http://schemas.microsoft.com/office/drawing/2014/main" id="{2FF537BB-E368-E3A4-8E04-2A0DA5FC4F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3316" y="1201379"/>
            <a:ext cx="2678061" cy="1785374"/>
          </a:xfrm>
          <a:prstGeom prst="rect">
            <a:avLst/>
          </a:prstGeom>
        </p:spPr>
      </p:pic>
      <p:pic>
        <p:nvPicPr>
          <p:cNvPr id="20" name="그림 19" descr="라인, 텍스트, 그래프, 도표이(가) 표시된 사진&#10;&#10;AI 생성 콘텐츠는 정확하지 않을 수 있습니다.">
            <a:extLst>
              <a:ext uri="{FF2B5EF4-FFF2-40B4-BE49-F238E27FC236}">
                <a16:creationId xmlns:a16="http://schemas.microsoft.com/office/drawing/2014/main" id="{EA4C3FA8-679E-C88D-6DFC-80129C7375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8865" y="3688282"/>
            <a:ext cx="6627137" cy="2209046"/>
          </a:xfrm>
          <a:prstGeom prst="rect">
            <a:avLst/>
          </a:prstGeom>
        </p:spPr>
      </p:pic>
    </p:spTree>
    <p:extLst>
      <p:ext uri="{BB962C8B-B14F-4D97-AF65-F5344CB8AC3E}">
        <p14:creationId xmlns:p14="http://schemas.microsoft.com/office/powerpoint/2010/main" val="3166108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49C82-0ED2-6B55-3F1A-C82EC6671EC6}"/>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DB497676-7B53-0D25-EE48-7FCF33D6C0AA}"/>
              </a:ext>
            </a:extLst>
          </p:cNvPr>
          <p:cNvSpPr>
            <a:spLocks noGrp="1"/>
          </p:cNvSpPr>
          <p:nvPr>
            <p:ph type="body" sz="quarter" idx="10"/>
          </p:nvPr>
        </p:nvSpPr>
        <p:spPr/>
        <p:txBody>
          <a:bodyPr/>
          <a:lstStyle/>
          <a:p>
            <a:pPr marL="0" indent="0">
              <a:buNone/>
            </a:pPr>
            <a:r>
              <a:rPr lang="ko-KR" altLang="en-US" dirty="0">
                <a:latin typeface="+mn-ea"/>
              </a:rPr>
              <a:t>서부발전 문제 해결방안 </a:t>
            </a:r>
            <a:r>
              <a:rPr lang="en-US" altLang="ko-KR" dirty="0">
                <a:latin typeface="+mn-ea"/>
              </a:rPr>
              <a:t>(</a:t>
            </a:r>
            <a:r>
              <a:rPr lang="ko-KR" altLang="en-US" dirty="0">
                <a:latin typeface="+mn-ea"/>
              </a:rPr>
              <a:t>파이썬</a:t>
            </a:r>
            <a:r>
              <a:rPr lang="en-US" altLang="ko-KR" dirty="0">
                <a:latin typeface="+mn-ea"/>
              </a:rPr>
              <a:t>)</a:t>
            </a:r>
            <a:endParaRPr lang="ko-KR" altLang="en-US" dirty="0">
              <a:latin typeface="+mn-ea"/>
            </a:endParaRPr>
          </a:p>
        </p:txBody>
      </p:sp>
      <p:sp>
        <p:nvSpPr>
          <p:cNvPr id="4" name="제목 3">
            <a:extLst>
              <a:ext uri="{FF2B5EF4-FFF2-40B4-BE49-F238E27FC236}">
                <a16:creationId xmlns:a16="http://schemas.microsoft.com/office/drawing/2014/main" id="{F837CD65-5984-E447-548A-D551EC8CDD62}"/>
              </a:ext>
            </a:extLst>
          </p:cNvPr>
          <p:cNvSpPr>
            <a:spLocks noGrp="1"/>
          </p:cNvSpPr>
          <p:nvPr>
            <p:ph type="title"/>
          </p:nvPr>
        </p:nvSpPr>
        <p:spPr/>
        <p:txBody>
          <a:bodyPr/>
          <a:lstStyle/>
          <a:p>
            <a:r>
              <a:rPr lang="en-US" altLang="ko-KR" dirty="0">
                <a:latin typeface="+mn-ea"/>
                <a:ea typeface="+mn-ea"/>
              </a:rPr>
              <a:t>1.3 </a:t>
            </a:r>
            <a:r>
              <a:rPr lang="ko-KR" altLang="en-US" dirty="0">
                <a:latin typeface="+mn-ea"/>
                <a:ea typeface="+mn-ea"/>
              </a:rPr>
              <a:t>서부발전 문제 적용 </a:t>
            </a:r>
            <a:r>
              <a:rPr lang="en-US" altLang="ko-KR" dirty="0">
                <a:latin typeface="+mn-ea"/>
                <a:ea typeface="+mn-ea"/>
              </a:rPr>
              <a:t>: </a:t>
            </a:r>
            <a:r>
              <a:rPr lang="ko-KR" altLang="en-US" dirty="0">
                <a:latin typeface="+mn-ea"/>
                <a:ea typeface="+mn-ea"/>
              </a:rPr>
              <a:t>해결방안</a:t>
            </a:r>
          </a:p>
        </p:txBody>
      </p:sp>
      <p:sp>
        <p:nvSpPr>
          <p:cNvPr id="5" name="텍스트 개체 틀 4">
            <a:extLst>
              <a:ext uri="{FF2B5EF4-FFF2-40B4-BE49-F238E27FC236}">
                <a16:creationId xmlns:a16="http://schemas.microsoft.com/office/drawing/2014/main" id="{552580CE-6718-767F-6A4E-9C0EBCE0767C}"/>
              </a:ext>
            </a:extLst>
          </p:cNvPr>
          <p:cNvSpPr>
            <a:spLocks noGrp="1"/>
          </p:cNvSpPr>
          <p:nvPr>
            <p:ph type="body" sz="quarter" idx="12"/>
          </p:nvPr>
        </p:nvSpPr>
        <p:spPr/>
        <p:txBody>
          <a:bodyPr/>
          <a:lstStyle/>
          <a:p>
            <a:r>
              <a:rPr lang="ko-KR" altLang="en-US" dirty="0">
                <a:latin typeface="+mn-ea"/>
                <a:ea typeface="+mn-ea"/>
              </a:rPr>
              <a:t>서부발전</a:t>
            </a:r>
          </a:p>
        </p:txBody>
      </p:sp>
      <p:sp>
        <p:nvSpPr>
          <p:cNvPr id="3" name="텍스트 개체 틀 5">
            <a:extLst>
              <a:ext uri="{FF2B5EF4-FFF2-40B4-BE49-F238E27FC236}">
                <a16:creationId xmlns:a16="http://schemas.microsoft.com/office/drawing/2014/main" id="{7E746699-D6E3-49C4-45FF-4E3B6A31BB98}"/>
              </a:ext>
            </a:extLst>
          </p:cNvPr>
          <p:cNvSpPr txBox="1">
            <a:spLocks/>
          </p:cNvSpPr>
          <p:nvPr/>
        </p:nvSpPr>
        <p:spPr>
          <a:xfrm>
            <a:off x="209707" y="1047296"/>
            <a:ext cx="9558981" cy="1335689"/>
          </a:xfrm>
          <a:prstGeom prst="rect">
            <a:avLst/>
          </a:prstGeom>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80000" lvl="1" indent="0">
              <a:buNone/>
            </a:pPr>
            <a:r>
              <a:rPr kumimoji="0" lang="en-US" altLang="ko-KR" sz="1400" b="0" dirty="0">
                <a:latin typeface="+mn-ea"/>
              </a:rPr>
              <a:t>next state</a:t>
            </a:r>
            <a:r>
              <a:rPr kumimoji="0" lang="ko-KR" altLang="en-US" sz="1400" b="0" dirty="0">
                <a:latin typeface="+mn-ea"/>
              </a:rPr>
              <a:t>를 얻지 못한다는 문제는 다음의 두 방향으로 해결할 수 있다</a:t>
            </a:r>
            <a:r>
              <a:rPr kumimoji="0" lang="en-US" altLang="ko-KR" sz="1400" b="0" dirty="0">
                <a:latin typeface="+mn-ea"/>
              </a:rPr>
              <a:t>. 1</a:t>
            </a:r>
            <a:r>
              <a:rPr kumimoji="0" lang="ko-KR" altLang="en-US" sz="1400" b="0" dirty="0">
                <a:latin typeface="+mn-ea"/>
              </a:rPr>
              <a:t>안은 </a:t>
            </a:r>
            <a:r>
              <a:rPr kumimoji="0" lang="en-US" altLang="ko-KR" sz="1400" b="0" dirty="0">
                <a:latin typeface="+mn-ea"/>
              </a:rPr>
              <a:t>next state</a:t>
            </a:r>
            <a:r>
              <a:rPr kumimoji="0" lang="ko-KR" altLang="en-US" sz="1400" b="0" dirty="0">
                <a:latin typeface="+mn-ea"/>
              </a:rPr>
              <a:t>를 얻는 </a:t>
            </a:r>
            <a:r>
              <a:rPr kumimoji="0" lang="en-US" altLang="ko-KR" sz="1400" b="0" dirty="0">
                <a:latin typeface="+mn-ea"/>
              </a:rPr>
              <a:t>state transition model(surrogate model)</a:t>
            </a:r>
            <a:r>
              <a:rPr kumimoji="0" lang="ko-KR" altLang="en-US" sz="1400" b="0" dirty="0">
                <a:latin typeface="+mn-ea"/>
              </a:rPr>
              <a:t>을 직접 구성하는 것이고 </a:t>
            </a:r>
            <a:r>
              <a:rPr kumimoji="0" lang="en-US" altLang="ko-KR" sz="1400" b="0" dirty="0">
                <a:latin typeface="+mn-ea"/>
              </a:rPr>
              <a:t>2</a:t>
            </a:r>
            <a:r>
              <a:rPr kumimoji="0" lang="ko-KR" altLang="en-US" sz="1400" b="0" dirty="0">
                <a:latin typeface="+mn-ea"/>
              </a:rPr>
              <a:t>안은 다음 행의 </a:t>
            </a:r>
            <a:r>
              <a:rPr kumimoji="0" lang="en-US" altLang="ko-KR" sz="1400" b="0" dirty="0">
                <a:latin typeface="+mn-ea"/>
              </a:rPr>
              <a:t>state</a:t>
            </a:r>
            <a:r>
              <a:rPr kumimoji="0" lang="ko-KR" altLang="en-US" sz="1400" b="0" dirty="0">
                <a:latin typeface="+mn-ea"/>
              </a:rPr>
              <a:t>를 </a:t>
            </a:r>
            <a:r>
              <a:rPr kumimoji="0" lang="en-US" altLang="ko-KR" sz="1400" b="0" dirty="0">
                <a:latin typeface="+mn-ea"/>
              </a:rPr>
              <a:t>next state</a:t>
            </a:r>
            <a:r>
              <a:rPr kumimoji="0" lang="ko-KR" altLang="en-US" sz="1400" b="0" dirty="0">
                <a:latin typeface="+mn-ea"/>
              </a:rPr>
              <a:t>로 치환하는 것이다 </a:t>
            </a:r>
            <a:r>
              <a:rPr kumimoji="0" lang="en-US" altLang="ko-KR" sz="1400" b="0" dirty="0">
                <a:latin typeface="+mn-ea"/>
              </a:rPr>
              <a:t>(Offline-RL). </a:t>
            </a:r>
            <a:r>
              <a:rPr kumimoji="0" lang="ko-KR" altLang="en-US" sz="1400" b="0" dirty="0" err="1">
                <a:latin typeface="+mn-ea"/>
              </a:rPr>
              <a:t>그밖에</a:t>
            </a:r>
            <a:r>
              <a:rPr kumimoji="0" lang="ko-KR" altLang="en-US" sz="1400" b="0" dirty="0">
                <a:latin typeface="+mn-ea"/>
              </a:rPr>
              <a:t> </a:t>
            </a:r>
            <a:r>
              <a:rPr kumimoji="0" lang="en-US" altLang="ko-KR" sz="1400" b="0" dirty="0">
                <a:latin typeface="+mn-ea"/>
              </a:rPr>
              <a:t>TB3+BC, BCQ, CQL, IQL </a:t>
            </a:r>
            <a:r>
              <a:rPr kumimoji="0" lang="ko-KR" altLang="en-US" sz="1400" b="0" dirty="0">
                <a:latin typeface="+mn-ea"/>
              </a:rPr>
              <a:t>등의 방법론도 </a:t>
            </a:r>
            <a:r>
              <a:rPr kumimoji="0" lang="en-US" altLang="ko-KR" sz="1400" b="0" dirty="0">
                <a:latin typeface="+mn-ea"/>
              </a:rPr>
              <a:t>(</a:t>
            </a:r>
            <a:r>
              <a:rPr kumimoji="0" lang="ko-KR" altLang="en-US" sz="1400" b="0" dirty="0">
                <a:latin typeface="+mn-ea"/>
              </a:rPr>
              <a:t>연구소 측에서</a:t>
            </a:r>
            <a:r>
              <a:rPr kumimoji="0" lang="en-US" altLang="ko-KR" sz="1400" b="0" dirty="0">
                <a:latin typeface="+mn-ea"/>
              </a:rPr>
              <a:t>)</a:t>
            </a:r>
            <a:r>
              <a:rPr kumimoji="0" lang="ko-KR" altLang="en-US" sz="1400" b="0" dirty="0">
                <a:latin typeface="+mn-ea"/>
              </a:rPr>
              <a:t> 거론되었다</a:t>
            </a:r>
            <a:r>
              <a:rPr kumimoji="0" lang="en-US" altLang="ko-KR" sz="1400" b="0" dirty="0">
                <a:latin typeface="+mn-ea"/>
              </a:rPr>
              <a:t>.</a:t>
            </a:r>
          </a:p>
        </p:txBody>
      </p:sp>
      <p:grpSp>
        <p:nvGrpSpPr>
          <p:cNvPr id="18" name="Group 5">
            <a:extLst>
              <a:ext uri="{FF2B5EF4-FFF2-40B4-BE49-F238E27FC236}">
                <a16:creationId xmlns:a16="http://schemas.microsoft.com/office/drawing/2014/main" id="{272E04D0-F0CB-9916-9E35-91ADC0EE994E}"/>
              </a:ext>
            </a:extLst>
          </p:cNvPr>
          <p:cNvGrpSpPr>
            <a:grpSpLocks/>
          </p:cNvGrpSpPr>
          <p:nvPr/>
        </p:nvGrpSpPr>
        <p:grpSpPr bwMode="auto">
          <a:xfrm>
            <a:off x="674931" y="2022210"/>
            <a:ext cx="1851025" cy="1012825"/>
            <a:chOff x="2400" y="1968"/>
            <a:chExt cx="1152" cy="576"/>
          </a:xfrm>
        </p:grpSpPr>
        <p:sp>
          <p:nvSpPr>
            <p:cNvPr id="19" name="Freeform 6">
              <a:extLst>
                <a:ext uri="{FF2B5EF4-FFF2-40B4-BE49-F238E27FC236}">
                  <a16:creationId xmlns:a16="http://schemas.microsoft.com/office/drawing/2014/main" id="{30008555-76FE-41C2-2FBB-A24C2932024D}"/>
                </a:ext>
              </a:extLst>
            </p:cNvPr>
            <p:cNvSpPr>
              <a:spLocks/>
            </p:cNvSpPr>
            <p:nvPr>
              <p:custDataLst>
                <p:tags r:id="rId5"/>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600" b="0" i="0" u="none" strike="noStrike" kern="0" cap="none" spc="0" normalizeH="0" baseline="0" noProof="0" dirty="0">
                <a:ln>
                  <a:noFill/>
                </a:ln>
                <a:solidFill>
                  <a:srgbClr val="000000"/>
                </a:solidFill>
                <a:effectLst/>
                <a:uLnTx/>
                <a:uFillTx/>
                <a:latin typeface="+mn-ea"/>
                <a:ea typeface="+mn-ea"/>
              </a:endParaRPr>
            </a:p>
          </p:txBody>
        </p:sp>
        <p:sp>
          <p:nvSpPr>
            <p:cNvPr id="20" name="Rectangle 7">
              <a:extLst>
                <a:ext uri="{FF2B5EF4-FFF2-40B4-BE49-F238E27FC236}">
                  <a16:creationId xmlns:a16="http://schemas.microsoft.com/office/drawing/2014/main" id="{F6E35002-E600-064C-ACA6-4B1AA5AC07AD}"/>
                </a:ext>
              </a:extLst>
            </p:cNvPr>
            <p:cNvSpPr>
              <a:spLocks noChangeArrowheads="1"/>
            </p:cNvSpPr>
            <p:nvPr>
              <p:custDataLst>
                <p:tags r:id="rId6"/>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0" marR="0" lvl="0" indent="0" defTabSz="895350" eaLnBrk="1" fontAlgn="auto" latinLnBrk="0" hangingPunct="1">
                <a:lnSpc>
                  <a:spcPct val="100000"/>
                </a:lnSpc>
                <a:spcBef>
                  <a:spcPts val="0"/>
                </a:spcBef>
                <a:spcAft>
                  <a:spcPts val="0"/>
                </a:spcAft>
                <a:buClrTx/>
                <a:buSzPct val="120000"/>
                <a:buFontTx/>
                <a:buNone/>
                <a:tabLst/>
                <a:defRPr/>
              </a:pPr>
              <a:r>
                <a:rPr kumimoji="0" lang="en-US" altLang="ko-KR" sz="1600" b="0" i="0" u="none" strike="noStrike" kern="0" cap="none" spc="0" normalizeH="0" baseline="0" noProof="0" dirty="0">
                  <a:ln>
                    <a:noFill/>
                  </a:ln>
                  <a:solidFill>
                    <a:srgbClr val="000000"/>
                  </a:solidFill>
                  <a:effectLst/>
                  <a:uLnTx/>
                  <a:uFillTx/>
                  <a:latin typeface="+mn-ea"/>
                  <a:ea typeface="+mn-ea"/>
                </a:rPr>
                <a:t>1</a:t>
              </a:r>
              <a:r>
                <a:rPr kumimoji="0" lang="en-US" altLang="ko-KR" b="0" kern="0" dirty="0">
                  <a:solidFill>
                    <a:srgbClr val="000000"/>
                  </a:solidFill>
                  <a:latin typeface="+mn-ea"/>
                  <a:ea typeface="+mn-ea"/>
                </a:rPr>
                <a:t>.</a:t>
              </a:r>
              <a:r>
                <a:rPr kumimoji="0" lang="ko-KR" altLang="en-US" b="0" kern="0" dirty="0">
                  <a:solidFill>
                    <a:srgbClr val="000000"/>
                  </a:solidFill>
                  <a:latin typeface="+mn-ea"/>
                  <a:ea typeface="+mn-ea"/>
                </a:rPr>
                <a:t> </a:t>
              </a:r>
              <a:r>
                <a:rPr kumimoji="0" lang="ko-KR" altLang="en-US" sz="1600" b="0" i="0" u="none" strike="noStrike" kern="0" cap="none" spc="0" normalizeH="0" baseline="0" noProof="0" dirty="0">
                  <a:ln>
                    <a:noFill/>
                  </a:ln>
                  <a:solidFill>
                    <a:srgbClr val="000000"/>
                  </a:solidFill>
                  <a:effectLst/>
                  <a:uLnTx/>
                  <a:uFillTx/>
                  <a:latin typeface="+mn-ea"/>
                  <a:ea typeface="+mn-ea"/>
                </a:rPr>
                <a:t>환경모델 생성</a:t>
              </a:r>
              <a:endParaRPr kumimoji="0" lang="en-US" altLang="ko-KR" sz="1600" b="0" i="0" u="none" strike="noStrike" kern="0" cap="none" spc="0" normalizeH="0" baseline="0" noProof="0" dirty="0">
                <a:ln>
                  <a:noFill/>
                </a:ln>
                <a:solidFill>
                  <a:srgbClr val="000000"/>
                </a:solidFill>
                <a:effectLst/>
                <a:uLnTx/>
                <a:uFillTx/>
                <a:latin typeface="+mn-ea"/>
                <a:ea typeface="+mn-ea"/>
              </a:endParaRPr>
            </a:p>
          </p:txBody>
        </p:sp>
      </p:grpSp>
      <p:sp>
        <p:nvSpPr>
          <p:cNvPr id="21" name="Rectangle 8">
            <a:extLst>
              <a:ext uri="{FF2B5EF4-FFF2-40B4-BE49-F238E27FC236}">
                <a16:creationId xmlns:a16="http://schemas.microsoft.com/office/drawing/2014/main" id="{1806C370-8FB3-93FF-242A-D5A37F2DE3D8}"/>
              </a:ext>
            </a:extLst>
          </p:cNvPr>
          <p:cNvSpPr>
            <a:spLocks noChangeArrowheads="1"/>
          </p:cNvSpPr>
          <p:nvPr/>
        </p:nvSpPr>
        <p:spPr bwMode="auto">
          <a:xfrm>
            <a:off x="2827581" y="2022210"/>
            <a:ext cx="5089525"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588" lvl="1" indent="0" latinLnBrk="0">
              <a:buNone/>
            </a:pPr>
            <a:r>
              <a:rPr kumimoji="0" lang="en-US" altLang="ko-KR" sz="1400" b="0" kern="0" dirty="0">
                <a:solidFill>
                  <a:srgbClr val="000000"/>
                </a:solidFill>
                <a:latin typeface="+mn-ea"/>
                <a:ea typeface="+mn-ea"/>
              </a:rPr>
              <a:t>historical data</a:t>
            </a:r>
            <a:r>
              <a:rPr kumimoji="0" lang="ko-KR" altLang="en-US" sz="1400" b="0" kern="0" dirty="0">
                <a:solidFill>
                  <a:srgbClr val="000000"/>
                </a:solidFill>
                <a:latin typeface="+mn-ea"/>
                <a:ea typeface="+mn-ea"/>
              </a:rPr>
              <a:t>를 사용해 </a:t>
            </a:r>
            <a:r>
              <a:rPr kumimoji="0" lang="en-US" altLang="ko-KR" sz="1400" b="0" kern="0" dirty="0">
                <a:solidFill>
                  <a:srgbClr val="000000"/>
                </a:solidFill>
                <a:latin typeface="+mn-ea"/>
                <a:ea typeface="+mn-ea"/>
              </a:rPr>
              <a:t>transition dynamics</a:t>
            </a:r>
            <a:r>
              <a:rPr kumimoji="0" lang="ko-KR" altLang="en-US" sz="1400" b="0" kern="0" dirty="0">
                <a:solidFill>
                  <a:srgbClr val="000000"/>
                </a:solidFill>
                <a:latin typeface="+mn-ea"/>
                <a:ea typeface="+mn-ea"/>
              </a:rPr>
              <a:t>를 최대한 근사한다</a:t>
            </a:r>
            <a:r>
              <a:rPr kumimoji="0" lang="en-US" altLang="ko-KR" sz="1400" b="0" kern="0" dirty="0">
                <a:solidFill>
                  <a:srgbClr val="000000"/>
                </a:solidFill>
                <a:latin typeface="+mn-ea"/>
                <a:ea typeface="+mn-ea"/>
              </a:rPr>
              <a:t>. </a:t>
            </a:r>
            <a:r>
              <a:rPr kumimoji="0" lang="ko-KR" altLang="en-US" sz="1400" b="0" kern="0" dirty="0">
                <a:solidFill>
                  <a:srgbClr val="000000"/>
                </a:solidFill>
                <a:latin typeface="+mn-ea"/>
                <a:ea typeface="+mn-ea"/>
              </a:rPr>
              <a:t>그러면 </a:t>
            </a:r>
            <a:r>
              <a:rPr kumimoji="0" lang="en-US" altLang="ko-KR" sz="1400" b="0" kern="0" dirty="0">
                <a:solidFill>
                  <a:srgbClr val="000000"/>
                </a:solidFill>
                <a:latin typeface="+mn-ea"/>
                <a:ea typeface="+mn-ea"/>
              </a:rPr>
              <a:t>next state</a:t>
            </a:r>
            <a:r>
              <a:rPr kumimoji="0" lang="ko-KR" altLang="en-US" sz="1400" b="0" kern="0" dirty="0">
                <a:solidFill>
                  <a:srgbClr val="000000"/>
                </a:solidFill>
                <a:latin typeface="+mn-ea"/>
                <a:ea typeface="+mn-ea"/>
              </a:rPr>
              <a:t>를 얻을 수 있으므로</a:t>
            </a:r>
            <a:r>
              <a:rPr kumimoji="0" lang="en-US" altLang="ko-KR" sz="1400" b="0" kern="0" dirty="0">
                <a:solidFill>
                  <a:srgbClr val="000000"/>
                </a:solidFill>
                <a:latin typeface="+mn-ea"/>
                <a:ea typeface="+mn-ea"/>
              </a:rPr>
              <a:t>, </a:t>
            </a:r>
            <a:r>
              <a:rPr kumimoji="0" lang="ko-KR" altLang="en-US" sz="1400" b="0" kern="0" dirty="0">
                <a:solidFill>
                  <a:srgbClr val="000000"/>
                </a:solidFill>
                <a:latin typeface="+mn-ea"/>
                <a:ea typeface="+mn-ea"/>
              </a:rPr>
              <a:t>정확히 </a:t>
            </a:r>
            <a:r>
              <a:rPr kumimoji="0" lang="en-US" altLang="ko-KR" sz="1400" b="0" kern="0" dirty="0" err="1">
                <a:solidFill>
                  <a:srgbClr val="000000"/>
                </a:solidFill>
                <a:latin typeface="+mn-ea"/>
                <a:ea typeface="+mn-ea"/>
              </a:rPr>
              <a:t>MountainCar</a:t>
            </a:r>
            <a:r>
              <a:rPr kumimoji="0" lang="en-US" altLang="ko-KR" sz="1400" b="0" kern="0" dirty="0">
                <a:solidFill>
                  <a:srgbClr val="000000"/>
                </a:solidFill>
                <a:latin typeface="+mn-ea"/>
                <a:ea typeface="+mn-ea"/>
              </a:rPr>
              <a:t> </a:t>
            </a:r>
            <a:r>
              <a:rPr kumimoji="0" lang="ko-KR" altLang="en-US" sz="1400" b="0" kern="0" dirty="0">
                <a:solidFill>
                  <a:srgbClr val="000000"/>
                </a:solidFill>
                <a:latin typeface="+mn-ea"/>
                <a:ea typeface="+mn-ea"/>
              </a:rPr>
              <a:t>와 같은 세팅 하에서 문제를 해결할 수 있음</a:t>
            </a:r>
            <a:r>
              <a:rPr kumimoji="0" lang="en-US" altLang="ko-KR" sz="1400" b="0" kern="0" dirty="0">
                <a:solidFill>
                  <a:srgbClr val="000000"/>
                </a:solidFill>
                <a:latin typeface="+mn-ea"/>
                <a:ea typeface="+mn-ea"/>
              </a:rPr>
              <a:t>.</a:t>
            </a:r>
          </a:p>
          <a:p>
            <a:pPr lvl="1" latinLnBrk="0"/>
            <a:endParaRPr kumimoji="0" lang="en-US" altLang="ko-KR" sz="1400" b="0" dirty="0">
              <a:solidFill>
                <a:srgbClr val="000000"/>
              </a:solidFill>
              <a:latin typeface="+mn-ea"/>
              <a:ea typeface="+mn-ea"/>
            </a:endParaRPr>
          </a:p>
        </p:txBody>
      </p:sp>
      <p:grpSp>
        <p:nvGrpSpPr>
          <p:cNvPr id="22" name="Group 9">
            <a:extLst>
              <a:ext uri="{FF2B5EF4-FFF2-40B4-BE49-F238E27FC236}">
                <a16:creationId xmlns:a16="http://schemas.microsoft.com/office/drawing/2014/main" id="{26F8EE12-4417-B1AD-89F1-0D1BB53EF3EC}"/>
              </a:ext>
            </a:extLst>
          </p:cNvPr>
          <p:cNvGrpSpPr>
            <a:grpSpLocks/>
          </p:cNvGrpSpPr>
          <p:nvPr/>
        </p:nvGrpSpPr>
        <p:grpSpPr bwMode="auto">
          <a:xfrm>
            <a:off x="674931" y="3476360"/>
            <a:ext cx="1851025" cy="1012825"/>
            <a:chOff x="2400" y="1968"/>
            <a:chExt cx="1152" cy="576"/>
          </a:xfrm>
        </p:grpSpPr>
        <p:sp>
          <p:nvSpPr>
            <p:cNvPr id="23" name="Freeform 10">
              <a:extLst>
                <a:ext uri="{FF2B5EF4-FFF2-40B4-BE49-F238E27FC236}">
                  <a16:creationId xmlns:a16="http://schemas.microsoft.com/office/drawing/2014/main" id="{281E086F-BE56-966B-1F2C-024716222A85}"/>
                </a:ext>
              </a:extLst>
            </p:cNvPr>
            <p:cNvSpPr>
              <a:spLocks/>
            </p:cNvSpPr>
            <p:nvPr>
              <p:custDataLst>
                <p:tags r:id="rId3"/>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600" b="0" i="0" u="none" strike="noStrike" kern="0" cap="none" spc="0" normalizeH="0" baseline="0" noProof="0">
                <a:ln>
                  <a:noFill/>
                </a:ln>
                <a:solidFill>
                  <a:srgbClr val="000000"/>
                </a:solidFill>
                <a:effectLst/>
                <a:uLnTx/>
                <a:uFillTx/>
                <a:latin typeface="+mn-ea"/>
                <a:ea typeface="+mn-ea"/>
              </a:endParaRPr>
            </a:p>
          </p:txBody>
        </p:sp>
        <p:sp>
          <p:nvSpPr>
            <p:cNvPr id="24" name="Rectangle 11">
              <a:extLst>
                <a:ext uri="{FF2B5EF4-FFF2-40B4-BE49-F238E27FC236}">
                  <a16:creationId xmlns:a16="http://schemas.microsoft.com/office/drawing/2014/main" id="{4D5F5B79-EA9F-0697-64B1-D082384777D4}"/>
                </a:ext>
              </a:extLst>
            </p:cNvPr>
            <p:cNvSpPr>
              <a:spLocks noChangeArrowheads="1"/>
            </p:cNvSpPr>
            <p:nvPr>
              <p:custDataLst>
                <p:tags r:id="rId4"/>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0" marR="0" lvl="0" indent="0" defTabSz="895350" eaLnBrk="1" fontAlgn="auto" latinLnBrk="0" hangingPunct="1">
                <a:lnSpc>
                  <a:spcPct val="100000"/>
                </a:lnSpc>
                <a:spcBef>
                  <a:spcPts val="0"/>
                </a:spcBef>
                <a:spcAft>
                  <a:spcPts val="0"/>
                </a:spcAft>
                <a:buClrTx/>
                <a:buSzPct val="120000"/>
                <a:buFontTx/>
                <a:buNone/>
                <a:tabLst/>
                <a:defRPr/>
              </a:pPr>
              <a:r>
                <a:rPr kumimoji="0" lang="en-US" altLang="ko-KR" sz="1600" b="0" i="0" u="none" strike="noStrike" kern="0" cap="none" spc="0" normalizeH="0" baseline="0" noProof="0" dirty="0">
                  <a:ln>
                    <a:noFill/>
                  </a:ln>
                  <a:solidFill>
                    <a:srgbClr val="000000"/>
                  </a:solidFill>
                  <a:effectLst/>
                  <a:uLnTx/>
                  <a:uFillTx/>
                  <a:latin typeface="+mn-ea"/>
                  <a:ea typeface="+mn-ea"/>
                </a:rPr>
                <a:t>2. Offline RL</a:t>
              </a:r>
            </a:p>
          </p:txBody>
        </p:sp>
      </p:grpSp>
      <p:sp>
        <p:nvSpPr>
          <p:cNvPr id="25" name="Rectangle 12">
            <a:extLst>
              <a:ext uri="{FF2B5EF4-FFF2-40B4-BE49-F238E27FC236}">
                <a16:creationId xmlns:a16="http://schemas.microsoft.com/office/drawing/2014/main" id="{5AEBEBE7-48DE-048B-9D1B-C49E3A0D459B}"/>
              </a:ext>
            </a:extLst>
          </p:cNvPr>
          <p:cNvSpPr>
            <a:spLocks noChangeArrowheads="1"/>
          </p:cNvSpPr>
          <p:nvPr/>
        </p:nvSpPr>
        <p:spPr bwMode="auto">
          <a:xfrm>
            <a:off x="2827581" y="3476360"/>
            <a:ext cx="508952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latinLnBrk="0"/>
            <a:r>
              <a:rPr kumimoji="0" lang="en-US" altLang="ko-KR" sz="1400" b="0" kern="0" dirty="0">
                <a:solidFill>
                  <a:srgbClr val="000000"/>
                </a:solidFill>
                <a:latin typeface="+mn-ea"/>
                <a:ea typeface="+mn-ea"/>
              </a:rPr>
              <a:t>next state</a:t>
            </a:r>
            <a:r>
              <a:rPr kumimoji="0" lang="ko-KR" altLang="en-US" sz="1400" b="0" kern="0" dirty="0">
                <a:solidFill>
                  <a:srgbClr val="000000"/>
                </a:solidFill>
                <a:latin typeface="+mn-ea"/>
                <a:ea typeface="+mn-ea"/>
              </a:rPr>
              <a:t>를 다음 행의 </a:t>
            </a:r>
            <a:r>
              <a:rPr kumimoji="0" lang="en-US" altLang="ko-KR" sz="1400" b="0" kern="0" dirty="0">
                <a:solidFill>
                  <a:srgbClr val="000000"/>
                </a:solidFill>
                <a:latin typeface="+mn-ea"/>
                <a:ea typeface="+mn-ea"/>
              </a:rPr>
              <a:t>state</a:t>
            </a:r>
            <a:r>
              <a:rPr kumimoji="0" lang="ko-KR" altLang="en-US" sz="1400" b="0" kern="0" dirty="0">
                <a:solidFill>
                  <a:srgbClr val="000000"/>
                </a:solidFill>
                <a:latin typeface="+mn-ea"/>
                <a:ea typeface="+mn-ea"/>
              </a:rPr>
              <a:t>로 두어서 학습한다</a:t>
            </a:r>
            <a:r>
              <a:rPr kumimoji="0" lang="en-US" altLang="ko-KR" sz="1400" b="0" kern="0" dirty="0">
                <a:solidFill>
                  <a:srgbClr val="000000"/>
                </a:solidFill>
                <a:latin typeface="+mn-ea"/>
                <a:ea typeface="+mn-ea"/>
              </a:rPr>
              <a:t>. </a:t>
            </a:r>
            <a:r>
              <a:rPr kumimoji="0" lang="ko-KR" altLang="en-US" sz="1400" b="0" kern="0" dirty="0">
                <a:solidFill>
                  <a:srgbClr val="000000"/>
                </a:solidFill>
                <a:latin typeface="+mn-ea"/>
                <a:ea typeface="+mn-ea"/>
              </a:rPr>
              <a:t>환경과 상호작용 없이 이미 수집된 데이터만으로 정책을 학습</a:t>
            </a:r>
            <a:r>
              <a:rPr kumimoji="0" lang="en-US" altLang="ko-KR" sz="1400" b="0" kern="0" dirty="0">
                <a:solidFill>
                  <a:srgbClr val="000000"/>
                </a:solidFill>
                <a:latin typeface="+mn-ea"/>
                <a:ea typeface="+mn-ea"/>
              </a:rPr>
              <a:t>.</a:t>
            </a:r>
            <a:endParaRPr kumimoji="0" lang="en-US" altLang="ko-KR" sz="1400" b="0" dirty="0">
              <a:solidFill>
                <a:srgbClr val="000000"/>
              </a:solidFill>
              <a:latin typeface="+mn-ea"/>
              <a:ea typeface="+mn-ea"/>
            </a:endParaRPr>
          </a:p>
        </p:txBody>
      </p:sp>
      <p:grpSp>
        <p:nvGrpSpPr>
          <p:cNvPr id="26" name="Group 13">
            <a:extLst>
              <a:ext uri="{FF2B5EF4-FFF2-40B4-BE49-F238E27FC236}">
                <a16:creationId xmlns:a16="http://schemas.microsoft.com/office/drawing/2014/main" id="{2E3F11DD-2F73-BDC9-6409-B70A70296227}"/>
              </a:ext>
            </a:extLst>
          </p:cNvPr>
          <p:cNvGrpSpPr>
            <a:grpSpLocks/>
          </p:cNvGrpSpPr>
          <p:nvPr/>
        </p:nvGrpSpPr>
        <p:grpSpPr bwMode="auto">
          <a:xfrm>
            <a:off x="674931" y="4930510"/>
            <a:ext cx="1851025" cy="1012825"/>
            <a:chOff x="2400" y="1968"/>
            <a:chExt cx="1152" cy="576"/>
          </a:xfrm>
        </p:grpSpPr>
        <p:sp>
          <p:nvSpPr>
            <p:cNvPr id="27" name="Freeform 14">
              <a:extLst>
                <a:ext uri="{FF2B5EF4-FFF2-40B4-BE49-F238E27FC236}">
                  <a16:creationId xmlns:a16="http://schemas.microsoft.com/office/drawing/2014/main" id="{6CC3A1EA-D9A7-0958-1CFD-59E543417889}"/>
                </a:ext>
              </a:extLst>
            </p:cNvPr>
            <p:cNvSpPr>
              <a:spLocks/>
            </p:cNvSpPr>
            <p:nvPr>
              <p:custDataLst>
                <p:tags r:id="rId1"/>
              </p:custDataLst>
            </p:nvPr>
          </p:nvSpPr>
          <p:spPr bwMode="blackWhite">
            <a:xfrm>
              <a:off x="2400" y="1968"/>
              <a:ext cx="1152" cy="576"/>
            </a:xfrm>
            <a:custGeom>
              <a:avLst/>
              <a:gdLst>
                <a:gd name="T0" fmla="*/ 0 w 1152"/>
                <a:gd name="T1" fmla="*/ 0 h 576"/>
                <a:gd name="T2" fmla="*/ 1048 w 1152"/>
                <a:gd name="T3" fmla="*/ 0 h 576"/>
                <a:gd name="T4" fmla="*/ 1152 w 1152"/>
                <a:gd name="T5" fmla="*/ 288 h 576"/>
                <a:gd name="T6" fmla="*/ 1048 w 1152"/>
                <a:gd name="T7" fmla="*/ 576 h 576"/>
                <a:gd name="T8" fmla="*/ 0 w 1152"/>
                <a:gd name="T9" fmla="*/ 576 h 576"/>
                <a:gd name="T10" fmla="*/ 0 w 1152"/>
                <a:gd name="T11" fmla="*/ 288 h 576"/>
                <a:gd name="T12" fmla="*/ 0 w 1152"/>
                <a:gd name="T13" fmla="*/ 0 h 576"/>
              </a:gdLst>
              <a:ahLst/>
              <a:cxnLst>
                <a:cxn ang="0">
                  <a:pos x="T0" y="T1"/>
                </a:cxn>
                <a:cxn ang="0">
                  <a:pos x="T2" y="T3"/>
                </a:cxn>
                <a:cxn ang="0">
                  <a:pos x="T4" y="T5"/>
                </a:cxn>
                <a:cxn ang="0">
                  <a:pos x="T6" y="T7"/>
                </a:cxn>
                <a:cxn ang="0">
                  <a:pos x="T8" y="T9"/>
                </a:cxn>
                <a:cxn ang="0">
                  <a:pos x="T10" y="T11"/>
                </a:cxn>
                <a:cxn ang="0">
                  <a:pos x="T12" y="T13"/>
                </a:cxn>
              </a:cxnLst>
              <a:rect l="0" t="0"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525">
              <a:solidFill>
                <a:srgbClr val="000000"/>
              </a:solidFill>
              <a:round/>
              <a:headEnd/>
              <a:tailEnd/>
            </a:ln>
            <a:effectLst>
              <a:outerShdw dist="35921" dir="2700000" algn="ctr" rotWithShape="0">
                <a:srgbClr val="00000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600" b="0" i="0" u="none" strike="noStrike" kern="0" cap="none" spc="0" normalizeH="0" baseline="0" noProof="0">
                <a:ln>
                  <a:noFill/>
                </a:ln>
                <a:solidFill>
                  <a:srgbClr val="000000"/>
                </a:solidFill>
                <a:effectLst/>
                <a:uLnTx/>
                <a:uFillTx/>
                <a:latin typeface="+mn-ea"/>
                <a:ea typeface="+mn-ea"/>
              </a:endParaRPr>
            </a:p>
          </p:txBody>
        </p:sp>
        <p:sp>
          <p:nvSpPr>
            <p:cNvPr id="28" name="Rectangle 15">
              <a:extLst>
                <a:ext uri="{FF2B5EF4-FFF2-40B4-BE49-F238E27FC236}">
                  <a16:creationId xmlns:a16="http://schemas.microsoft.com/office/drawing/2014/main" id="{83BC022A-1072-5492-FDCB-0E66A98B6C7B}"/>
                </a:ext>
              </a:extLst>
            </p:cNvPr>
            <p:cNvSpPr>
              <a:spLocks noChangeArrowheads="1"/>
            </p:cNvSpPr>
            <p:nvPr>
              <p:custDataLst>
                <p:tags r:id="rId2"/>
              </p:custDataLst>
            </p:nvPr>
          </p:nvSpPr>
          <p:spPr bwMode="blackWhite">
            <a:xfrm>
              <a:off x="2440" y="2000"/>
              <a:ext cx="960" cy="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3810" tIns="0" rIns="3810" bIns="0" anchor="ct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0" marR="0" lvl="0" indent="0" defTabSz="895350" eaLnBrk="1" fontAlgn="auto" latinLnBrk="0" hangingPunct="1">
                <a:lnSpc>
                  <a:spcPct val="100000"/>
                </a:lnSpc>
                <a:spcBef>
                  <a:spcPts val="0"/>
                </a:spcBef>
                <a:spcAft>
                  <a:spcPts val="0"/>
                </a:spcAft>
                <a:buClrTx/>
                <a:buSzPct val="120000"/>
                <a:buFontTx/>
                <a:buNone/>
                <a:tabLst/>
                <a:defRPr/>
              </a:pPr>
              <a:r>
                <a:rPr kumimoji="0" lang="en-US" altLang="ko-KR" sz="1600" b="0" i="0" u="none" strike="noStrike" kern="0" cap="none" spc="0" normalizeH="0" baseline="0" noProof="0" dirty="0">
                  <a:ln>
                    <a:noFill/>
                  </a:ln>
                  <a:solidFill>
                    <a:srgbClr val="000000"/>
                  </a:solidFill>
                  <a:effectLst/>
                  <a:uLnTx/>
                  <a:uFillTx/>
                  <a:latin typeface="+mn-ea"/>
                  <a:ea typeface="+mn-ea"/>
                </a:rPr>
                <a:t>3. </a:t>
              </a:r>
              <a:r>
                <a:rPr kumimoji="0" lang="ko-KR" altLang="en-US" b="0" kern="0" dirty="0">
                  <a:solidFill>
                    <a:srgbClr val="000000"/>
                  </a:solidFill>
                  <a:latin typeface="+mn-ea"/>
                  <a:ea typeface="+mn-ea"/>
                </a:rPr>
                <a:t>기타 방법론들</a:t>
              </a:r>
              <a:endParaRPr kumimoji="0" lang="en-US" altLang="ko-KR" sz="1600" b="0" i="0" u="none" strike="noStrike" kern="0" cap="none" spc="0" normalizeH="0" baseline="0" noProof="0" dirty="0">
                <a:ln>
                  <a:noFill/>
                </a:ln>
                <a:solidFill>
                  <a:srgbClr val="000000"/>
                </a:solidFill>
                <a:effectLst/>
                <a:uLnTx/>
                <a:uFillTx/>
                <a:latin typeface="+mn-ea"/>
                <a:ea typeface="+mn-ea"/>
              </a:endParaRPr>
            </a:p>
          </p:txBody>
        </p:sp>
      </p:grpSp>
      <p:sp>
        <p:nvSpPr>
          <p:cNvPr id="29" name="Rectangle 16">
            <a:extLst>
              <a:ext uri="{FF2B5EF4-FFF2-40B4-BE49-F238E27FC236}">
                <a16:creationId xmlns:a16="http://schemas.microsoft.com/office/drawing/2014/main" id="{4B494A01-27DC-1CC8-E841-008292A55D9A}"/>
              </a:ext>
            </a:extLst>
          </p:cNvPr>
          <p:cNvSpPr>
            <a:spLocks noChangeArrowheads="1"/>
          </p:cNvSpPr>
          <p:nvPr/>
        </p:nvSpPr>
        <p:spPr bwMode="auto">
          <a:xfrm>
            <a:off x="2827581" y="4930510"/>
            <a:ext cx="508952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latinLnBrk="0"/>
            <a:r>
              <a:rPr kumimoji="0" lang="en-US" altLang="ko-KR" sz="1400" b="0" dirty="0">
                <a:solidFill>
                  <a:srgbClr val="000000"/>
                </a:solidFill>
                <a:latin typeface="+mn-ea"/>
                <a:ea typeface="+mn-ea"/>
              </a:rPr>
              <a:t>BC (Behavior Cloning)</a:t>
            </a:r>
          </a:p>
          <a:p>
            <a:pPr lvl="1" latinLnBrk="0"/>
            <a:r>
              <a:rPr kumimoji="0" lang="en-US" altLang="ko-KR" sz="1400" b="0" dirty="0">
                <a:solidFill>
                  <a:srgbClr val="000000"/>
                </a:solidFill>
                <a:latin typeface="+mn-ea"/>
                <a:ea typeface="+mn-ea"/>
              </a:rPr>
              <a:t>BCQ (Batch-Constrained Q-</a:t>
            </a:r>
            <a:r>
              <a:rPr kumimoji="0" lang="en-US" altLang="ko-KR" sz="1400" b="0" dirty="0" err="1">
                <a:solidFill>
                  <a:srgbClr val="000000"/>
                </a:solidFill>
                <a:latin typeface="+mn-ea"/>
                <a:ea typeface="+mn-ea"/>
              </a:rPr>
              <a:t>learing</a:t>
            </a:r>
            <a:r>
              <a:rPr kumimoji="0" lang="en-US" altLang="ko-KR" sz="1400" b="0" dirty="0">
                <a:solidFill>
                  <a:srgbClr val="000000"/>
                </a:solidFill>
                <a:latin typeface="+mn-ea"/>
                <a:ea typeface="+mn-ea"/>
              </a:rPr>
              <a:t>)</a:t>
            </a:r>
          </a:p>
          <a:p>
            <a:pPr lvl="1" latinLnBrk="0"/>
            <a:r>
              <a:rPr kumimoji="0" lang="en-US" altLang="ko-KR" sz="1400" b="0" dirty="0">
                <a:solidFill>
                  <a:srgbClr val="000000"/>
                </a:solidFill>
                <a:latin typeface="+mn-ea"/>
                <a:ea typeface="+mn-ea"/>
              </a:rPr>
              <a:t>CQL(Conservative Q-learning)</a:t>
            </a:r>
          </a:p>
          <a:p>
            <a:pPr lvl="1" latinLnBrk="0"/>
            <a:r>
              <a:rPr kumimoji="0" lang="en-US" altLang="ko-KR" sz="1400" dirty="0">
                <a:solidFill>
                  <a:srgbClr val="000000"/>
                </a:solidFill>
                <a:latin typeface="+mn-ea"/>
                <a:ea typeface="+mn-ea"/>
              </a:rPr>
              <a:t>IQL(Implicit Q-learning)</a:t>
            </a:r>
          </a:p>
          <a:p>
            <a:pPr lvl="1" latinLnBrk="0"/>
            <a:r>
              <a:rPr kumimoji="0" lang="ko-KR" altLang="en-US" sz="1400" dirty="0">
                <a:solidFill>
                  <a:srgbClr val="000000"/>
                </a:solidFill>
                <a:latin typeface="+mn-ea"/>
                <a:ea typeface="+mn-ea"/>
              </a:rPr>
              <a:t>지도학습과 유사한 접근법</a:t>
            </a:r>
            <a:endParaRPr kumimoji="0" lang="en-US" altLang="ko-KR" sz="1400" dirty="0">
              <a:solidFill>
                <a:srgbClr val="000000"/>
              </a:solidFill>
              <a:latin typeface="+mn-ea"/>
              <a:ea typeface="+mn-ea"/>
            </a:endParaRPr>
          </a:p>
        </p:txBody>
      </p:sp>
    </p:spTree>
    <p:extLst>
      <p:ext uri="{BB962C8B-B14F-4D97-AF65-F5344CB8AC3E}">
        <p14:creationId xmlns:p14="http://schemas.microsoft.com/office/powerpoint/2010/main" val="3923139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B1E79-DED1-0901-47A8-432A8E34C168}"/>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40AB86A7-E44B-4BF3-1F02-8FCEA6E9CE9F}"/>
              </a:ext>
            </a:extLst>
          </p:cNvPr>
          <p:cNvSpPr>
            <a:spLocks noGrp="1"/>
          </p:cNvSpPr>
          <p:nvPr>
            <p:ph type="body" sz="quarter" idx="10"/>
          </p:nvPr>
        </p:nvSpPr>
        <p:spPr/>
        <p:txBody>
          <a:bodyPr/>
          <a:lstStyle/>
          <a:p>
            <a:pPr marL="0" indent="0">
              <a:buNone/>
            </a:pPr>
            <a:r>
              <a:rPr lang="en-US" altLang="ko-KR" dirty="0">
                <a:latin typeface="+mn-ea"/>
              </a:rPr>
              <a:t>Offline</a:t>
            </a:r>
            <a:r>
              <a:rPr lang="ko-KR" altLang="en-US" dirty="0">
                <a:latin typeface="+mn-ea"/>
              </a:rPr>
              <a:t> </a:t>
            </a:r>
            <a:r>
              <a:rPr lang="en-US" altLang="ko-KR" dirty="0">
                <a:latin typeface="+mn-ea"/>
              </a:rPr>
              <a:t>RL</a:t>
            </a:r>
            <a:r>
              <a:rPr lang="ko-KR" altLang="en-US" dirty="0">
                <a:latin typeface="+mn-ea"/>
              </a:rPr>
              <a:t> 문제를 통해 서부발전 문제에 적용</a:t>
            </a:r>
          </a:p>
        </p:txBody>
      </p:sp>
      <p:sp>
        <p:nvSpPr>
          <p:cNvPr id="4" name="제목 3">
            <a:extLst>
              <a:ext uri="{FF2B5EF4-FFF2-40B4-BE49-F238E27FC236}">
                <a16:creationId xmlns:a16="http://schemas.microsoft.com/office/drawing/2014/main" id="{61941A2B-23A0-0211-CBCA-0C4F2905E3DB}"/>
              </a:ext>
            </a:extLst>
          </p:cNvPr>
          <p:cNvSpPr>
            <a:spLocks noGrp="1"/>
          </p:cNvSpPr>
          <p:nvPr>
            <p:ph type="title"/>
          </p:nvPr>
        </p:nvSpPr>
        <p:spPr/>
        <p:txBody>
          <a:bodyPr/>
          <a:lstStyle/>
          <a:p>
            <a:r>
              <a:rPr lang="en-US" altLang="ko-KR" dirty="0">
                <a:latin typeface="+mn-ea"/>
                <a:ea typeface="+mn-ea"/>
              </a:rPr>
              <a:t>1.3 </a:t>
            </a:r>
            <a:r>
              <a:rPr lang="ko-KR" altLang="en-US" dirty="0">
                <a:latin typeface="+mn-ea"/>
                <a:ea typeface="+mn-ea"/>
              </a:rPr>
              <a:t>서부발전 문제 적용 </a:t>
            </a:r>
            <a:r>
              <a:rPr lang="en-US" altLang="ko-KR" dirty="0">
                <a:latin typeface="+mn-ea"/>
                <a:ea typeface="+mn-ea"/>
              </a:rPr>
              <a:t>: Offline RL</a:t>
            </a:r>
            <a:endParaRPr lang="ko-KR" altLang="en-US" dirty="0">
              <a:latin typeface="+mn-ea"/>
              <a:ea typeface="+mn-ea"/>
            </a:endParaRPr>
          </a:p>
        </p:txBody>
      </p:sp>
      <p:sp>
        <p:nvSpPr>
          <p:cNvPr id="5" name="텍스트 개체 틀 4">
            <a:extLst>
              <a:ext uri="{FF2B5EF4-FFF2-40B4-BE49-F238E27FC236}">
                <a16:creationId xmlns:a16="http://schemas.microsoft.com/office/drawing/2014/main" id="{B6213EBF-5CA6-B5DC-4E79-8E551630F488}"/>
              </a:ext>
            </a:extLst>
          </p:cNvPr>
          <p:cNvSpPr>
            <a:spLocks noGrp="1"/>
          </p:cNvSpPr>
          <p:nvPr>
            <p:ph type="body" sz="quarter" idx="12"/>
          </p:nvPr>
        </p:nvSpPr>
        <p:spPr/>
        <p:txBody>
          <a:bodyPr/>
          <a:lstStyle/>
          <a:p>
            <a:r>
              <a:rPr lang="ko-KR" altLang="en-US" dirty="0">
                <a:latin typeface="+mn-ea"/>
                <a:ea typeface="+mn-ea"/>
              </a:rPr>
              <a:t>서부발전</a:t>
            </a:r>
          </a:p>
        </p:txBody>
      </p:sp>
      <p:sp>
        <p:nvSpPr>
          <p:cNvPr id="3" name="텍스트 개체 틀 5">
            <a:extLst>
              <a:ext uri="{FF2B5EF4-FFF2-40B4-BE49-F238E27FC236}">
                <a16:creationId xmlns:a16="http://schemas.microsoft.com/office/drawing/2014/main" id="{48DA78A1-2D67-E851-1098-0CD5C2422396}"/>
              </a:ext>
            </a:extLst>
          </p:cNvPr>
          <p:cNvSpPr txBox="1">
            <a:spLocks/>
          </p:cNvSpPr>
          <p:nvPr/>
        </p:nvSpPr>
        <p:spPr>
          <a:xfrm>
            <a:off x="209707" y="1047296"/>
            <a:ext cx="9558981" cy="1335689"/>
          </a:xfrm>
          <a:prstGeom prst="rect">
            <a:avLst/>
          </a:prstGeom>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80000" lvl="1" indent="0">
              <a:buNone/>
            </a:pPr>
            <a:r>
              <a:rPr kumimoji="0" lang="ko-KR" altLang="en-US" sz="1400" b="0" dirty="0">
                <a:latin typeface="+mn-ea"/>
              </a:rPr>
              <a:t>주요 변수 </a:t>
            </a:r>
            <a:r>
              <a:rPr kumimoji="0" lang="en-US" altLang="ko-KR" sz="1400" b="0" dirty="0">
                <a:latin typeface="+mn-ea"/>
              </a:rPr>
              <a:t>4</a:t>
            </a:r>
            <a:r>
              <a:rPr kumimoji="0" lang="ko-KR" altLang="en-US" sz="1400" b="0" dirty="0">
                <a:latin typeface="+mn-ea"/>
              </a:rPr>
              <a:t>개를 </a:t>
            </a:r>
            <a:r>
              <a:rPr kumimoji="0" lang="en-US" altLang="ko-KR" sz="1400" b="0" dirty="0">
                <a:latin typeface="+mn-ea"/>
              </a:rPr>
              <a:t>state</a:t>
            </a:r>
            <a:r>
              <a:rPr kumimoji="0" lang="ko-KR" altLang="en-US" sz="1400" b="0" dirty="0">
                <a:latin typeface="+mn-ea"/>
              </a:rPr>
              <a:t>로 지정하고 그 중 네번째 </a:t>
            </a:r>
            <a:r>
              <a:rPr kumimoji="0" lang="en-US" altLang="ko-KR" sz="1400" b="0" dirty="0">
                <a:latin typeface="+mn-ea"/>
              </a:rPr>
              <a:t>state</a:t>
            </a:r>
            <a:r>
              <a:rPr kumimoji="0" lang="ko-KR" altLang="en-US" sz="1400" b="0" dirty="0">
                <a:latin typeface="+mn-ea"/>
              </a:rPr>
              <a:t>인</a:t>
            </a:r>
            <a:r>
              <a:rPr kumimoji="0" lang="en-US" altLang="ko-KR" sz="1400" b="0" dirty="0">
                <a:latin typeface="+mn-ea"/>
              </a:rPr>
              <a:t> NOx </a:t>
            </a:r>
            <a:r>
              <a:rPr kumimoji="0" lang="ko-KR" altLang="en-US" sz="1400" b="0" dirty="0">
                <a:latin typeface="+mn-ea"/>
              </a:rPr>
              <a:t>농도를 특정 값에 가깝게 하도록 보상함수를 설정</a:t>
            </a:r>
            <a:r>
              <a:rPr kumimoji="0" lang="en-US" altLang="ko-KR" sz="1400" b="0" dirty="0">
                <a:latin typeface="+mn-ea"/>
              </a:rPr>
              <a:t>. action</a:t>
            </a:r>
            <a:r>
              <a:rPr kumimoji="0" lang="ko-KR" altLang="en-US" sz="1400" b="0" dirty="0">
                <a:latin typeface="+mn-ea"/>
              </a:rPr>
              <a:t>은 </a:t>
            </a:r>
            <a:r>
              <a:rPr kumimoji="0" lang="ko-KR" altLang="en-US" sz="1400" b="0" dirty="0" err="1">
                <a:latin typeface="+mn-ea"/>
              </a:rPr>
              <a:t>희석질소유량으로</a:t>
            </a:r>
            <a:r>
              <a:rPr kumimoji="0" lang="ko-KR" altLang="en-US" sz="1400" b="0" dirty="0">
                <a:latin typeface="+mn-ea"/>
              </a:rPr>
              <a:t> 지정</a:t>
            </a:r>
            <a:r>
              <a:rPr kumimoji="0" lang="en-US" altLang="ko-KR" sz="1400" b="0" dirty="0">
                <a:latin typeface="+mn-ea"/>
              </a:rPr>
              <a:t>. 5</a:t>
            </a:r>
            <a:r>
              <a:rPr kumimoji="0" lang="ko-KR" altLang="en-US" sz="1400" b="0" dirty="0" err="1">
                <a:latin typeface="+mn-ea"/>
              </a:rPr>
              <a:t>초간격</a:t>
            </a:r>
            <a:r>
              <a:rPr kumimoji="0" lang="ko-KR" altLang="en-US" sz="1400" b="0" dirty="0">
                <a:latin typeface="+mn-ea"/>
              </a:rPr>
              <a:t> 일주일치의 서부발전 데이터를 </a:t>
            </a:r>
            <a:r>
              <a:rPr kumimoji="0" lang="ko-KR" altLang="en-US" sz="1400" b="0" dirty="0" err="1">
                <a:latin typeface="+mn-ea"/>
              </a:rPr>
              <a:t>전처리하여</a:t>
            </a:r>
            <a:r>
              <a:rPr kumimoji="0" lang="ko-KR" altLang="en-US" sz="1400" b="0" dirty="0">
                <a:latin typeface="+mn-ea"/>
              </a:rPr>
              <a:t> </a:t>
            </a:r>
            <a:r>
              <a:rPr kumimoji="0" lang="en-US" altLang="ko-KR" sz="1400" b="0" dirty="0">
                <a:latin typeface="+mn-ea"/>
              </a:rPr>
              <a:t>Offline DDPG</a:t>
            </a:r>
            <a:r>
              <a:rPr kumimoji="0" lang="ko-KR" altLang="en-US" sz="1400" b="0" dirty="0">
                <a:latin typeface="+mn-ea"/>
              </a:rPr>
              <a:t>에 입력하였음</a:t>
            </a:r>
            <a:r>
              <a:rPr kumimoji="0" lang="en-US" altLang="ko-KR" sz="1400" b="0" dirty="0">
                <a:latin typeface="+mn-ea"/>
              </a:rPr>
              <a:t>. </a:t>
            </a:r>
            <a:r>
              <a:rPr kumimoji="0" lang="ko-KR" altLang="en-US" sz="1400" b="0" dirty="0">
                <a:latin typeface="+mn-ea"/>
              </a:rPr>
              <a:t>해당 알고리즘은 </a:t>
            </a:r>
            <a:r>
              <a:rPr kumimoji="0" lang="en-US" altLang="ko-KR" sz="1400" b="0" dirty="0">
                <a:latin typeface="+mn-ea"/>
              </a:rPr>
              <a:t>agent</a:t>
            </a:r>
            <a:r>
              <a:rPr kumimoji="0" lang="ko-KR" altLang="en-US" sz="1400" b="0" dirty="0">
                <a:latin typeface="+mn-ea"/>
              </a:rPr>
              <a:t>가 환경과 상호작용하며 학습하지 않고</a:t>
            </a:r>
            <a:r>
              <a:rPr kumimoji="0" lang="en-US" altLang="ko-KR" sz="1400" b="0" dirty="0">
                <a:latin typeface="+mn-ea"/>
              </a:rPr>
              <a:t>, </a:t>
            </a:r>
            <a:r>
              <a:rPr kumimoji="0" lang="ko-KR" altLang="en-US" sz="1400" b="0" dirty="0">
                <a:latin typeface="+mn-ea"/>
              </a:rPr>
              <a:t>이미 발생한 </a:t>
            </a:r>
            <a:r>
              <a:rPr kumimoji="0" lang="en-US" altLang="ko-KR" sz="1400" b="0" dirty="0">
                <a:latin typeface="+mn-ea"/>
              </a:rPr>
              <a:t>(s, a, r s’)</a:t>
            </a:r>
            <a:r>
              <a:rPr kumimoji="0" lang="ko-KR" altLang="en-US" sz="1400" b="0" dirty="0">
                <a:latin typeface="+mn-ea"/>
              </a:rPr>
              <a:t>의 값으로 네트워크를 학습함</a:t>
            </a:r>
            <a:r>
              <a:rPr kumimoji="0" lang="en-US" altLang="ko-KR" sz="1400" b="0" dirty="0">
                <a:latin typeface="+mn-ea"/>
              </a:rPr>
              <a:t>.</a:t>
            </a:r>
            <a:r>
              <a:rPr kumimoji="0" lang="ko-KR" altLang="en-US" sz="1400" b="0" dirty="0">
                <a:latin typeface="+mn-ea"/>
              </a:rPr>
              <a:t>보상함수가 수렴하지 않으며 안정적인 학습이 일어나지 않음</a:t>
            </a:r>
            <a:r>
              <a:rPr kumimoji="0" lang="en-US" altLang="ko-KR" sz="1400" b="0" dirty="0">
                <a:latin typeface="+mn-ea"/>
              </a:rPr>
              <a:t>.</a:t>
            </a:r>
          </a:p>
        </p:txBody>
      </p:sp>
      <p:pic>
        <p:nvPicPr>
          <p:cNvPr id="6" name="그림 5" descr="그래프, 라인, 도표, 스크린샷이(가) 표시된 사진&#10;&#10;AI 생성 콘텐츠는 정확하지 않을 수 있습니다.">
            <a:extLst>
              <a:ext uri="{FF2B5EF4-FFF2-40B4-BE49-F238E27FC236}">
                <a16:creationId xmlns:a16="http://schemas.microsoft.com/office/drawing/2014/main" id="{82BA3AEB-4AAB-5461-D2E9-066080AE68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308" y="2238726"/>
            <a:ext cx="9058275" cy="3019425"/>
          </a:xfrm>
          <a:prstGeom prst="rect">
            <a:avLst/>
          </a:prstGeom>
        </p:spPr>
      </p:pic>
    </p:spTree>
    <p:extLst>
      <p:ext uri="{BB962C8B-B14F-4D97-AF65-F5344CB8AC3E}">
        <p14:creationId xmlns:p14="http://schemas.microsoft.com/office/powerpoint/2010/main" val="2098244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A23FD-0EA6-8CA0-F5DB-DFAD91D5EAD6}"/>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02557204-4DF0-B879-2B5A-A5ACF0284751}"/>
              </a:ext>
            </a:extLst>
          </p:cNvPr>
          <p:cNvSpPr>
            <a:spLocks noGrp="1"/>
          </p:cNvSpPr>
          <p:nvPr>
            <p:ph type="body" sz="quarter" idx="10"/>
          </p:nvPr>
        </p:nvSpPr>
        <p:spPr/>
        <p:txBody>
          <a:bodyPr/>
          <a:lstStyle/>
          <a:p>
            <a:r>
              <a:rPr lang="en-US" altLang="ko-KR" dirty="0"/>
              <a:t>2. </a:t>
            </a:r>
            <a:r>
              <a:rPr lang="ko-KR" altLang="en-US" dirty="0"/>
              <a:t>강화학습 </a:t>
            </a:r>
            <a:r>
              <a:rPr lang="en-US" altLang="ko-KR" dirty="0"/>
              <a:t>9</a:t>
            </a:r>
            <a:r>
              <a:rPr lang="ko-KR" altLang="en-US" dirty="0"/>
              <a:t>월 계획</a:t>
            </a:r>
          </a:p>
        </p:txBody>
      </p:sp>
      <p:sp>
        <p:nvSpPr>
          <p:cNvPr id="4" name="텍스트 개체 틀 2">
            <a:extLst>
              <a:ext uri="{FF2B5EF4-FFF2-40B4-BE49-F238E27FC236}">
                <a16:creationId xmlns:a16="http://schemas.microsoft.com/office/drawing/2014/main" id="{09D69504-5FC0-23FA-2115-D6D4B934FFE1}"/>
              </a:ext>
            </a:extLst>
          </p:cNvPr>
          <p:cNvSpPr txBox="1">
            <a:spLocks/>
          </p:cNvSpPr>
          <p:nvPr/>
        </p:nvSpPr>
        <p:spPr>
          <a:xfrm>
            <a:off x="3063405" y="2295121"/>
            <a:ext cx="5953846" cy="2090065"/>
          </a:xfrm>
          <a:prstGeom prst="rect">
            <a:avLst/>
          </a:prstGeom>
        </p:spPr>
        <p:txBody>
          <a:bodyPr/>
          <a:lstStyle>
            <a:lvl1pPr marL="342900" indent="-342900" algn="l" rtl="0" eaLnBrk="0" fontAlgn="base" latinLnBrk="0" hangingPunct="0">
              <a:lnSpc>
                <a:spcPct val="150000"/>
              </a:lnSpc>
              <a:spcBef>
                <a:spcPts val="600"/>
              </a:spcBef>
              <a:spcAft>
                <a:spcPct val="0"/>
              </a:spcAft>
              <a:buFont typeface="Arial" charset="0"/>
              <a:buAutoNum type="arabicPeriod"/>
              <a:defRPr kumimoji="1" lang="ko-KR" altLang="en-US" sz="2000" b="1" kern="1200" dirty="0">
                <a:solidFill>
                  <a:srgbClr val="333333"/>
                </a:solidFill>
                <a:latin typeface="맑은 고딕" pitchFamily="50" charset="-127"/>
                <a:ea typeface="맑은 고딕" pitchFamily="50" charset="-127"/>
                <a:cs typeface="+mn-cs"/>
                <a:sym typeface="Wingdings" pitchFamily="2" charset="2"/>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lang="ko-KR" altLang="en-US" dirty="0"/>
              <a:t>강화학습 </a:t>
            </a:r>
            <a:r>
              <a:rPr lang="en-US" altLang="ko-KR" dirty="0"/>
              <a:t>testbed </a:t>
            </a:r>
            <a:r>
              <a:rPr lang="ko-KR" altLang="en-US" dirty="0"/>
              <a:t>환경 구축 및 실험</a:t>
            </a:r>
          </a:p>
          <a:p>
            <a:r>
              <a:rPr lang="ko-KR" altLang="en-US" dirty="0"/>
              <a:t>서부발전 문제에 맞는 알고리즘 </a:t>
            </a:r>
            <a:r>
              <a:rPr lang="en-US" altLang="ko-KR" dirty="0"/>
              <a:t>case-study</a:t>
            </a:r>
          </a:p>
          <a:p>
            <a:r>
              <a:rPr lang="ko-KR" altLang="en-US" dirty="0"/>
              <a:t>서부발전 강화학습 적용</a:t>
            </a:r>
            <a:endParaRPr lang="en-US" altLang="ko-KR" dirty="0"/>
          </a:p>
          <a:p>
            <a:r>
              <a:rPr lang="ko-KR" altLang="en-US" dirty="0"/>
              <a:t>수정된 </a:t>
            </a:r>
            <a:r>
              <a:rPr lang="en-US" altLang="ko-KR" dirty="0"/>
              <a:t>IMS </a:t>
            </a:r>
            <a:r>
              <a:rPr lang="ko-KR" altLang="en-US" dirty="0"/>
              <a:t>노드 테스트 지원</a:t>
            </a:r>
            <a:endParaRPr lang="en-US" altLang="ko-KR" dirty="0"/>
          </a:p>
          <a:p>
            <a:endParaRPr lang="ko-KR" altLang="en-US" dirty="0"/>
          </a:p>
        </p:txBody>
      </p:sp>
    </p:spTree>
    <p:extLst>
      <p:ext uri="{BB962C8B-B14F-4D97-AF65-F5344CB8AC3E}">
        <p14:creationId xmlns:p14="http://schemas.microsoft.com/office/powerpoint/2010/main" val="914127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C65CE-03C1-E99D-21A5-E1DE00844197}"/>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A9A8DD29-1248-C243-F70B-25208A49351D}"/>
              </a:ext>
            </a:extLst>
          </p:cNvPr>
          <p:cNvSpPr>
            <a:spLocks noGrp="1"/>
          </p:cNvSpPr>
          <p:nvPr>
            <p:ph type="body" sz="quarter" idx="10"/>
          </p:nvPr>
        </p:nvSpPr>
        <p:spPr/>
        <p:txBody>
          <a:bodyPr/>
          <a:lstStyle/>
          <a:p>
            <a:pPr marL="0" indent="0">
              <a:buNone/>
            </a:pPr>
            <a:r>
              <a:rPr lang="ko-KR" altLang="en-US" dirty="0"/>
              <a:t>현행 강화학습 체계의 한계</a:t>
            </a:r>
          </a:p>
        </p:txBody>
      </p:sp>
      <p:sp>
        <p:nvSpPr>
          <p:cNvPr id="4" name="제목 3">
            <a:extLst>
              <a:ext uri="{FF2B5EF4-FFF2-40B4-BE49-F238E27FC236}">
                <a16:creationId xmlns:a16="http://schemas.microsoft.com/office/drawing/2014/main" id="{525BD736-8D47-858D-6C94-97EC354E6071}"/>
              </a:ext>
            </a:extLst>
          </p:cNvPr>
          <p:cNvSpPr>
            <a:spLocks noGrp="1"/>
          </p:cNvSpPr>
          <p:nvPr>
            <p:ph type="title"/>
          </p:nvPr>
        </p:nvSpPr>
        <p:spPr/>
        <p:txBody>
          <a:bodyPr/>
          <a:lstStyle/>
          <a:p>
            <a:r>
              <a:rPr lang="en-US" altLang="ko-KR" dirty="0"/>
              <a:t>2.1 </a:t>
            </a:r>
            <a:r>
              <a:rPr lang="ko-KR" altLang="en-US" dirty="0"/>
              <a:t>강화학습</a:t>
            </a:r>
            <a:r>
              <a:rPr lang="en-US" altLang="ko-KR" dirty="0"/>
              <a:t> testbed </a:t>
            </a:r>
            <a:r>
              <a:rPr lang="ko-KR" altLang="en-US" dirty="0"/>
              <a:t>환경 구축 및 실험 </a:t>
            </a:r>
            <a:r>
              <a:rPr lang="en-US" altLang="ko-KR" dirty="0"/>
              <a:t>: testbed </a:t>
            </a:r>
            <a:r>
              <a:rPr lang="ko-KR" altLang="en-US" dirty="0"/>
              <a:t>환경의 필요성</a:t>
            </a:r>
          </a:p>
        </p:txBody>
      </p:sp>
      <p:sp>
        <p:nvSpPr>
          <p:cNvPr id="5" name="텍스트 개체 틀 4">
            <a:extLst>
              <a:ext uri="{FF2B5EF4-FFF2-40B4-BE49-F238E27FC236}">
                <a16:creationId xmlns:a16="http://schemas.microsoft.com/office/drawing/2014/main" id="{596D5131-CC81-8512-F54F-30E1D6784EF3}"/>
              </a:ext>
            </a:extLst>
          </p:cNvPr>
          <p:cNvSpPr>
            <a:spLocks noGrp="1"/>
          </p:cNvSpPr>
          <p:nvPr>
            <p:ph type="body" sz="quarter" idx="12"/>
          </p:nvPr>
        </p:nvSpPr>
        <p:spPr/>
        <p:txBody>
          <a:bodyPr/>
          <a:lstStyle/>
          <a:p>
            <a:r>
              <a:rPr lang="ko-KR" altLang="en-US" dirty="0"/>
              <a:t>서부발전</a:t>
            </a:r>
          </a:p>
        </p:txBody>
      </p:sp>
      <p:sp>
        <p:nvSpPr>
          <p:cNvPr id="6" name="텍스트 개체 틀 5">
            <a:extLst>
              <a:ext uri="{FF2B5EF4-FFF2-40B4-BE49-F238E27FC236}">
                <a16:creationId xmlns:a16="http://schemas.microsoft.com/office/drawing/2014/main" id="{8DB91785-F372-C211-CE76-ED4087FC581A}"/>
              </a:ext>
            </a:extLst>
          </p:cNvPr>
          <p:cNvSpPr>
            <a:spLocks noGrp="1"/>
          </p:cNvSpPr>
          <p:nvPr>
            <p:ph type="body" sz="quarter" idx="11"/>
          </p:nvPr>
        </p:nvSpPr>
        <p:spPr/>
        <p:txBody>
          <a:bodyPr/>
          <a:lstStyle/>
          <a:p>
            <a:r>
              <a:rPr lang="ko-KR" altLang="en-US" dirty="0"/>
              <a:t>현재 서부발전과 같은 문제에서는 </a:t>
            </a:r>
            <a:r>
              <a:rPr lang="en-US" altLang="ko-KR" dirty="0"/>
              <a:t>historical data</a:t>
            </a:r>
            <a:r>
              <a:rPr lang="ko-KR" altLang="en-US" dirty="0"/>
              <a:t>가 입력으로 주어져서 그것으로 정책을 학습하는</a:t>
            </a:r>
            <a:r>
              <a:rPr lang="en-US" altLang="ko-KR" dirty="0"/>
              <a:t> </a:t>
            </a:r>
            <a:r>
              <a:rPr lang="ko-KR" altLang="en-US" dirty="0"/>
              <a:t>데에 그친다</a:t>
            </a:r>
            <a:r>
              <a:rPr lang="en-US" altLang="ko-KR" dirty="0"/>
              <a:t>. </a:t>
            </a:r>
            <a:r>
              <a:rPr lang="ko-KR" altLang="en-US" dirty="0"/>
              <a:t>학습된 정책이 정말로 좋은 결과를 낼 수 있는지 여부는 알 수 없다</a:t>
            </a:r>
            <a:r>
              <a:rPr lang="en-US" altLang="ko-KR" dirty="0"/>
              <a:t>.</a:t>
            </a:r>
            <a:endParaRPr lang="ko-KR" altLang="en-US" dirty="0"/>
          </a:p>
        </p:txBody>
      </p:sp>
      <mc:AlternateContent xmlns:mc="http://schemas.openxmlformats.org/markup-compatibility/2006" xmlns:a14="http://schemas.microsoft.com/office/drawing/2010/main">
        <mc:Choice Requires="a14">
          <p:sp>
            <p:nvSpPr>
              <p:cNvPr id="26" name="사각형: 둥근 모서리 25">
                <a:extLst>
                  <a:ext uri="{FF2B5EF4-FFF2-40B4-BE49-F238E27FC236}">
                    <a16:creationId xmlns:a16="http://schemas.microsoft.com/office/drawing/2014/main" id="{F26F4C12-20F7-1E93-FB99-026F7B90A00E}"/>
                  </a:ext>
                </a:extLst>
              </p:cNvPr>
              <p:cNvSpPr/>
              <p:nvPr/>
            </p:nvSpPr>
            <p:spPr bwMode="auto">
              <a:xfrm>
                <a:off x="1266709" y="2928887"/>
                <a:ext cx="876300" cy="866775"/>
              </a:xfrm>
              <a:prstGeom prst="roundRect">
                <a:avLst/>
              </a:prstGeom>
              <a:solidFill>
                <a:srgbClr val="1AA0CA"/>
              </a:solidFill>
              <a:ln>
                <a:noFill/>
              </a:ln>
              <a:effectLst/>
            </p:spPr>
            <p:style>
              <a:lnRef idx="2">
                <a:schemeClr val="accent2">
                  <a:shade val="50000"/>
                </a:schemeClr>
              </a:lnRef>
              <a:fillRef idx="1">
                <a:schemeClr val="accent2"/>
              </a:fillRef>
              <a:effectRef idx="0">
                <a:schemeClr val="accent2"/>
              </a:effectRef>
              <a:fontRef idx="minor">
                <a:schemeClr val="lt1"/>
              </a:fontRef>
            </p:style>
            <p:txBody>
              <a:bodyPr lIns="180000" tIns="0" rIns="0" bIns="0" rtlCol="0" anchor="ctr"/>
              <a:lstStyle/>
              <a:p>
                <a:pPr algn="ctr" defTabSz="911896"/>
                <a14:m>
                  <m:oMathPara xmlns:m="http://schemas.openxmlformats.org/officeDocument/2006/math">
                    <m:oMathParaPr>
                      <m:jc m:val="center"/>
                    </m:oMathParaPr>
                    <m:oMath xmlns:m="http://schemas.openxmlformats.org/officeDocument/2006/math">
                      <m:r>
                        <a:rPr lang="en-US" altLang="ko-KR" sz="4400" b="1" i="1" smtClean="0">
                          <a:solidFill>
                            <a:prstClr val="white"/>
                          </a:solidFill>
                          <a:latin typeface="Cambria Math" panose="02040503050406030204" pitchFamily="18" charset="0"/>
                          <a:ea typeface="맑은 고딕" panose="020B0503020000020004" pitchFamily="50" charset="-127"/>
                        </a:rPr>
                        <m:t>𝝅</m:t>
                      </m:r>
                    </m:oMath>
                  </m:oMathPara>
                </a14:m>
                <a:endParaRPr lang="ko-KR" altLang="en-US" sz="4400" dirty="0">
                  <a:solidFill>
                    <a:prstClr val="white"/>
                  </a:solidFill>
                  <a:latin typeface="맑은 고딕" panose="020B0503020000020004" pitchFamily="50" charset="-127"/>
                  <a:ea typeface="맑은 고딕" panose="020B0503020000020004" pitchFamily="50" charset="-127"/>
                </a:endParaRPr>
              </a:p>
            </p:txBody>
          </p:sp>
        </mc:Choice>
        <mc:Fallback xmlns="">
          <p:sp>
            <p:nvSpPr>
              <p:cNvPr id="26" name="사각형: 둥근 모서리 25">
                <a:extLst>
                  <a:ext uri="{FF2B5EF4-FFF2-40B4-BE49-F238E27FC236}">
                    <a16:creationId xmlns:a16="http://schemas.microsoft.com/office/drawing/2014/main" id="{F26F4C12-20F7-1E93-FB99-026F7B90A00E}"/>
                  </a:ext>
                </a:extLst>
              </p:cNvPr>
              <p:cNvSpPr>
                <a:spLocks noRot="1" noChangeAspect="1" noMove="1" noResize="1" noEditPoints="1" noAdjustHandles="1" noChangeArrowheads="1" noChangeShapeType="1" noTextEdit="1"/>
              </p:cNvSpPr>
              <p:nvPr/>
            </p:nvSpPr>
            <p:spPr bwMode="auto">
              <a:xfrm>
                <a:off x="1266709" y="2928887"/>
                <a:ext cx="876300" cy="866775"/>
              </a:xfrm>
              <a:prstGeom prst="roundRect">
                <a:avLst/>
              </a:prstGeom>
              <a:blipFill>
                <a:blip r:embed="rId2"/>
                <a:stretch>
                  <a:fillRect/>
                </a:stretch>
              </a:blipFill>
              <a:ln>
                <a:noFill/>
              </a:ln>
              <a:effectLst/>
            </p:spPr>
            <p:txBody>
              <a:bodyPr/>
              <a:lstStyle/>
              <a:p>
                <a:r>
                  <a:rPr lang="ko-KR" altLang="en-US">
                    <a:noFill/>
                  </a:rPr>
                  <a:t> </a:t>
                </a:r>
              </a:p>
            </p:txBody>
          </p:sp>
        </mc:Fallback>
      </mc:AlternateContent>
      <p:pic>
        <p:nvPicPr>
          <p:cNvPr id="29" name="그림 28">
            <a:extLst>
              <a:ext uri="{FF2B5EF4-FFF2-40B4-BE49-F238E27FC236}">
                <a16:creationId xmlns:a16="http://schemas.microsoft.com/office/drawing/2014/main" id="{E255483D-96A2-3B20-34EB-7D48E5D40E0A}"/>
              </a:ext>
            </a:extLst>
          </p:cNvPr>
          <p:cNvPicPr>
            <a:picLocks noChangeAspect="1"/>
          </p:cNvPicPr>
          <p:nvPr/>
        </p:nvPicPr>
        <p:blipFill>
          <a:blip r:embed="rId3"/>
          <a:stretch>
            <a:fillRect/>
          </a:stretch>
        </p:blipFill>
        <p:spPr>
          <a:xfrm>
            <a:off x="1266709" y="1953975"/>
            <a:ext cx="828791" cy="733527"/>
          </a:xfrm>
          <a:prstGeom prst="rect">
            <a:avLst/>
          </a:prstGeom>
        </p:spPr>
      </p:pic>
      <mc:AlternateContent xmlns:mc="http://schemas.openxmlformats.org/markup-compatibility/2006" xmlns:a14="http://schemas.microsoft.com/office/drawing/2010/main">
        <mc:Choice Requires="a14">
          <p:sp>
            <p:nvSpPr>
              <p:cNvPr id="30" name="사각형: 둥근 모서리 29">
                <a:extLst>
                  <a:ext uri="{FF2B5EF4-FFF2-40B4-BE49-F238E27FC236}">
                    <a16:creationId xmlns:a16="http://schemas.microsoft.com/office/drawing/2014/main" id="{BDF3B630-A5F5-01A9-E096-9F871CA8B06D}"/>
                  </a:ext>
                </a:extLst>
              </p:cNvPr>
              <p:cNvSpPr/>
              <p:nvPr/>
            </p:nvSpPr>
            <p:spPr bwMode="auto">
              <a:xfrm>
                <a:off x="1266709" y="4086225"/>
                <a:ext cx="876300" cy="866775"/>
              </a:xfrm>
              <a:prstGeom prst="roundRect">
                <a:avLst/>
              </a:prstGeom>
              <a:solidFill>
                <a:srgbClr val="1AA0CA"/>
              </a:solidFill>
              <a:ln>
                <a:noFill/>
              </a:ln>
              <a:effectLst/>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defTabSz="911896"/>
                <a14:m>
                  <m:oMathPara xmlns:m="http://schemas.openxmlformats.org/officeDocument/2006/math">
                    <m:oMathParaPr>
                      <m:jc m:val="right"/>
                    </m:oMathParaPr>
                    <m:oMath xmlns:m="http://schemas.openxmlformats.org/officeDocument/2006/math">
                      <m:r>
                        <a:rPr lang="en-US" altLang="ko-KR" sz="3200" b="1" i="1" smtClean="0">
                          <a:solidFill>
                            <a:prstClr val="white"/>
                          </a:solidFill>
                          <a:latin typeface="Cambria Math" panose="02040503050406030204" pitchFamily="18" charset="0"/>
                        </a:rPr>
                        <m:t>𝒕𝒆𝒔𝒕</m:t>
                      </m:r>
                    </m:oMath>
                  </m:oMathPara>
                </a14:m>
                <a:endParaRPr lang="ko-KR" altLang="en-US" sz="2400" dirty="0">
                  <a:solidFill>
                    <a:prstClr val="white"/>
                  </a:solidFill>
                  <a:latin typeface="+mn-ea"/>
                </a:endParaRPr>
              </a:p>
            </p:txBody>
          </p:sp>
        </mc:Choice>
        <mc:Fallback xmlns="">
          <p:sp>
            <p:nvSpPr>
              <p:cNvPr id="30" name="사각형: 둥근 모서리 29">
                <a:extLst>
                  <a:ext uri="{FF2B5EF4-FFF2-40B4-BE49-F238E27FC236}">
                    <a16:creationId xmlns:a16="http://schemas.microsoft.com/office/drawing/2014/main" id="{BDF3B630-A5F5-01A9-E096-9F871CA8B06D}"/>
                  </a:ext>
                </a:extLst>
              </p:cNvPr>
              <p:cNvSpPr>
                <a:spLocks noRot="1" noChangeAspect="1" noMove="1" noResize="1" noEditPoints="1" noAdjustHandles="1" noChangeArrowheads="1" noChangeShapeType="1" noTextEdit="1"/>
              </p:cNvSpPr>
              <p:nvPr/>
            </p:nvSpPr>
            <p:spPr bwMode="auto">
              <a:xfrm>
                <a:off x="1266709" y="4086225"/>
                <a:ext cx="876300" cy="866775"/>
              </a:xfrm>
              <a:prstGeom prst="roundRect">
                <a:avLst/>
              </a:prstGeom>
              <a:blipFill>
                <a:blip r:embed="rId4"/>
                <a:stretch>
                  <a:fillRect/>
                </a:stretch>
              </a:blipFill>
              <a:ln>
                <a:noFill/>
              </a:ln>
              <a:effectLst/>
            </p:spPr>
            <p:txBody>
              <a:bodyPr/>
              <a:lstStyle/>
              <a:p>
                <a:r>
                  <a:rPr lang="ko-KR" altLang="en-US">
                    <a:noFill/>
                  </a:rPr>
                  <a:t> </a:t>
                </a:r>
              </a:p>
            </p:txBody>
          </p:sp>
        </mc:Fallback>
      </mc:AlternateContent>
      <p:sp>
        <p:nvSpPr>
          <p:cNvPr id="3" name="텍스트 개체 틀 5">
            <a:extLst>
              <a:ext uri="{FF2B5EF4-FFF2-40B4-BE49-F238E27FC236}">
                <a16:creationId xmlns:a16="http://schemas.microsoft.com/office/drawing/2014/main" id="{E18A2F7E-0AA1-D3DC-F79B-D8DBB21D54AC}"/>
              </a:ext>
            </a:extLst>
          </p:cNvPr>
          <p:cNvSpPr txBox="1">
            <a:spLocks/>
          </p:cNvSpPr>
          <p:nvPr/>
        </p:nvSpPr>
        <p:spPr>
          <a:xfrm>
            <a:off x="2419709" y="1981346"/>
            <a:ext cx="6952891" cy="733527"/>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ko-KR" altLang="en-US" b="0" dirty="0"/>
              <a:t>발전소의 시간대별 주요 변수들의 </a:t>
            </a:r>
            <a:r>
              <a:rPr kumimoji="0" lang="ko-KR" altLang="en-US" b="0" dirty="0" err="1"/>
              <a:t>계측값을</a:t>
            </a:r>
            <a:r>
              <a:rPr kumimoji="0" lang="ko-KR" altLang="en-US" b="0" dirty="0"/>
              <a:t> </a:t>
            </a:r>
            <a:r>
              <a:rPr kumimoji="0" lang="en-US" altLang="ko-KR" b="0" dirty="0"/>
              <a:t>historical data</a:t>
            </a:r>
            <a:r>
              <a:rPr kumimoji="0" lang="ko-KR" altLang="en-US" b="0" dirty="0"/>
              <a:t>라고 한다</a:t>
            </a:r>
            <a:r>
              <a:rPr kumimoji="0" lang="en-US" altLang="ko-KR" b="0" dirty="0"/>
              <a:t>. </a:t>
            </a:r>
            <a:r>
              <a:rPr kumimoji="0" lang="ko-KR" altLang="en-US" b="0" dirty="0"/>
              <a:t>현행강화학습 체계는 </a:t>
            </a:r>
            <a:r>
              <a:rPr kumimoji="0" lang="en-US" altLang="ko-KR" b="0" dirty="0"/>
              <a:t>historical data</a:t>
            </a:r>
            <a:r>
              <a:rPr kumimoji="0" lang="ko-KR" altLang="en-US" b="0" dirty="0"/>
              <a:t>를 입력으로 받아 학습한다</a:t>
            </a:r>
            <a:r>
              <a:rPr kumimoji="0" lang="en-US" altLang="ko-KR" b="0" dirty="0"/>
              <a:t>.</a:t>
            </a:r>
            <a:endParaRPr kumimoji="0" lang="ko-KR" altLang="en-US" b="0" dirty="0"/>
          </a:p>
        </p:txBody>
      </p:sp>
      <mc:AlternateContent xmlns:mc="http://schemas.openxmlformats.org/markup-compatibility/2006" xmlns:a14="http://schemas.microsoft.com/office/drawing/2010/main">
        <mc:Choice Requires="a14">
          <p:sp>
            <p:nvSpPr>
              <p:cNvPr id="8" name="텍스트 개체 틀 5">
                <a:extLst>
                  <a:ext uri="{FF2B5EF4-FFF2-40B4-BE49-F238E27FC236}">
                    <a16:creationId xmlns:a16="http://schemas.microsoft.com/office/drawing/2014/main" id="{2C6B2D2C-FB5A-AEF7-B1CA-13733DEAC230}"/>
                  </a:ext>
                </a:extLst>
              </p:cNvPr>
              <p:cNvSpPr txBox="1">
                <a:spLocks/>
              </p:cNvSpPr>
              <p:nvPr/>
            </p:nvSpPr>
            <p:spPr>
              <a:xfrm>
                <a:off x="2419709" y="2953246"/>
                <a:ext cx="6952891" cy="866775"/>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en-US" altLang="ko-KR" b="0" dirty="0"/>
                  <a:t>agent</a:t>
                </a:r>
                <a:r>
                  <a:rPr kumimoji="0" lang="ko-KR" altLang="en-US" b="0" dirty="0"/>
                  <a:t>는 환경과 상호작용하지 않은 채로 </a:t>
                </a:r>
                <a:r>
                  <a:rPr kumimoji="0" lang="en-US" altLang="ko-KR" b="0" dirty="0"/>
                  <a:t>(s, a, r, s’) </a:t>
                </a:r>
                <a:r>
                  <a:rPr kumimoji="0" lang="ko-KR" altLang="en-US" b="0" dirty="0" err="1"/>
                  <a:t>튜플만</a:t>
                </a:r>
                <a:r>
                  <a:rPr kumimoji="0" lang="ko-KR" altLang="en-US" b="0" dirty="0"/>
                  <a:t> 가지고 학습을 진행한다</a:t>
                </a:r>
                <a:r>
                  <a:rPr kumimoji="0" lang="en-US" altLang="ko-KR" b="0" dirty="0"/>
                  <a:t>. </a:t>
                </a:r>
                <a:r>
                  <a:rPr kumimoji="0" lang="ko-KR" altLang="en-US" b="0" dirty="0"/>
                  <a:t>학습하는 방법에는 여러가지가 있겠지만</a:t>
                </a:r>
                <a:r>
                  <a:rPr kumimoji="0" lang="en-US" altLang="ko-KR" b="0" dirty="0"/>
                  <a:t>, </a:t>
                </a:r>
                <a:r>
                  <a:rPr kumimoji="0" lang="ko-KR" altLang="en-US" b="0" dirty="0"/>
                  <a:t>대표적인 것은 </a:t>
                </a:r>
                <a:r>
                  <a:rPr kumimoji="0" lang="en-US" altLang="ko-KR" b="0" dirty="0"/>
                  <a:t>Offline-DDPG </a:t>
                </a:r>
                <a:r>
                  <a:rPr kumimoji="0" lang="ko-KR" altLang="en-US" b="0" dirty="0"/>
                  <a:t>방식이다</a:t>
                </a:r>
                <a:r>
                  <a:rPr kumimoji="0" lang="en-US" altLang="ko-KR" b="0" dirty="0"/>
                  <a:t>. </a:t>
                </a:r>
                <a:r>
                  <a:rPr kumimoji="0" lang="ko-KR" altLang="en-US" b="0" dirty="0"/>
                  <a:t>이 학습을 통해 </a:t>
                </a:r>
                <a:r>
                  <a:rPr kumimoji="0" lang="en-US" altLang="ko-KR" b="0" dirty="0"/>
                  <a:t>agent</a:t>
                </a:r>
                <a:r>
                  <a:rPr kumimoji="0" lang="ko-KR" altLang="en-US" b="0" dirty="0"/>
                  <a:t>는 정책 </a:t>
                </a:r>
                <a14:m>
                  <m:oMath xmlns:m="http://schemas.openxmlformats.org/officeDocument/2006/math">
                    <m:r>
                      <a:rPr kumimoji="0" lang="en-US" altLang="ko-KR" b="0" i="1" dirty="0" smtClean="0">
                        <a:latin typeface="Cambria Math" panose="02040503050406030204" pitchFamily="18" charset="0"/>
                      </a:rPr>
                      <m:t>𝜋</m:t>
                    </m:r>
                  </m:oMath>
                </a14:m>
                <a:r>
                  <a:rPr kumimoji="0" lang="ko-KR" altLang="en-US" b="0" dirty="0"/>
                  <a:t>를 학습한다</a:t>
                </a:r>
                <a:r>
                  <a:rPr kumimoji="0" lang="en-US" altLang="ko-KR" b="0" dirty="0"/>
                  <a:t>. </a:t>
                </a:r>
                <a:endParaRPr kumimoji="0" lang="ko-KR" altLang="en-US" b="0" dirty="0"/>
              </a:p>
            </p:txBody>
          </p:sp>
        </mc:Choice>
        <mc:Fallback xmlns="">
          <p:sp>
            <p:nvSpPr>
              <p:cNvPr id="8" name="텍스트 개체 틀 5">
                <a:extLst>
                  <a:ext uri="{FF2B5EF4-FFF2-40B4-BE49-F238E27FC236}">
                    <a16:creationId xmlns:a16="http://schemas.microsoft.com/office/drawing/2014/main" id="{2C6B2D2C-FB5A-AEF7-B1CA-13733DEAC230}"/>
                  </a:ext>
                </a:extLst>
              </p:cNvPr>
              <p:cNvSpPr txBox="1">
                <a:spLocks noRot="1" noChangeAspect="1" noMove="1" noResize="1" noEditPoints="1" noAdjustHandles="1" noChangeArrowheads="1" noChangeShapeType="1" noTextEdit="1"/>
              </p:cNvSpPr>
              <p:nvPr/>
            </p:nvSpPr>
            <p:spPr>
              <a:xfrm>
                <a:off x="2419709" y="2953246"/>
                <a:ext cx="6952891" cy="866775"/>
              </a:xfrm>
              <a:prstGeom prst="rect">
                <a:avLst/>
              </a:prstGeom>
              <a:blipFill>
                <a:blip r:embed="rId5"/>
                <a:stretch>
                  <a:fillRect l="-437" t="-1379"/>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9" name="텍스트 개체 틀 5">
                <a:extLst>
                  <a:ext uri="{FF2B5EF4-FFF2-40B4-BE49-F238E27FC236}">
                    <a16:creationId xmlns:a16="http://schemas.microsoft.com/office/drawing/2014/main" id="{02004230-E534-1918-9E1B-A3F101C446D5}"/>
                  </a:ext>
                </a:extLst>
              </p:cNvPr>
              <p:cNvSpPr txBox="1">
                <a:spLocks/>
              </p:cNvSpPr>
              <p:nvPr/>
            </p:nvSpPr>
            <p:spPr>
              <a:xfrm>
                <a:off x="2419709" y="4067773"/>
                <a:ext cx="6952891" cy="980477"/>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ko-KR" altLang="en-US" b="0" dirty="0"/>
                  <a:t>하지만 학습한 정책 </a:t>
                </a:r>
                <a14:m>
                  <m:oMath xmlns:m="http://schemas.openxmlformats.org/officeDocument/2006/math">
                    <m:r>
                      <a:rPr kumimoji="0" lang="en-US" altLang="ko-KR" b="0" i="1" dirty="0">
                        <a:latin typeface="Cambria Math" panose="02040503050406030204" pitchFamily="18" charset="0"/>
                      </a:rPr>
                      <m:t>𝜋</m:t>
                    </m:r>
                    <m:r>
                      <a:rPr kumimoji="0" lang="ko-KR" altLang="en-US" b="0" i="1" smtClean="0">
                        <a:latin typeface="Cambria Math" panose="02040503050406030204" pitchFamily="18" charset="0"/>
                      </a:rPr>
                      <m:t>가</m:t>
                    </m:r>
                  </m:oMath>
                </a14:m>
                <a:r>
                  <a:rPr kumimoji="0" lang="ko-KR" altLang="en-US" b="0" dirty="0"/>
                  <a:t> 정말로 잘 작동할지 검증할 방법이 없다</a:t>
                </a:r>
                <a:r>
                  <a:rPr kumimoji="0" lang="en-US" altLang="ko-KR" b="0" dirty="0"/>
                  <a:t>. </a:t>
                </a:r>
                <a:r>
                  <a:rPr kumimoji="0" lang="ko-KR" altLang="en-US" b="0" dirty="0"/>
                  <a:t>주어진 </a:t>
                </a:r>
                <a:r>
                  <a:rPr kumimoji="0" lang="en-US" altLang="ko-KR" b="0" dirty="0"/>
                  <a:t>state, action</a:t>
                </a:r>
                <a:r>
                  <a:rPr kumimoji="0" lang="ko-KR" altLang="en-US" b="0" dirty="0"/>
                  <a:t>에서 다음 </a:t>
                </a:r>
                <a:r>
                  <a:rPr kumimoji="0" lang="en-US" altLang="ko-KR" b="0" dirty="0"/>
                  <a:t>state</a:t>
                </a:r>
                <a:r>
                  <a:rPr kumimoji="0" lang="ko-KR" altLang="en-US" b="0" dirty="0"/>
                  <a:t>가 어떨지 결정할 수 없기 때문이다</a:t>
                </a:r>
                <a:r>
                  <a:rPr kumimoji="0" lang="en-US" altLang="ko-KR" b="0" dirty="0"/>
                  <a:t>. </a:t>
                </a:r>
                <a14:m>
                  <m:oMath xmlns:m="http://schemas.openxmlformats.org/officeDocument/2006/math">
                    <m:r>
                      <a:rPr kumimoji="0" lang="en-US" altLang="ko-KR" b="0" i="1" dirty="0">
                        <a:latin typeface="Cambria Math" panose="02040503050406030204" pitchFamily="18" charset="0"/>
                      </a:rPr>
                      <m:t>𝜋</m:t>
                    </m:r>
                  </m:oMath>
                </a14:m>
                <a:r>
                  <a:rPr kumimoji="0" lang="ko-KR" altLang="en-US" b="0" dirty="0"/>
                  <a:t>가 괜찮은 정책이라는 근거는 </a:t>
                </a:r>
                <a:r>
                  <a:rPr kumimoji="0" lang="en-US" altLang="ko-KR" b="0" dirty="0"/>
                  <a:t>actor</a:t>
                </a:r>
                <a:r>
                  <a:rPr kumimoji="0" lang="ko-KR" altLang="en-US" b="0" dirty="0"/>
                  <a:t>와 </a:t>
                </a:r>
                <a:r>
                  <a:rPr kumimoji="0" lang="en-US" altLang="ko-KR" b="0" dirty="0"/>
                  <a:t>critic</a:t>
                </a:r>
                <a:r>
                  <a:rPr kumimoji="0" lang="ko-KR" altLang="en-US" b="0" dirty="0"/>
                  <a:t>의 </a:t>
                </a:r>
                <a:r>
                  <a:rPr kumimoji="0" lang="en-US" altLang="ko-KR" b="0" dirty="0"/>
                  <a:t>loss</a:t>
                </a:r>
                <a:r>
                  <a:rPr kumimoji="0" lang="ko-KR" altLang="en-US" b="0" dirty="0"/>
                  <a:t>가 최솟값으로 수렴했기 때문이지</a:t>
                </a:r>
                <a:r>
                  <a:rPr kumimoji="0" lang="en-US" altLang="ko-KR" b="0" dirty="0"/>
                  <a:t>, </a:t>
                </a:r>
                <a:r>
                  <a:rPr kumimoji="0" lang="ko-KR" altLang="en-US" b="0" dirty="0"/>
                  <a:t>정말로 최적성이 보장되는지는 알 수 없다</a:t>
                </a:r>
                <a:r>
                  <a:rPr kumimoji="0" lang="en-US" altLang="ko-KR" b="0" dirty="0"/>
                  <a:t>.</a:t>
                </a:r>
                <a:endParaRPr kumimoji="0" lang="ko-KR" altLang="en-US" b="0" dirty="0"/>
              </a:p>
            </p:txBody>
          </p:sp>
        </mc:Choice>
        <mc:Fallback xmlns="">
          <p:sp>
            <p:nvSpPr>
              <p:cNvPr id="9" name="텍스트 개체 틀 5">
                <a:extLst>
                  <a:ext uri="{FF2B5EF4-FFF2-40B4-BE49-F238E27FC236}">
                    <a16:creationId xmlns:a16="http://schemas.microsoft.com/office/drawing/2014/main" id="{02004230-E534-1918-9E1B-A3F101C446D5}"/>
                  </a:ext>
                </a:extLst>
              </p:cNvPr>
              <p:cNvSpPr txBox="1">
                <a:spLocks noRot="1" noChangeAspect="1" noMove="1" noResize="1" noEditPoints="1" noAdjustHandles="1" noChangeArrowheads="1" noChangeShapeType="1" noTextEdit="1"/>
              </p:cNvSpPr>
              <p:nvPr/>
            </p:nvSpPr>
            <p:spPr>
              <a:xfrm>
                <a:off x="2419709" y="4067773"/>
                <a:ext cx="6952891" cy="980477"/>
              </a:xfrm>
              <a:prstGeom prst="rect">
                <a:avLst/>
              </a:prstGeom>
              <a:blipFill>
                <a:blip r:embed="rId6"/>
                <a:stretch>
                  <a:fillRect l="-437" t="-1227" b="-1227"/>
                </a:stretch>
              </a:blipFill>
              <a:ln>
                <a:solidFill>
                  <a:schemeClr val="tx1"/>
                </a:solidFill>
              </a:ln>
            </p:spPr>
            <p:txBody>
              <a:bodyPr/>
              <a:lstStyle/>
              <a:p>
                <a:r>
                  <a:rPr lang="ko-KR" altLang="en-US">
                    <a:noFill/>
                  </a:rPr>
                  <a:t> </a:t>
                </a:r>
              </a:p>
            </p:txBody>
          </p:sp>
        </mc:Fallback>
      </mc:AlternateContent>
      <p:cxnSp>
        <p:nvCxnSpPr>
          <p:cNvPr id="11" name="직선 화살표 연결선 10">
            <a:extLst>
              <a:ext uri="{FF2B5EF4-FFF2-40B4-BE49-F238E27FC236}">
                <a16:creationId xmlns:a16="http://schemas.microsoft.com/office/drawing/2014/main" id="{E0DD1D42-481D-7DCA-5EF1-DB721561AE77}"/>
              </a:ext>
            </a:extLst>
          </p:cNvPr>
          <p:cNvCxnSpPr>
            <a:stCxn id="3" idx="2"/>
            <a:endCxn id="8" idx="0"/>
          </p:cNvCxnSpPr>
          <p:nvPr/>
        </p:nvCxnSpPr>
        <p:spPr>
          <a:xfrm>
            <a:off x="5896155" y="2714873"/>
            <a:ext cx="0" cy="238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1597CE30-0092-F87D-E72D-79F2D149A360}"/>
              </a:ext>
            </a:extLst>
          </p:cNvPr>
          <p:cNvCxnSpPr>
            <a:stCxn id="8" idx="2"/>
            <a:endCxn id="9" idx="0"/>
          </p:cNvCxnSpPr>
          <p:nvPr/>
        </p:nvCxnSpPr>
        <p:spPr>
          <a:xfrm>
            <a:off x="5896155" y="3820021"/>
            <a:ext cx="0" cy="2477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7478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E9073-9676-4374-47FC-2F55C26FD4E1}"/>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347AF467-D8BE-27EF-2AC5-CC326380F57B}"/>
              </a:ext>
            </a:extLst>
          </p:cNvPr>
          <p:cNvSpPr>
            <a:spLocks noGrp="1"/>
          </p:cNvSpPr>
          <p:nvPr>
            <p:ph type="body" sz="quarter" idx="10"/>
          </p:nvPr>
        </p:nvSpPr>
        <p:spPr/>
        <p:txBody>
          <a:bodyPr/>
          <a:lstStyle/>
          <a:p>
            <a:pPr marL="0" indent="0">
              <a:buNone/>
            </a:pPr>
            <a:r>
              <a:rPr lang="en-US" altLang="ko-KR" dirty="0"/>
              <a:t>testbed </a:t>
            </a:r>
            <a:r>
              <a:rPr lang="ko-KR" altLang="en-US" dirty="0"/>
              <a:t>환경 </a:t>
            </a:r>
            <a:r>
              <a:rPr lang="ko-KR" altLang="en-US" dirty="0" err="1"/>
              <a:t>구축시</a:t>
            </a:r>
            <a:endParaRPr lang="ko-KR" altLang="en-US" dirty="0"/>
          </a:p>
        </p:txBody>
      </p:sp>
      <p:sp>
        <p:nvSpPr>
          <p:cNvPr id="4" name="제목 3">
            <a:extLst>
              <a:ext uri="{FF2B5EF4-FFF2-40B4-BE49-F238E27FC236}">
                <a16:creationId xmlns:a16="http://schemas.microsoft.com/office/drawing/2014/main" id="{5743A3FD-FC09-EFA7-9877-7A75EC3F4B14}"/>
              </a:ext>
            </a:extLst>
          </p:cNvPr>
          <p:cNvSpPr>
            <a:spLocks noGrp="1"/>
          </p:cNvSpPr>
          <p:nvPr>
            <p:ph type="title"/>
          </p:nvPr>
        </p:nvSpPr>
        <p:spPr/>
        <p:txBody>
          <a:bodyPr/>
          <a:lstStyle/>
          <a:p>
            <a:r>
              <a:rPr lang="en-US" altLang="ko-KR" dirty="0"/>
              <a:t>2.1 </a:t>
            </a:r>
            <a:r>
              <a:rPr lang="ko-KR" altLang="en-US" dirty="0"/>
              <a:t>강화학습</a:t>
            </a:r>
            <a:r>
              <a:rPr lang="en-US" altLang="ko-KR" dirty="0"/>
              <a:t> testbed </a:t>
            </a:r>
            <a:r>
              <a:rPr lang="ko-KR" altLang="en-US" dirty="0"/>
              <a:t>환경 구축 및 실험 </a:t>
            </a:r>
            <a:r>
              <a:rPr lang="en-US" altLang="ko-KR" dirty="0"/>
              <a:t>: testbed </a:t>
            </a:r>
            <a:r>
              <a:rPr lang="ko-KR" altLang="en-US" dirty="0"/>
              <a:t>환경의 필요성</a:t>
            </a:r>
          </a:p>
        </p:txBody>
      </p:sp>
      <p:sp>
        <p:nvSpPr>
          <p:cNvPr id="5" name="텍스트 개체 틀 4">
            <a:extLst>
              <a:ext uri="{FF2B5EF4-FFF2-40B4-BE49-F238E27FC236}">
                <a16:creationId xmlns:a16="http://schemas.microsoft.com/office/drawing/2014/main" id="{C447EF7D-3568-E975-3E92-27E0CB5FEE15}"/>
              </a:ext>
            </a:extLst>
          </p:cNvPr>
          <p:cNvSpPr>
            <a:spLocks noGrp="1"/>
          </p:cNvSpPr>
          <p:nvPr>
            <p:ph type="body" sz="quarter" idx="12"/>
          </p:nvPr>
        </p:nvSpPr>
        <p:spPr/>
        <p:txBody>
          <a:bodyPr/>
          <a:lstStyle/>
          <a:p>
            <a:r>
              <a:rPr lang="ko-KR" altLang="en-US" dirty="0"/>
              <a:t>서부발전</a:t>
            </a:r>
          </a:p>
        </p:txBody>
      </p:sp>
      <p:sp>
        <p:nvSpPr>
          <p:cNvPr id="6" name="텍스트 개체 틀 5">
            <a:extLst>
              <a:ext uri="{FF2B5EF4-FFF2-40B4-BE49-F238E27FC236}">
                <a16:creationId xmlns:a16="http://schemas.microsoft.com/office/drawing/2014/main" id="{00E2097C-4065-FFFA-5F07-BC64CD3797A6}"/>
              </a:ext>
            </a:extLst>
          </p:cNvPr>
          <p:cNvSpPr>
            <a:spLocks noGrp="1"/>
          </p:cNvSpPr>
          <p:nvPr>
            <p:ph type="body" sz="quarter" idx="11"/>
          </p:nvPr>
        </p:nvSpPr>
        <p:spPr/>
        <p:txBody>
          <a:bodyPr/>
          <a:lstStyle/>
          <a:p>
            <a:r>
              <a:rPr lang="ko-KR" altLang="en-US" dirty="0"/>
              <a:t>환경모델이 확정된 </a:t>
            </a:r>
            <a:r>
              <a:rPr lang="en-US" altLang="ko-KR" dirty="0"/>
              <a:t>testbed</a:t>
            </a:r>
            <a:r>
              <a:rPr lang="ko-KR" altLang="en-US" dirty="0"/>
              <a:t> 환경을 만들어두면 테스트가 가능해진다</a:t>
            </a:r>
            <a:r>
              <a:rPr lang="en-US" altLang="ko-KR" dirty="0"/>
              <a:t>. </a:t>
            </a:r>
            <a:r>
              <a:rPr lang="ko-KR" altLang="en-US" dirty="0"/>
              <a:t>이때의 </a:t>
            </a:r>
            <a:r>
              <a:rPr lang="en-US" altLang="ko-KR" dirty="0"/>
              <a:t>testbed</a:t>
            </a:r>
            <a:r>
              <a:rPr lang="ko-KR" altLang="en-US" dirty="0"/>
              <a:t> 환경은 서부발전 환경을 모사하는 </a:t>
            </a:r>
            <a:r>
              <a:rPr lang="ko-KR" altLang="en-US" dirty="0" err="1"/>
              <a:t>환경이라기보다는</a:t>
            </a:r>
            <a:r>
              <a:rPr lang="ko-KR" altLang="en-US" dirty="0"/>
              <a:t> 일반적인 환경이다</a:t>
            </a:r>
            <a:r>
              <a:rPr lang="en-US" altLang="ko-KR" dirty="0"/>
              <a:t>. </a:t>
            </a:r>
            <a:r>
              <a:rPr lang="ko-KR" altLang="en-US" dirty="0"/>
              <a:t>이 </a:t>
            </a:r>
            <a:r>
              <a:rPr lang="en-US" altLang="ko-KR" dirty="0"/>
              <a:t>testbed</a:t>
            </a:r>
            <a:r>
              <a:rPr lang="ko-KR" altLang="en-US" dirty="0"/>
              <a:t>를 통해 정말로 학습된 정책이 올바르게 작동하는지 테스트해볼 수 있고</a:t>
            </a:r>
            <a:r>
              <a:rPr lang="en-US" altLang="ko-KR" dirty="0"/>
              <a:t>, </a:t>
            </a:r>
            <a:r>
              <a:rPr lang="ko-KR" altLang="en-US" dirty="0"/>
              <a:t>고전적인 강화학습 방법으로 학습한 정책과도 그 결과를 비교할 수 있다</a:t>
            </a:r>
            <a:r>
              <a:rPr lang="en-US" altLang="ko-KR" dirty="0"/>
              <a:t>. (</a:t>
            </a:r>
            <a:r>
              <a:rPr lang="ko-KR" altLang="en-US" dirty="0"/>
              <a:t>강교수님 의견</a:t>
            </a:r>
            <a:r>
              <a:rPr lang="en-US" altLang="ko-KR" dirty="0"/>
              <a:t>)</a:t>
            </a:r>
            <a:endParaRPr lang="ko-KR" altLang="en-US" dirty="0"/>
          </a:p>
        </p:txBody>
      </p:sp>
      <p:pic>
        <p:nvPicPr>
          <p:cNvPr id="29" name="그림 28">
            <a:extLst>
              <a:ext uri="{FF2B5EF4-FFF2-40B4-BE49-F238E27FC236}">
                <a16:creationId xmlns:a16="http://schemas.microsoft.com/office/drawing/2014/main" id="{52A04E65-4C78-E427-CED3-0336239DDEF6}"/>
              </a:ext>
            </a:extLst>
          </p:cNvPr>
          <p:cNvPicPr>
            <a:picLocks noChangeAspect="1"/>
          </p:cNvPicPr>
          <p:nvPr/>
        </p:nvPicPr>
        <p:blipFill>
          <a:blip r:embed="rId2"/>
          <a:stretch>
            <a:fillRect/>
          </a:stretch>
        </p:blipFill>
        <p:spPr>
          <a:xfrm>
            <a:off x="1266709" y="2782650"/>
            <a:ext cx="828791" cy="733527"/>
          </a:xfrm>
          <a:prstGeom prst="rect">
            <a:avLst/>
          </a:prstGeom>
        </p:spPr>
      </p:pic>
      <mc:AlternateContent xmlns:mc="http://schemas.openxmlformats.org/markup-compatibility/2006" xmlns:a14="http://schemas.microsoft.com/office/drawing/2010/main">
        <mc:Choice Requires="a14">
          <p:sp>
            <p:nvSpPr>
              <p:cNvPr id="30" name="사각형: 둥근 모서리 29">
                <a:extLst>
                  <a:ext uri="{FF2B5EF4-FFF2-40B4-BE49-F238E27FC236}">
                    <a16:creationId xmlns:a16="http://schemas.microsoft.com/office/drawing/2014/main" id="{2FF1B36B-42A4-C2E8-5047-A3147A555595}"/>
                  </a:ext>
                </a:extLst>
              </p:cNvPr>
              <p:cNvSpPr/>
              <p:nvPr/>
            </p:nvSpPr>
            <p:spPr bwMode="auto">
              <a:xfrm>
                <a:off x="1266709" y="4914900"/>
                <a:ext cx="876300" cy="866775"/>
              </a:xfrm>
              <a:prstGeom prst="roundRect">
                <a:avLst/>
              </a:prstGeom>
              <a:solidFill>
                <a:srgbClr val="1AA0CA"/>
              </a:solidFill>
              <a:ln>
                <a:noFill/>
              </a:ln>
              <a:effectLst/>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defTabSz="911896"/>
                <a14:m>
                  <m:oMathPara xmlns:m="http://schemas.openxmlformats.org/officeDocument/2006/math">
                    <m:oMathParaPr>
                      <m:jc m:val="right"/>
                    </m:oMathParaPr>
                    <m:oMath xmlns:m="http://schemas.openxmlformats.org/officeDocument/2006/math">
                      <m:r>
                        <a:rPr lang="en-US" altLang="ko-KR" sz="3200" b="1" i="1" smtClean="0">
                          <a:solidFill>
                            <a:prstClr val="white"/>
                          </a:solidFill>
                          <a:latin typeface="Cambria Math" panose="02040503050406030204" pitchFamily="18" charset="0"/>
                        </a:rPr>
                        <m:t>𝒕𝒆𝒔𝒕</m:t>
                      </m:r>
                    </m:oMath>
                  </m:oMathPara>
                </a14:m>
                <a:endParaRPr lang="ko-KR" altLang="en-US" sz="2400" dirty="0">
                  <a:solidFill>
                    <a:prstClr val="white"/>
                  </a:solidFill>
                  <a:latin typeface="+mn-ea"/>
                </a:endParaRPr>
              </a:p>
            </p:txBody>
          </p:sp>
        </mc:Choice>
        <mc:Fallback xmlns="">
          <p:sp>
            <p:nvSpPr>
              <p:cNvPr id="30" name="사각형: 둥근 모서리 29">
                <a:extLst>
                  <a:ext uri="{FF2B5EF4-FFF2-40B4-BE49-F238E27FC236}">
                    <a16:creationId xmlns:a16="http://schemas.microsoft.com/office/drawing/2014/main" id="{2FF1B36B-42A4-C2E8-5047-A3147A555595}"/>
                  </a:ext>
                </a:extLst>
              </p:cNvPr>
              <p:cNvSpPr>
                <a:spLocks noRot="1" noChangeAspect="1" noMove="1" noResize="1" noEditPoints="1" noAdjustHandles="1" noChangeArrowheads="1" noChangeShapeType="1" noTextEdit="1"/>
              </p:cNvSpPr>
              <p:nvPr/>
            </p:nvSpPr>
            <p:spPr bwMode="auto">
              <a:xfrm>
                <a:off x="1266709" y="4914900"/>
                <a:ext cx="876300" cy="866775"/>
              </a:xfrm>
              <a:prstGeom prst="roundRect">
                <a:avLst/>
              </a:prstGeom>
              <a:blipFill>
                <a:blip r:embed="rId3"/>
                <a:stretch>
                  <a:fillRect/>
                </a:stretch>
              </a:blipFill>
              <a:ln>
                <a:noFill/>
              </a:ln>
              <a:effectLst/>
            </p:spPr>
            <p:txBody>
              <a:bodyPr/>
              <a:lstStyle/>
              <a:p>
                <a:r>
                  <a:rPr lang="ko-KR" altLang="en-US">
                    <a:noFill/>
                  </a:rPr>
                  <a:t> </a:t>
                </a:r>
              </a:p>
            </p:txBody>
          </p:sp>
        </mc:Fallback>
      </mc:AlternateContent>
      <p:sp>
        <p:nvSpPr>
          <p:cNvPr id="3" name="텍스트 개체 틀 5">
            <a:extLst>
              <a:ext uri="{FF2B5EF4-FFF2-40B4-BE49-F238E27FC236}">
                <a16:creationId xmlns:a16="http://schemas.microsoft.com/office/drawing/2014/main" id="{608B4859-2F3F-1825-89A8-C421DF3708F5}"/>
              </a:ext>
            </a:extLst>
          </p:cNvPr>
          <p:cNvSpPr txBox="1">
            <a:spLocks/>
          </p:cNvSpPr>
          <p:nvPr/>
        </p:nvSpPr>
        <p:spPr>
          <a:xfrm>
            <a:off x="2429235" y="2810021"/>
            <a:ext cx="3390540" cy="733527"/>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ko-KR" altLang="en-US" b="0" dirty="0"/>
              <a:t>적절한 정책을 활용하여 </a:t>
            </a:r>
            <a:r>
              <a:rPr kumimoji="0" lang="en-US" altLang="ko-KR" b="0" dirty="0"/>
              <a:t>s, a, r, s’</a:t>
            </a:r>
            <a:r>
              <a:rPr kumimoji="0" lang="ko-KR" altLang="en-US" b="0" dirty="0"/>
              <a:t>를</a:t>
            </a:r>
            <a:r>
              <a:rPr kumimoji="0" lang="en-US" altLang="ko-KR" b="0" dirty="0"/>
              <a:t> </a:t>
            </a:r>
            <a:r>
              <a:rPr kumimoji="0" lang="ko-KR" altLang="en-US" b="0" dirty="0" err="1"/>
              <a:t>얻어나간다</a:t>
            </a:r>
            <a:r>
              <a:rPr kumimoji="0" lang="en-US" altLang="ko-KR" b="0" dirty="0"/>
              <a:t>. </a:t>
            </a:r>
            <a:r>
              <a:rPr kumimoji="0" lang="ko-KR" altLang="en-US" b="0" dirty="0"/>
              <a:t>이를 통해 </a:t>
            </a:r>
            <a:r>
              <a:rPr kumimoji="0" lang="en-US" altLang="ko-KR" b="0" dirty="0"/>
              <a:t>historical data</a:t>
            </a:r>
            <a:r>
              <a:rPr kumimoji="0" lang="ko-KR" altLang="en-US" b="0" dirty="0"/>
              <a:t>를 얻을 수 있다</a:t>
            </a:r>
            <a:r>
              <a:rPr kumimoji="0" lang="en-US" altLang="ko-KR" b="0" dirty="0"/>
              <a:t>.</a:t>
            </a:r>
            <a:endParaRPr kumimoji="0" lang="ko-KR" altLang="en-US" b="0" dirty="0"/>
          </a:p>
        </p:txBody>
      </p:sp>
      <mc:AlternateContent xmlns:mc="http://schemas.openxmlformats.org/markup-compatibility/2006" xmlns:a14="http://schemas.microsoft.com/office/drawing/2010/main">
        <mc:Choice Requires="a14">
          <p:sp>
            <p:nvSpPr>
              <p:cNvPr id="27" name="사각형: 둥근 모서리 26">
                <a:extLst>
                  <a:ext uri="{FF2B5EF4-FFF2-40B4-BE49-F238E27FC236}">
                    <a16:creationId xmlns:a16="http://schemas.microsoft.com/office/drawing/2014/main" id="{45E5C8CF-1D7D-5D91-D59A-30D6838E5F47}"/>
                  </a:ext>
                </a:extLst>
              </p:cNvPr>
              <p:cNvSpPr/>
              <p:nvPr/>
            </p:nvSpPr>
            <p:spPr bwMode="auto">
              <a:xfrm>
                <a:off x="1266709" y="1668174"/>
                <a:ext cx="876300" cy="866775"/>
              </a:xfrm>
              <a:prstGeom prst="roundRect">
                <a:avLst/>
              </a:prstGeom>
              <a:solidFill>
                <a:srgbClr val="1AA0CA"/>
              </a:solidFill>
              <a:ln>
                <a:noFill/>
              </a:ln>
              <a:effectLst/>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defTabSz="911896"/>
                <a14:m>
                  <m:oMathPara xmlns:m="http://schemas.openxmlformats.org/officeDocument/2006/math">
                    <m:oMathParaPr>
                      <m:jc m:val="center"/>
                    </m:oMathParaPr>
                    <m:oMath xmlns:m="http://schemas.openxmlformats.org/officeDocument/2006/math">
                      <m:r>
                        <a:rPr lang="en-US" altLang="ko-KR" sz="3200" b="1" i="1" smtClean="0">
                          <a:solidFill>
                            <a:prstClr val="white"/>
                          </a:solidFill>
                          <a:latin typeface="Cambria Math" panose="02040503050406030204" pitchFamily="18" charset="0"/>
                        </a:rPr>
                        <m:t>𝒆𝒏𝒗</m:t>
                      </m:r>
                    </m:oMath>
                  </m:oMathPara>
                </a14:m>
                <a:endParaRPr lang="ko-KR" altLang="en-US" sz="2400" dirty="0">
                  <a:solidFill>
                    <a:prstClr val="white"/>
                  </a:solidFill>
                  <a:latin typeface="+mn-ea"/>
                </a:endParaRPr>
              </a:p>
            </p:txBody>
          </p:sp>
        </mc:Choice>
        <mc:Fallback xmlns="">
          <p:sp>
            <p:nvSpPr>
              <p:cNvPr id="27" name="사각형: 둥근 모서리 26">
                <a:extLst>
                  <a:ext uri="{FF2B5EF4-FFF2-40B4-BE49-F238E27FC236}">
                    <a16:creationId xmlns:a16="http://schemas.microsoft.com/office/drawing/2014/main" id="{45E5C8CF-1D7D-5D91-D59A-30D6838E5F47}"/>
                  </a:ext>
                </a:extLst>
              </p:cNvPr>
              <p:cNvSpPr>
                <a:spLocks noRot="1" noChangeAspect="1" noMove="1" noResize="1" noEditPoints="1" noAdjustHandles="1" noChangeArrowheads="1" noChangeShapeType="1" noTextEdit="1"/>
              </p:cNvSpPr>
              <p:nvPr/>
            </p:nvSpPr>
            <p:spPr bwMode="auto">
              <a:xfrm>
                <a:off x="1266709" y="1668174"/>
                <a:ext cx="876300" cy="866775"/>
              </a:xfrm>
              <a:prstGeom prst="roundRect">
                <a:avLst/>
              </a:prstGeom>
              <a:blipFill>
                <a:blip r:embed="rId4"/>
                <a:stretch>
                  <a:fillRect/>
                </a:stretch>
              </a:blipFill>
              <a:ln>
                <a:noFill/>
              </a:ln>
              <a:effectLst/>
            </p:spPr>
            <p:txBody>
              <a:bodyPr/>
              <a:lstStyle/>
              <a:p>
                <a:r>
                  <a:rPr lang="ko-KR" altLang="en-US">
                    <a:noFill/>
                  </a:rPr>
                  <a:t> </a:t>
                </a:r>
              </a:p>
            </p:txBody>
          </p:sp>
        </mc:Fallback>
      </mc:AlternateContent>
      <p:sp>
        <p:nvSpPr>
          <p:cNvPr id="10" name="텍스트 개체 틀 5">
            <a:extLst>
              <a:ext uri="{FF2B5EF4-FFF2-40B4-BE49-F238E27FC236}">
                <a16:creationId xmlns:a16="http://schemas.microsoft.com/office/drawing/2014/main" id="{8CE62667-D7AC-F2C0-67D1-2655284B8D9F}"/>
              </a:ext>
            </a:extLst>
          </p:cNvPr>
          <p:cNvSpPr txBox="1">
            <a:spLocks/>
          </p:cNvSpPr>
          <p:nvPr/>
        </p:nvSpPr>
        <p:spPr>
          <a:xfrm>
            <a:off x="2419709" y="1784648"/>
            <a:ext cx="6952891" cy="733527"/>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ko-KR" altLang="en-US" b="0" dirty="0"/>
              <a:t>현재 상태와 현재 행동이 주어졌을 때 다음 보상과 다음 상태를 결정하는 체계를 환경모델이라고 한다</a:t>
            </a:r>
            <a:r>
              <a:rPr kumimoji="0" lang="en-US" altLang="ko-KR" b="0" dirty="0"/>
              <a:t>.</a:t>
            </a:r>
            <a:endParaRPr kumimoji="0" lang="ko-KR" altLang="en-US" b="0" dirty="0"/>
          </a:p>
        </p:txBody>
      </p:sp>
      <mc:AlternateContent xmlns:mc="http://schemas.openxmlformats.org/markup-compatibility/2006" xmlns:a14="http://schemas.microsoft.com/office/drawing/2010/main">
        <mc:Choice Requires="a14">
          <p:sp>
            <p:nvSpPr>
              <p:cNvPr id="11" name="텍스트 개체 틀 5">
                <a:extLst>
                  <a:ext uri="{FF2B5EF4-FFF2-40B4-BE49-F238E27FC236}">
                    <a16:creationId xmlns:a16="http://schemas.microsoft.com/office/drawing/2014/main" id="{A659DDD4-347C-DFCE-CE00-FA6C0374E597}"/>
                  </a:ext>
                </a:extLst>
              </p:cNvPr>
              <p:cNvSpPr txBox="1">
                <a:spLocks/>
              </p:cNvSpPr>
              <p:nvPr/>
            </p:nvSpPr>
            <p:spPr>
              <a:xfrm>
                <a:off x="6106001" y="3862585"/>
                <a:ext cx="3390540" cy="733527"/>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ko-KR" altLang="en-US" b="0" dirty="0"/>
                  <a:t>고전적인 </a:t>
                </a:r>
                <a:r>
                  <a:rPr kumimoji="0" lang="en-US" altLang="ko-KR" b="0" dirty="0"/>
                  <a:t>DDPG </a:t>
                </a:r>
                <a:r>
                  <a:rPr kumimoji="0" lang="ko-KR" altLang="en-US" b="0" dirty="0"/>
                  <a:t>알고리즘을 통해 학습하여 학습된 정책 </a:t>
                </a:r>
                <a14:m>
                  <m:oMath xmlns:m="http://schemas.openxmlformats.org/officeDocument/2006/math">
                    <m:sSub>
                      <m:sSubPr>
                        <m:ctrlPr>
                          <a:rPr kumimoji="0" lang="en-US" altLang="ko-KR" b="0" i="1" smtClean="0">
                            <a:latin typeface="Cambria Math" panose="02040503050406030204" pitchFamily="18" charset="0"/>
                          </a:rPr>
                        </m:ctrlPr>
                      </m:sSubPr>
                      <m:e>
                        <m:r>
                          <a:rPr kumimoji="0" lang="en-US" altLang="ko-KR" b="0" i="1" smtClean="0">
                            <a:latin typeface="Cambria Math" panose="02040503050406030204" pitchFamily="18" charset="0"/>
                          </a:rPr>
                          <m:t>𝜋</m:t>
                        </m:r>
                      </m:e>
                      <m:sub>
                        <m:r>
                          <a:rPr kumimoji="0" lang="en-US" altLang="ko-KR" b="0" i="1" smtClean="0">
                            <a:latin typeface="Cambria Math" panose="02040503050406030204" pitchFamily="18" charset="0"/>
                          </a:rPr>
                          <m:t>2</m:t>
                        </m:r>
                      </m:sub>
                    </m:sSub>
                    <m:r>
                      <a:rPr kumimoji="0" lang="ko-KR" altLang="en-US" b="0" i="1">
                        <a:latin typeface="Cambria Math" panose="02040503050406030204" pitchFamily="18" charset="0"/>
                      </a:rPr>
                      <m:t>를</m:t>
                    </m:r>
                  </m:oMath>
                </a14:m>
                <a:r>
                  <a:rPr kumimoji="0" lang="ko-KR" altLang="en-US" b="0" dirty="0"/>
                  <a:t> 얻는다</a:t>
                </a:r>
                <a:r>
                  <a:rPr kumimoji="0" lang="en-US" altLang="ko-KR" b="0" dirty="0"/>
                  <a:t>.</a:t>
                </a:r>
                <a:endParaRPr kumimoji="0" lang="ko-KR" altLang="en-US" b="0" dirty="0"/>
              </a:p>
            </p:txBody>
          </p:sp>
        </mc:Choice>
        <mc:Fallback xmlns="">
          <p:sp>
            <p:nvSpPr>
              <p:cNvPr id="11" name="텍스트 개체 틀 5">
                <a:extLst>
                  <a:ext uri="{FF2B5EF4-FFF2-40B4-BE49-F238E27FC236}">
                    <a16:creationId xmlns:a16="http://schemas.microsoft.com/office/drawing/2014/main" id="{A659DDD4-347C-DFCE-CE00-FA6C0374E597}"/>
                  </a:ext>
                </a:extLst>
              </p:cNvPr>
              <p:cNvSpPr txBox="1">
                <a:spLocks noRot="1" noChangeAspect="1" noMove="1" noResize="1" noEditPoints="1" noAdjustHandles="1" noChangeArrowheads="1" noChangeShapeType="1" noTextEdit="1"/>
              </p:cNvSpPr>
              <p:nvPr/>
            </p:nvSpPr>
            <p:spPr>
              <a:xfrm>
                <a:off x="6106001" y="3862585"/>
                <a:ext cx="3390540" cy="733527"/>
              </a:xfrm>
              <a:prstGeom prst="rect">
                <a:avLst/>
              </a:prstGeom>
              <a:blipFill>
                <a:blip r:embed="rId5"/>
                <a:stretch>
                  <a:fillRect l="-1075" t="-2459"/>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2" name="텍스트 개체 틀 5">
                <a:extLst>
                  <a:ext uri="{FF2B5EF4-FFF2-40B4-BE49-F238E27FC236}">
                    <a16:creationId xmlns:a16="http://schemas.microsoft.com/office/drawing/2014/main" id="{F7741C7D-23D1-D2AC-EA10-2994A55E9E44}"/>
                  </a:ext>
                </a:extLst>
              </p:cNvPr>
              <p:cNvSpPr txBox="1">
                <a:spLocks/>
              </p:cNvSpPr>
              <p:nvPr/>
            </p:nvSpPr>
            <p:spPr>
              <a:xfrm>
                <a:off x="2429235" y="3853060"/>
                <a:ext cx="3390540" cy="733527"/>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en-US" altLang="ko-KR" b="0" dirty="0"/>
                  <a:t>Offline-DDPG </a:t>
                </a:r>
                <a:r>
                  <a:rPr kumimoji="0" lang="ko-KR" altLang="en-US" b="0" dirty="0"/>
                  <a:t>등의 방법으로 학습하여 학습된 정책 </a:t>
                </a:r>
                <a14:m>
                  <m:oMath xmlns:m="http://schemas.openxmlformats.org/officeDocument/2006/math">
                    <m:sSub>
                      <m:sSubPr>
                        <m:ctrlPr>
                          <a:rPr kumimoji="0" lang="en-US" altLang="ko-KR" b="0" i="1" smtClean="0">
                            <a:latin typeface="Cambria Math" panose="02040503050406030204" pitchFamily="18" charset="0"/>
                          </a:rPr>
                        </m:ctrlPr>
                      </m:sSubPr>
                      <m:e>
                        <m:r>
                          <a:rPr kumimoji="0" lang="en-US" altLang="ko-KR" b="0" i="1" smtClean="0">
                            <a:latin typeface="Cambria Math" panose="02040503050406030204" pitchFamily="18" charset="0"/>
                          </a:rPr>
                          <m:t>𝜋</m:t>
                        </m:r>
                      </m:e>
                      <m:sub>
                        <m:r>
                          <a:rPr kumimoji="0" lang="en-US" altLang="ko-KR" b="0" i="1" smtClean="0">
                            <a:latin typeface="Cambria Math" panose="02040503050406030204" pitchFamily="18" charset="0"/>
                          </a:rPr>
                          <m:t>1</m:t>
                        </m:r>
                      </m:sub>
                    </m:sSub>
                  </m:oMath>
                </a14:m>
                <a:r>
                  <a:rPr kumimoji="0" lang="ko-KR" altLang="en-US" b="0" dirty="0"/>
                  <a:t>를</a:t>
                </a:r>
                <a:r>
                  <a:rPr kumimoji="0" lang="en-US" altLang="ko-KR" b="0" dirty="0"/>
                  <a:t> </a:t>
                </a:r>
                <a:r>
                  <a:rPr kumimoji="0" lang="ko-KR" altLang="en-US" b="0" dirty="0"/>
                  <a:t>얻는다</a:t>
                </a:r>
                <a:r>
                  <a:rPr kumimoji="0" lang="en-US" altLang="ko-KR" b="0" dirty="0"/>
                  <a:t>.</a:t>
                </a:r>
                <a:endParaRPr kumimoji="0" lang="ko-KR" altLang="en-US" b="0" dirty="0"/>
              </a:p>
            </p:txBody>
          </p:sp>
        </mc:Choice>
        <mc:Fallback xmlns="">
          <p:sp>
            <p:nvSpPr>
              <p:cNvPr id="12" name="텍스트 개체 틀 5">
                <a:extLst>
                  <a:ext uri="{FF2B5EF4-FFF2-40B4-BE49-F238E27FC236}">
                    <a16:creationId xmlns:a16="http://schemas.microsoft.com/office/drawing/2014/main" id="{F7741C7D-23D1-D2AC-EA10-2994A55E9E44}"/>
                  </a:ext>
                </a:extLst>
              </p:cNvPr>
              <p:cNvSpPr txBox="1">
                <a:spLocks noRot="1" noChangeAspect="1" noMove="1" noResize="1" noEditPoints="1" noAdjustHandles="1" noChangeArrowheads="1" noChangeShapeType="1" noTextEdit="1"/>
              </p:cNvSpPr>
              <p:nvPr/>
            </p:nvSpPr>
            <p:spPr>
              <a:xfrm>
                <a:off x="2429235" y="3853060"/>
                <a:ext cx="3390540" cy="733527"/>
              </a:xfrm>
              <a:prstGeom prst="rect">
                <a:avLst/>
              </a:prstGeom>
              <a:blipFill>
                <a:blip r:embed="rId6"/>
                <a:stretch>
                  <a:fillRect l="-894" t="-1639"/>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3" name="사각형: 둥근 모서리 12">
                <a:extLst>
                  <a:ext uri="{FF2B5EF4-FFF2-40B4-BE49-F238E27FC236}">
                    <a16:creationId xmlns:a16="http://schemas.microsoft.com/office/drawing/2014/main" id="{01DBA260-F355-2802-A4C8-75C674161200}"/>
                  </a:ext>
                </a:extLst>
              </p:cNvPr>
              <p:cNvSpPr/>
              <p:nvPr/>
            </p:nvSpPr>
            <p:spPr bwMode="auto">
              <a:xfrm>
                <a:off x="1266709" y="3795662"/>
                <a:ext cx="876300" cy="866775"/>
              </a:xfrm>
              <a:prstGeom prst="roundRect">
                <a:avLst/>
              </a:prstGeom>
              <a:solidFill>
                <a:srgbClr val="1AA0CA"/>
              </a:solidFill>
              <a:ln>
                <a:noFill/>
              </a:ln>
              <a:effectLst/>
            </p:spPr>
            <p:style>
              <a:lnRef idx="2">
                <a:schemeClr val="accent2">
                  <a:shade val="50000"/>
                </a:schemeClr>
              </a:lnRef>
              <a:fillRef idx="1">
                <a:schemeClr val="accent2"/>
              </a:fillRef>
              <a:effectRef idx="0">
                <a:schemeClr val="accent2"/>
              </a:effectRef>
              <a:fontRef idx="minor">
                <a:schemeClr val="lt1"/>
              </a:fontRef>
            </p:style>
            <p:txBody>
              <a:bodyPr lIns="180000" tIns="0" rIns="0" bIns="0" rtlCol="0" anchor="ctr"/>
              <a:lstStyle/>
              <a:p>
                <a:pPr algn="ctr" defTabSz="911896"/>
                <a14:m>
                  <m:oMathPara xmlns:m="http://schemas.openxmlformats.org/officeDocument/2006/math">
                    <m:oMathParaPr>
                      <m:jc m:val="center"/>
                    </m:oMathParaPr>
                    <m:oMath xmlns:m="http://schemas.openxmlformats.org/officeDocument/2006/math">
                      <m:r>
                        <a:rPr lang="en-US" altLang="ko-KR" sz="4400" b="1" i="1" smtClean="0">
                          <a:solidFill>
                            <a:prstClr val="white"/>
                          </a:solidFill>
                          <a:latin typeface="Cambria Math" panose="02040503050406030204" pitchFamily="18" charset="0"/>
                          <a:ea typeface="맑은 고딕" panose="020B0503020000020004" pitchFamily="50" charset="-127"/>
                        </a:rPr>
                        <m:t>𝝅</m:t>
                      </m:r>
                    </m:oMath>
                  </m:oMathPara>
                </a14:m>
                <a:endParaRPr lang="ko-KR" altLang="en-US" sz="4400" dirty="0">
                  <a:solidFill>
                    <a:prstClr val="white"/>
                  </a:solidFill>
                  <a:latin typeface="맑은 고딕" panose="020B0503020000020004" pitchFamily="50" charset="-127"/>
                  <a:ea typeface="맑은 고딕" panose="020B0503020000020004" pitchFamily="50" charset="-127"/>
                </a:endParaRPr>
              </a:p>
            </p:txBody>
          </p:sp>
        </mc:Choice>
        <mc:Fallback xmlns="">
          <p:sp>
            <p:nvSpPr>
              <p:cNvPr id="13" name="사각형: 둥근 모서리 12">
                <a:extLst>
                  <a:ext uri="{FF2B5EF4-FFF2-40B4-BE49-F238E27FC236}">
                    <a16:creationId xmlns:a16="http://schemas.microsoft.com/office/drawing/2014/main" id="{01DBA260-F355-2802-A4C8-75C674161200}"/>
                  </a:ext>
                </a:extLst>
              </p:cNvPr>
              <p:cNvSpPr>
                <a:spLocks noRot="1" noChangeAspect="1" noMove="1" noResize="1" noEditPoints="1" noAdjustHandles="1" noChangeArrowheads="1" noChangeShapeType="1" noTextEdit="1"/>
              </p:cNvSpPr>
              <p:nvPr/>
            </p:nvSpPr>
            <p:spPr bwMode="auto">
              <a:xfrm>
                <a:off x="1266709" y="3795662"/>
                <a:ext cx="876300" cy="866775"/>
              </a:xfrm>
              <a:prstGeom prst="roundRect">
                <a:avLst/>
              </a:prstGeom>
              <a:blipFill>
                <a:blip r:embed="rId7"/>
                <a:stretch>
                  <a:fillRect/>
                </a:stretch>
              </a:blipFill>
              <a:ln>
                <a:noFill/>
              </a:ln>
              <a:effectLst/>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4" name="텍스트 개체 틀 5">
                <a:extLst>
                  <a:ext uri="{FF2B5EF4-FFF2-40B4-BE49-F238E27FC236}">
                    <a16:creationId xmlns:a16="http://schemas.microsoft.com/office/drawing/2014/main" id="{B8D4F774-B5D3-18C2-484E-C8F4390A0D01}"/>
                  </a:ext>
                </a:extLst>
              </p:cNvPr>
              <p:cNvSpPr txBox="1">
                <a:spLocks/>
              </p:cNvSpPr>
              <p:nvPr/>
            </p:nvSpPr>
            <p:spPr>
              <a:xfrm>
                <a:off x="2419710" y="4981523"/>
                <a:ext cx="3390540" cy="733527"/>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ko-KR" altLang="en-US" b="0" dirty="0"/>
                  <a:t>환경모델이 있으므로 학습된 정책 </a:t>
                </a:r>
                <a14:m>
                  <m:oMath xmlns:m="http://schemas.openxmlformats.org/officeDocument/2006/math">
                    <m:sSub>
                      <m:sSubPr>
                        <m:ctrlPr>
                          <a:rPr kumimoji="0" lang="en-US" altLang="ko-KR" b="0" i="1" smtClean="0">
                            <a:latin typeface="Cambria Math" panose="02040503050406030204" pitchFamily="18" charset="0"/>
                          </a:rPr>
                        </m:ctrlPr>
                      </m:sSubPr>
                      <m:e>
                        <m:r>
                          <a:rPr kumimoji="0" lang="en-US" altLang="ko-KR" b="0" i="1" smtClean="0">
                            <a:latin typeface="Cambria Math" panose="02040503050406030204" pitchFamily="18" charset="0"/>
                          </a:rPr>
                          <m:t>𝜋</m:t>
                        </m:r>
                      </m:e>
                      <m:sub>
                        <m:r>
                          <a:rPr kumimoji="0" lang="en-US" altLang="ko-KR" b="0" i="1" smtClean="0">
                            <a:latin typeface="Cambria Math" panose="02040503050406030204" pitchFamily="18" charset="0"/>
                          </a:rPr>
                          <m:t>1</m:t>
                        </m:r>
                      </m:sub>
                    </m:sSub>
                  </m:oMath>
                </a14:m>
                <a:r>
                  <a:rPr kumimoji="0" lang="ko-KR" altLang="en-US" b="0" dirty="0"/>
                  <a:t>의 성능을 평가할 수 있다</a:t>
                </a:r>
                <a:r>
                  <a:rPr kumimoji="0" lang="en-US" altLang="ko-KR" b="0" dirty="0"/>
                  <a:t>.</a:t>
                </a:r>
                <a:endParaRPr kumimoji="0" lang="ko-KR" altLang="en-US" b="0" dirty="0"/>
              </a:p>
            </p:txBody>
          </p:sp>
        </mc:Choice>
        <mc:Fallback xmlns="">
          <p:sp>
            <p:nvSpPr>
              <p:cNvPr id="14" name="텍스트 개체 틀 5">
                <a:extLst>
                  <a:ext uri="{FF2B5EF4-FFF2-40B4-BE49-F238E27FC236}">
                    <a16:creationId xmlns:a16="http://schemas.microsoft.com/office/drawing/2014/main" id="{B8D4F774-B5D3-18C2-484E-C8F4390A0D01}"/>
                  </a:ext>
                </a:extLst>
              </p:cNvPr>
              <p:cNvSpPr txBox="1">
                <a:spLocks noRot="1" noChangeAspect="1" noMove="1" noResize="1" noEditPoints="1" noAdjustHandles="1" noChangeArrowheads="1" noChangeShapeType="1" noTextEdit="1"/>
              </p:cNvSpPr>
              <p:nvPr/>
            </p:nvSpPr>
            <p:spPr>
              <a:xfrm>
                <a:off x="2419710" y="4981523"/>
                <a:ext cx="3390540" cy="733527"/>
              </a:xfrm>
              <a:prstGeom prst="rect">
                <a:avLst/>
              </a:prstGeom>
              <a:blipFill>
                <a:blip r:embed="rId8"/>
                <a:stretch>
                  <a:fillRect l="-896" t="-1626"/>
                </a:stretch>
              </a:blipFill>
              <a:ln>
                <a:solidFill>
                  <a:schemeClr val="tx1"/>
                </a:solidFill>
              </a:ln>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5" name="텍스트 개체 틀 5">
                <a:extLst>
                  <a:ext uri="{FF2B5EF4-FFF2-40B4-BE49-F238E27FC236}">
                    <a16:creationId xmlns:a16="http://schemas.microsoft.com/office/drawing/2014/main" id="{9857F0E6-5FA2-6F7E-76A3-0960F198FB1E}"/>
                  </a:ext>
                </a:extLst>
              </p:cNvPr>
              <p:cNvSpPr txBox="1">
                <a:spLocks/>
              </p:cNvSpPr>
              <p:nvPr/>
            </p:nvSpPr>
            <p:spPr>
              <a:xfrm>
                <a:off x="6106001" y="4981523"/>
                <a:ext cx="3390540" cy="953850"/>
              </a:xfrm>
              <a:prstGeom prst="rect">
                <a:avLst/>
              </a:prstGeom>
              <a:ln>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ko-KR" altLang="en-US" b="0" dirty="0"/>
                  <a:t>환경모델이 있으므로 학습된 정책 </a:t>
                </a:r>
                <a14:m>
                  <m:oMath xmlns:m="http://schemas.openxmlformats.org/officeDocument/2006/math">
                    <m:sSub>
                      <m:sSubPr>
                        <m:ctrlPr>
                          <a:rPr kumimoji="0" lang="en-US" altLang="ko-KR" b="0" i="1" smtClean="0">
                            <a:latin typeface="Cambria Math" panose="02040503050406030204" pitchFamily="18" charset="0"/>
                          </a:rPr>
                        </m:ctrlPr>
                      </m:sSubPr>
                      <m:e>
                        <m:r>
                          <a:rPr kumimoji="0" lang="en-US" altLang="ko-KR" b="0" i="1" smtClean="0">
                            <a:latin typeface="Cambria Math" panose="02040503050406030204" pitchFamily="18" charset="0"/>
                          </a:rPr>
                          <m:t>𝜋</m:t>
                        </m:r>
                      </m:e>
                      <m:sub>
                        <m:r>
                          <a:rPr kumimoji="0" lang="en-US" altLang="ko-KR" b="0" i="1" smtClean="0">
                            <a:latin typeface="Cambria Math" panose="02040503050406030204" pitchFamily="18" charset="0"/>
                          </a:rPr>
                          <m:t>2</m:t>
                        </m:r>
                      </m:sub>
                    </m:sSub>
                  </m:oMath>
                </a14:m>
                <a:r>
                  <a:rPr kumimoji="0" lang="ko-KR" altLang="en-US" b="0" dirty="0"/>
                  <a:t>의 성능도 평가할 수 있고 두 성능을 비교해 통해 </a:t>
                </a:r>
                <a:r>
                  <a:rPr kumimoji="0" lang="en-US" altLang="ko-KR" b="0" dirty="0"/>
                  <a:t>Offline DDPG</a:t>
                </a:r>
                <a:r>
                  <a:rPr kumimoji="0" lang="ko-KR" altLang="en-US" b="0" dirty="0"/>
                  <a:t>가 잘 학습되었는지 판단할 수 있다</a:t>
                </a:r>
                <a:r>
                  <a:rPr kumimoji="0" lang="en-US" altLang="ko-KR" b="0" dirty="0"/>
                  <a:t>.</a:t>
                </a:r>
                <a:endParaRPr kumimoji="0" lang="ko-KR" altLang="en-US" b="0" dirty="0"/>
              </a:p>
            </p:txBody>
          </p:sp>
        </mc:Choice>
        <mc:Fallback xmlns="">
          <p:sp>
            <p:nvSpPr>
              <p:cNvPr id="15" name="텍스트 개체 틀 5">
                <a:extLst>
                  <a:ext uri="{FF2B5EF4-FFF2-40B4-BE49-F238E27FC236}">
                    <a16:creationId xmlns:a16="http://schemas.microsoft.com/office/drawing/2014/main" id="{9857F0E6-5FA2-6F7E-76A3-0960F198FB1E}"/>
                  </a:ext>
                </a:extLst>
              </p:cNvPr>
              <p:cNvSpPr txBox="1">
                <a:spLocks noRot="1" noChangeAspect="1" noMove="1" noResize="1" noEditPoints="1" noAdjustHandles="1" noChangeArrowheads="1" noChangeShapeType="1" noTextEdit="1"/>
              </p:cNvSpPr>
              <p:nvPr/>
            </p:nvSpPr>
            <p:spPr>
              <a:xfrm>
                <a:off x="6106001" y="4981523"/>
                <a:ext cx="3390540" cy="953850"/>
              </a:xfrm>
              <a:prstGeom prst="rect">
                <a:avLst/>
              </a:prstGeom>
              <a:blipFill>
                <a:blip r:embed="rId9"/>
                <a:stretch>
                  <a:fillRect l="-1075" t="-1258" b="-3774"/>
                </a:stretch>
              </a:blipFill>
              <a:ln>
                <a:solidFill>
                  <a:schemeClr val="tx1"/>
                </a:solidFill>
              </a:ln>
            </p:spPr>
            <p:txBody>
              <a:bodyPr/>
              <a:lstStyle/>
              <a:p>
                <a:r>
                  <a:rPr lang="ko-KR" altLang="en-US">
                    <a:noFill/>
                  </a:rPr>
                  <a:t> </a:t>
                </a:r>
              </a:p>
            </p:txBody>
          </p:sp>
        </mc:Fallback>
      </mc:AlternateContent>
      <p:cxnSp>
        <p:nvCxnSpPr>
          <p:cNvPr id="17" name="직선 화살표 연결선 16">
            <a:extLst>
              <a:ext uri="{FF2B5EF4-FFF2-40B4-BE49-F238E27FC236}">
                <a16:creationId xmlns:a16="http://schemas.microsoft.com/office/drawing/2014/main" id="{FEF40DF5-42AE-CA24-3F1F-86867793025E}"/>
              </a:ext>
            </a:extLst>
          </p:cNvPr>
          <p:cNvCxnSpPr>
            <a:cxnSpLocks/>
            <a:endCxn id="11" idx="0"/>
          </p:cNvCxnSpPr>
          <p:nvPr/>
        </p:nvCxnSpPr>
        <p:spPr>
          <a:xfrm>
            <a:off x="7801271" y="2584850"/>
            <a:ext cx="0" cy="12777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직선 화살표 연결선 19">
            <a:extLst>
              <a:ext uri="{FF2B5EF4-FFF2-40B4-BE49-F238E27FC236}">
                <a16:creationId xmlns:a16="http://schemas.microsoft.com/office/drawing/2014/main" id="{93822566-E2AD-368E-1EA6-17533F61F599}"/>
              </a:ext>
            </a:extLst>
          </p:cNvPr>
          <p:cNvCxnSpPr>
            <a:cxnSpLocks/>
            <a:stCxn id="11" idx="2"/>
            <a:endCxn id="15" idx="0"/>
          </p:cNvCxnSpPr>
          <p:nvPr/>
        </p:nvCxnSpPr>
        <p:spPr>
          <a:xfrm>
            <a:off x="7801271" y="4596112"/>
            <a:ext cx="0" cy="3854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AFDB9138-333B-173B-A489-2D99432BC61E}"/>
              </a:ext>
            </a:extLst>
          </p:cNvPr>
          <p:cNvCxnSpPr>
            <a:stCxn id="12" idx="2"/>
            <a:endCxn id="14" idx="0"/>
          </p:cNvCxnSpPr>
          <p:nvPr/>
        </p:nvCxnSpPr>
        <p:spPr>
          <a:xfrm flipH="1">
            <a:off x="4114980" y="4586587"/>
            <a:ext cx="9525" cy="394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직선 화살표 연결선 23">
            <a:extLst>
              <a:ext uri="{FF2B5EF4-FFF2-40B4-BE49-F238E27FC236}">
                <a16:creationId xmlns:a16="http://schemas.microsoft.com/office/drawing/2014/main" id="{C0BBCC52-97FE-D88F-078C-6ABE481ABF3F}"/>
              </a:ext>
            </a:extLst>
          </p:cNvPr>
          <p:cNvCxnSpPr>
            <a:stCxn id="3" idx="2"/>
            <a:endCxn id="12" idx="0"/>
          </p:cNvCxnSpPr>
          <p:nvPr/>
        </p:nvCxnSpPr>
        <p:spPr>
          <a:xfrm>
            <a:off x="4124505" y="3543548"/>
            <a:ext cx="0" cy="3095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직선 화살표 연결선 27">
            <a:extLst>
              <a:ext uri="{FF2B5EF4-FFF2-40B4-BE49-F238E27FC236}">
                <a16:creationId xmlns:a16="http://schemas.microsoft.com/office/drawing/2014/main" id="{3DCB5386-617C-05C0-353E-A38282879558}"/>
              </a:ext>
            </a:extLst>
          </p:cNvPr>
          <p:cNvCxnSpPr>
            <a:cxnSpLocks/>
            <a:endCxn id="3" idx="0"/>
          </p:cNvCxnSpPr>
          <p:nvPr/>
        </p:nvCxnSpPr>
        <p:spPr>
          <a:xfrm>
            <a:off x="4124505" y="2518175"/>
            <a:ext cx="0" cy="2918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39272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B7F2A-E4D5-A86A-472C-6EA709911FFB}"/>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F1F6DFE2-7F74-9EA7-80B3-218D42ABE389}"/>
              </a:ext>
            </a:extLst>
          </p:cNvPr>
          <p:cNvSpPr>
            <a:spLocks noGrp="1"/>
          </p:cNvSpPr>
          <p:nvPr>
            <p:ph type="body" sz="quarter" idx="10"/>
          </p:nvPr>
        </p:nvSpPr>
        <p:spPr/>
        <p:txBody>
          <a:bodyPr/>
          <a:lstStyle/>
          <a:p>
            <a:pPr marL="0" indent="0">
              <a:buNone/>
            </a:pPr>
            <a:r>
              <a:rPr lang="ko-KR" altLang="en-US" dirty="0"/>
              <a:t>강화학습 </a:t>
            </a:r>
            <a:r>
              <a:rPr lang="en-US" altLang="ko-KR" dirty="0"/>
              <a:t>testbed </a:t>
            </a:r>
            <a:r>
              <a:rPr lang="ko-KR" altLang="en-US" dirty="0"/>
              <a:t>환경 구축</a:t>
            </a:r>
          </a:p>
        </p:txBody>
      </p:sp>
      <p:sp>
        <p:nvSpPr>
          <p:cNvPr id="4" name="제목 3">
            <a:extLst>
              <a:ext uri="{FF2B5EF4-FFF2-40B4-BE49-F238E27FC236}">
                <a16:creationId xmlns:a16="http://schemas.microsoft.com/office/drawing/2014/main" id="{792911FC-587E-DC3B-A5C5-245EB14461E8}"/>
              </a:ext>
            </a:extLst>
          </p:cNvPr>
          <p:cNvSpPr>
            <a:spLocks noGrp="1"/>
          </p:cNvSpPr>
          <p:nvPr>
            <p:ph type="title"/>
          </p:nvPr>
        </p:nvSpPr>
        <p:spPr/>
        <p:txBody>
          <a:bodyPr/>
          <a:lstStyle/>
          <a:p>
            <a:r>
              <a:rPr lang="en-US" altLang="ko-KR" dirty="0"/>
              <a:t>2.1 </a:t>
            </a:r>
            <a:r>
              <a:rPr lang="ko-KR" altLang="en-US" dirty="0"/>
              <a:t>강화학습</a:t>
            </a:r>
            <a:r>
              <a:rPr lang="en-US" altLang="ko-KR" dirty="0"/>
              <a:t> testbed </a:t>
            </a:r>
            <a:r>
              <a:rPr lang="ko-KR" altLang="en-US" dirty="0"/>
              <a:t>환경 구축 및 실험</a:t>
            </a:r>
          </a:p>
        </p:txBody>
      </p:sp>
      <p:sp>
        <p:nvSpPr>
          <p:cNvPr id="5" name="텍스트 개체 틀 4">
            <a:extLst>
              <a:ext uri="{FF2B5EF4-FFF2-40B4-BE49-F238E27FC236}">
                <a16:creationId xmlns:a16="http://schemas.microsoft.com/office/drawing/2014/main" id="{42BA15A5-50F3-6CFA-5828-B64EC9BF4E54}"/>
              </a:ext>
            </a:extLst>
          </p:cNvPr>
          <p:cNvSpPr>
            <a:spLocks noGrp="1"/>
          </p:cNvSpPr>
          <p:nvPr>
            <p:ph type="body" sz="quarter" idx="12"/>
          </p:nvPr>
        </p:nvSpPr>
        <p:spPr/>
        <p:txBody>
          <a:bodyPr/>
          <a:lstStyle/>
          <a:p>
            <a:r>
              <a:rPr lang="ko-KR" altLang="en-US" dirty="0"/>
              <a:t>서부발전</a:t>
            </a:r>
          </a:p>
        </p:txBody>
      </p:sp>
      <p:sp>
        <p:nvSpPr>
          <p:cNvPr id="6" name="텍스트 개체 틀 5">
            <a:extLst>
              <a:ext uri="{FF2B5EF4-FFF2-40B4-BE49-F238E27FC236}">
                <a16:creationId xmlns:a16="http://schemas.microsoft.com/office/drawing/2014/main" id="{4CE965DD-A4AA-EF70-6AD0-EDD191941793}"/>
              </a:ext>
            </a:extLst>
          </p:cNvPr>
          <p:cNvSpPr>
            <a:spLocks noGrp="1"/>
          </p:cNvSpPr>
          <p:nvPr>
            <p:ph type="body" sz="quarter" idx="11"/>
          </p:nvPr>
        </p:nvSpPr>
        <p:spPr/>
        <p:txBody>
          <a:bodyPr/>
          <a:lstStyle/>
          <a:p>
            <a:r>
              <a:rPr lang="ko-KR" altLang="en-US" dirty="0"/>
              <a:t>간단한 제어 문제에 대하여 </a:t>
            </a:r>
            <a:r>
              <a:rPr lang="en-US" altLang="ko-KR" dirty="0"/>
              <a:t>testbed </a:t>
            </a:r>
            <a:r>
              <a:rPr lang="ko-KR" altLang="en-US" dirty="0"/>
              <a:t>환경을 </a:t>
            </a:r>
            <a:r>
              <a:rPr lang="ko-KR" altLang="en-US" dirty="0" err="1"/>
              <a:t>만들어놓았음</a:t>
            </a:r>
            <a:r>
              <a:rPr lang="en-US" altLang="ko-KR" dirty="0"/>
              <a:t>. </a:t>
            </a:r>
            <a:r>
              <a:rPr lang="ko-KR" altLang="en-US" dirty="0"/>
              <a:t>필요시 서부발전 문제와 유사한 환경을 추가적으로 만들어 모델 테스트에 사용할 수 있음</a:t>
            </a:r>
            <a:r>
              <a:rPr lang="en-US" altLang="ko-KR" dirty="0"/>
              <a:t>.</a:t>
            </a:r>
            <a:endParaRPr lang="ko-KR" altLang="en-US" dirty="0"/>
          </a:p>
        </p:txBody>
      </p:sp>
    </p:spTree>
    <p:extLst>
      <p:ext uri="{BB962C8B-B14F-4D97-AF65-F5344CB8AC3E}">
        <p14:creationId xmlns:p14="http://schemas.microsoft.com/office/powerpoint/2010/main" val="2942890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42407-D583-56F3-58AD-92E7AE2E331D}"/>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BB929397-3D76-30B8-F097-B6ACEB092D50}"/>
              </a:ext>
            </a:extLst>
          </p:cNvPr>
          <p:cNvSpPr>
            <a:spLocks noGrp="1"/>
          </p:cNvSpPr>
          <p:nvPr>
            <p:ph type="body" sz="quarter" idx="10"/>
          </p:nvPr>
        </p:nvSpPr>
        <p:spPr/>
        <p:txBody>
          <a:bodyPr/>
          <a:lstStyle/>
          <a:p>
            <a:pPr marL="0" indent="0">
              <a:buNone/>
            </a:pPr>
            <a:r>
              <a:rPr lang="en-US" altLang="ko-KR" dirty="0"/>
              <a:t>historical data</a:t>
            </a:r>
            <a:r>
              <a:rPr lang="ko-KR" altLang="en-US" dirty="0"/>
              <a:t>에 적용 가능한 강화학습 알고리즘 </a:t>
            </a:r>
            <a:r>
              <a:rPr lang="en-US" altLang="ko-KR" dirty="0"/>
              <a:t>case study</a:t>
            </a:r>
            <a:endParaRPr lang="ko-KR" altLang="en-US" dirty="0"/>
          </a:p>
        </p:txBody>
      </p:sp>
      <p:sp>
        <p:nvSpPr>
          <p:cNvPr id="4" name="제목 3">
            <a:extLst>
              <a:ext uri="{FF2B5EF4-FFF2-40B4-BE49-F238E27FC236}">
                <a16:creationId xmlns:a16="http://schemas.microsoft.com/office/drawing/2014/main" id="{4FF64D7A-C238-E84F-9298-ECF5F16CE3B5}"/>
              </a:ext>
            </a:extLst>
          </p:cNvPr>
          <p:cNvSpPr>
            <a:spLocks noGrp="1"/>
          </p:cNvSpPr>
          <p:nvPr>
            <p:ph type="title"/>
          </p:nvPr>
        </p:nvSpPr>
        <p:spPr/>
        <p:txBody>
          <a:bodyPr/>
          <a:lstStyle/>
          <a:p>
            <a:r>
              <a:rPr lang="en-US" altLang="ko-KR" dirty="0"/>
              <a:t>2.2 </a:t>
            </a:r>
            <a:r>
              <a:rPr lang="ko-KR" altLang="en-US" dirty="0"/>
              <a:t>서부발전 문제에 맞는 알고리즘 </a:t>
            </a:r>
            <a:r>
              <a:rPr lang="en-US" altLang="ko-KR" dirty="0"/>
              <a:t>case-study</a:t>
            </a:r>
            <a:endParaRPr lang="ko-KR" altLang="en-US" dirty="0"/>
          </a:p>
        </p:txBody>
      </p:sp>
      <p:sp>
        <p:nvSpPr>
          <p:cNvPr id="5" name="텍스트 개체 틀 4">
            <a:extLst>
              <a:ext uri="{FF2B5EF4-FFF2-40B4-BE49-F238E27FC236}">
                <a16:creationId xmlns:a16="http://schemas.microsoft.com/office/drawing/2014/main" id="{7109E623-B021-8876-817F-73EABF47C092}"/>
              </a:ext>
            </a:extLst>
          </p:cNvPr>
          <p:cNvSpPr>
            <a:spLocks noGrp="1"/>
          </p:cNvSpPr>
          <p:nvPr>
            <p:ph type="body" sz="quarter" idx="12"/>
          </p:nvPr>
        </p:nvSpPr>
        <p:spPr/>
        <p:txBody>
          <a:bodyPr/>
          <a:lstStyle/>
          <a:p>
            <a:r>
              <a:rPr lang="ko-KR" altLang="en-US" dirty="0"/>
              <a:t>서부발전</a:t>
            </a:r>
          </a:p>
        </p:txBody>
      </p:sp>
      <p:sp>
        <p:nvSpPr>
          <p:cNvPr id="6" name="텍스트 개체 틀 5">
            <a:extLst>
              <a:ext uri="{FF2B5EF4-FFF2-40B4-BE49-F238E27FC236}">
                <a16:creationId xmlns:a16="http://schemas.microsoft.com/office/drawing/2014/main" id="{A9C60E32-F104-A2C2-E0F4-4F5AF285E625}"/>
              </a:ext>
            </a:extLst>
          </p:cNvPr>
          <p:cNvSpPr>
            <a:spLocks noGrp="1"/>
          </p:cNvSpPr>
          <p:nvPr>
            <p:ph type="body" sz="quarter" idx="11"/>
          </p:nvPr>
        </p:nvSpPr>
        <p:spPr/>
        <p:txBody>
          <a:bodyPr/>
          <a:lstStyle/>
          <a:p>
            <a:r>
              <a:rPr lang="ko-KR" altLang="en-US" dirty="0"/>
              <a:t>서부발전 문제와 같이 </a:t>
            </a:r>
            <a:r>
              <a:rPr lang="en-US" altLang="ko-KR" dirty="0"/>
              <a:t>historical data</a:t>
            </a:r>
            <a:r>
              <a:rPr lang="ko-KR" altLang="en-US" dirty="0"/>
              <a:t>가 주어진 경우에 대해 적용할 수 있는 강화학습 방법론들은 대표적으로 다음과 같음</a:t>
            </a:r>
            <a:r>
              <a:rPr lang="en-US" altLang="ko-KR" dirty="0"/>
              <a:t>. </a:t>
            </a:r>
            <a:r>
              <a:rPr lang="ko-KR" altLang="en-US" dirty="0"/>
              <a:t>각 방법론들을 조사하고 서부발전 상황에 맞는지 확인하는 과정이 필요함</a:t>
            </a:r>
            <a:r>
              <a:rPr lang="en-US" altLang="ko-KR" dirty="0"/>
              <a:t>.</a:t>
            </a:r>
            <a:endParaRPr lang="ko-KR" altLang="en-US" dirty="0"/>
          </a:p>
        </p:txBody>
      </p:sp>
      <p:sp>
        <p:nvSpPr>
          <p:cNvPr id="44" name="Rectangle 5">
            <a:extLst>
              <a:ext uri="{FF2B5EF4-FFF2-40B4-BE49-F238E27FC236}">
                <a16:creationId xmlns:a16="http://schemas.microsoft.com/office/drawing/2014/main" id="{3BD1745A-64FA-2245-5D63-8FA291B361D2}"/>
              </a:ext>
            </a:extLst>
          </p:cNvPr>
          <p:cNvSpPr>
            <a:spLocks noChangeArrowheads="1"/>
          </p:cNvSpPr>
          <p:nvPr/>
        </p:nvSpPr>
        <p:spPr bwMode="auto">
          <a:xfrm>
            <a:off x="622747" y="1491489"/>
            <a:ext cx="3870325" cy="2255838"/>
          </a:xfrm>
          <a:prstGeom prst="rect">
            <a:avLst/>
          </a:prstGeom>
          <a:solidFill>
            <a:srgbClr val="FFFFFF"/>
          </a:solidFill>
          <a:ln w="9525">
            <a:solidFill>
              <a:srgbClr val="000000"/>
            </a:solidFill>
            <a:miter lim="800000"/>
            <a:headEnd/>
            <a:tailEnd/>
          </a:ln>
          <a:effectLst>
            <a:outerShdw dist="35921" dir="2700000" algn="ctr" rotWithShape="0">
              <a:srgbClr val="00000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a:ln>
                <a:noFill/>
              </a:ln>
              <a:solidFill>
                <a:srgbClr val="000000"/>
              </a:solidFill>
              <a:effectLst/>
              <a:uLnTx/>
              <a:uFillTx/>
              <a:latin typeface="+mn-ea"/>
              <a:ea typeface="+mn-ea"/>
            </a:endParaRPr>
          </a:p>
        </p:txBody>
      </p:sp>
      <p:sp>
        <p:nvSpPr>
          <p:cNvPr id="45" name="Rectangle 6">
            <a:extLst>
              <a:ext uri="{FF2B5EF4-FFF2-40B4-BE49-F238E27FC236}">
                <a16:creationId xmlns:a16="http://schemas.microsoft.com/office/drawing/2014/main" id="{20CD8E5C-5526-2A42-03F4-B2C2BBE4696F}"/>
              </a:ext>
            </a:extLst>
          </p:cNvPr>
          <p:cNvSpPr>
            <a:spLocks noChangeArrowheads="1"/>
          </p:cNvSpPr>
          <p:nvPr/>
        </p:nvSpPr>
        <p:spPr bwMode="auto">
          <a:xfrm>
            <a:off x="622747" y="1491488"/>
            <a:ext cx="3870325" cy="36127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a:ln>
                <a:noFill/>
              </a:ln>
              <a:solidFill>
                <a:srgbClr val="000000"/>
              </a:solidFill>
              <a:effectLst/>
              <a:uLnTx/>
              <a:uFillTx/>
              <a:latin typeface="+mn-ea"/>
              <a:ea typeface="+mn-ea"/>
            </a:endParaRPr>
          </a:p>
        </p:txBody>
      </p:sp>
      <p:sp>
        <p:nvSpPr>
          <p:cNvPr id="46" name="Rectangle 7">
            <a:extLst>
              <a:ext uri="{FF2B5EF4-FFF2-40B4-BE49-F238E27FC236}">
                <a16:creationId xmlns:a16="http://schemas.microsoft.com/office/drawing/2014/main" id="{6E940B49-B2A6-D804-A1AF-66DFC3EEEA3E}"/>
              </a:ext>
            </a:extLst>
          </p:cNvPr>
          <p:cNvSpPr>
            <a:spLocks noChangeArrowheads="1"/>
          </p:cNvSpPr>
          <p:nvPr/>
        </p:nvSpPr>
        <p:spPr bwMode="auto">
          <a:xfrm>
            <a:off x="746572" y="1570863"/>
            <a:ext cx="3594100"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atinLnBrk="0"/>
            <a:r>
              <a:rPr kumimoji="0" lang="en-US" altLang="ko-KR" sz="1400" b="0" dirty="0">
                <a:solidFill>
                  <a:srgbClr val="FFFFFF"/>
                </a:solidFill>
                <a:latin typeface="+mn-ea"/>
                <a:ea typeface="+mn-ea"/>
              </a:rPr>
              <a:t>BC (behavior cloning)</a:t>
            </a:r>
          </a:p>
        </p:txBody>
      </p:sp>
      <p:sp>
        <p:nvSpPr>
          <p:cNvPr id="47" name="Rectangle 8">
            <a:extLst>
              <a:ext uri="{FF2B5EF4-FFF2-40B4-BE49-F238E27FC236}">
                <a16:creationId xmlns:a16="http://schemas.microsoft.com/office/drawing/2014/main" id="{07405D17-6932-4F02-AFA3-2EA11F25FC1C}"/>
              </a:ext>
            </a:extLst>
          </p:cNvPr>
          <p:cNvSpPr>
            <a:spLocks noChangeArrowheads="1"/>
          </p:cNvSpPr>
          <p:nvPr/>
        </p:nvSpPr>
        <p:spPr bwMode="auto">
          <a:xfrm>
            <a:off x="746572" y="1994725"/>
            <a:ext cx="35941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lvl="1" latinLnBrk="0"/>
            <a:r>
              <a:rPr kumimoji="0" lang="ko-KR" altLang="en-US" sz="1400" b="0" dirty="0">
                <a:solidFill>
                  <a:srgbClr val="000000"/>
                </a:solidFill>
                <a:latin typeface="+mn-ea"/>
                <a:ea typeface="+mn-ea"/>
              </a:rPr>
              <a:t>지도학습 방식으로 전문가의 행동을 모방</a:t>
            </a:r>
            <a:endParaRPr kumimoji="0" lang="en-US" altLang="ko-KR" sz="1400" b="0" dirty="0">
              <a:solidFill>
                <a:srgbClr val="000000"/>
              </a:solidFill>
              <a:latin typeface="+mn-ea"/>
              <a:ea typeface="+mn-ea"/>
            </a:endParaRPr>
          </a:p>
          <a:p>
            <a:pPr lvl="1" latinLnBrk="0"/>
            <a:r>
              <a:rPr kumimoji="0" lang="en-US" altLang="ko-KR" sz="1400" b="0" dirty="0">
                <a:solidFill>
                  <a:srgbClr val="000000"/>
                </a:solidFill>
                <a:latin typeface="+mn-ea"/>
                <a:ea typeface="+mn-ea"/>
              </a:rPr>
              <a:t>(state, action)</a:t>
            </a:r>
            <a:r>
              <a:rPr kumimoji="0" lang="ko-KR" altLang="en-US" sz="1400" b="0" dirty="0">
                <a:solidFill>
                  <a:srgbClr val="000000"/>
                </a:solidFill>
                <a:latin typeface="+mn-ea"/>
                <a:ea typeface="+mn-ea"/>
              </a:rPr>
              <a:t>쌍으로 정책 학습</a:t>
            </a:r>
            <a:endParaRPr kumimoji="0" lang="en-US" altLang="ko-KR" sz="1400" b="0" dirty="0">
              <a:solidFill>
                <a:srgbClr val="000000"/>
              </a:solidFill>
              <a:latin typeface="+mn-ea"/>
              <a:ea typeface="+mn-ea"/>
            </a:endParaRPr>
          </a:p>
          <a:p>
            <a:pPr lvl="1" latinLnBrk="0"/>
            <a:endParaRPr kumimoji="0" lang="en-US" altLang="ko-KR" sz="1400" b="0" dirty="0">
              <a:solidFill>
                <a:srgbClr val="000000"/>
              </a:solidFill>
              <a:latin typeface="+mn-ea"/>
              <a:ea typeface="+mn-ea"/>
            </a:endParaRPr>
          </a:p>
        </p:txBody>
      </p:sp>
      <p:grpSp>
        <p:nvGrpSpPr>
          <p:cNvPr id="48" name="Group 9">
            <a:extLst>
              <a:ext uri="{FF2B5EF4-FFF2-40B4-BE49-F238E27FC236}">
                <a16:creationId xmlns:a16="http://schemas.microsoft.com/office/drawing/2014/main" id="{AC1B7941-CD87-1E41-0F42-EDB17C4A9078}"/>
              </a:ext>
            </a:extLst>
          </p:cNvPr>
          <p:cNvGrpSpPr>
            <a:grpSpLocks/>
          </p:cNvGrpSpPr>
          <p:nvPr/>
        </p:nvGrpSpPr>
        <p:grpSpPr bwMode="auto">
          <a:xfrm>
            <a:off x="4797872" y="1489901"/>
            <a:ext cx="3870325" cy="2255838"/>
            <a:chOff x="292" y="630"/>
            <a:chExt cx="2438" cy="1586"/>
          </a:xfrm>
        </p:grpSpPr>
        <p:sp>
          <p:nvSpPr>
            <p:cNvPr id="49" name="Rectangle 10">
              <a:extLst>
                <a:ext uri="{FF2B5EF4-FFF2-40B4-BE49-F238E27FC236}">
                  <a16:creationId xmlns:a16="http://schemas.microsoft.com/office/drawing/2014/main" id="{1FAE2D2D-3C2C-A557-9774-6EFC2C10C286}"/>
                </a:ext>
              </a:extLst>
            </p:cNvPr>
            <p:cNvSpPr>
              <a:spLocks noChangeArrowheads="1"/>
            </p:cNvSpPr>
            <p:nvPr/>
          </p:nvSpPr>
          <p:spPr bwMode="auto">
            <a:xfrm>
              <a:off x="292" y="630"/>
              <a:ext cx="2438" cy="1586"/>
            </a:xfrm>
            <a:prstGeom prst="rect">
              <a:avLst/>
            </a:prstGeom>
            <a:solidFill>
              <a:srgbClr val="FFFFFF"/>
            </a:solidFill>
            <a:ln w="9525">
              <a:solidFill>
                <a:srgbClr val="000000"/>
              </a:solidFill>
              <a:miter lim="800000"/>
              <a:headEnd/>
              <a:tailEnd/>
            </a:ln>
            <a:effectLst>
              <a:outerShdw dist="35921" dir="2700000" algn="ctr" rotWithShape="0">
                <a:srgbClr val="00000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a:ln>
                  <a:noFill/>
                </a:ln>
                <a:solidFill>
                  <a:srgbClr val="000000"/>
                </a:solidFill>
                <a:effectLst/>
                <a:uLnTx/>
                <a:uFillTx/>
                <a:latin typeface="+mn-ea"/>
                <a:ea typeface="+mn-ea"/>
              </a:endParaRPr>
            </a:p>
          </p:txBody>
        </p:sp>
        <p:sp>
          <p:nvSpPr>
            <p:cNvPr id="50" name="Rectangle 11">
              <a:extLst>
                <a:ext uri="{FF2B5EF4-FFF2-40B4-BE49-F238E27FC236}">
                  <a16:creationId xmlns:a16="http://schemas.microsoft.com/office/drawing/2014/main" id="{331CA330-BDF1-04D8-E714-244548F00C1F}"/>
                </a:ext>
              </a:extLst>
            </p:cNvPr>
            <p:cNvSpPr>
              <a:spLocks noChangeArrowheads="1"/>
            </p:cNvSpPr>
            <p:nvPr/>
          </p:nvSpPr>
          <p:spPr bwMode="auto">
            <a:xfrm>
              <a:off x="292" y="630"/>
              <a:ext cx="2438" cy="25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a:ln>
                  <a:noFill/>
                </a:ln>
                <a:solidFill>
                  <a:srgbClr val="000000"/>
                </a:solidFill>
                <a:effectLst/>
                <a:uLnTx/>
                <a:uFillTx/>
                <a:latin typeface="+mn-ea"/>
                <a:ea typeface="+mn-ea"/>
              </a:endParaRPr>
            </a:p>
          </p:txBody>
        </p:sp>
        <p:sp>
          <p:nvSpPr>
            <p:cNvPr id="51" name="Rectangle 12">
              <a:extLst>
                <a:ext uri="{FF2B5EF4-FFF2-40B4-BE49-F238E27FC236}">
                  <a16:creationId xmlns:a16="http://schemas.microsoft.com/office/drawing/2014/main" id="{D0B02BA9-5401-50B7-96C6-940E2706F84D}"/>
                </a:ext>
              </a:extLst>
            </p:cNvPr>
            <p:cNvSpPr>
              <a:spLocks noChangeArrowheads="1"/>
            </p:cNvSpPr>
            <p:nvPr/>
          </p:nvSpPr>
          <p:spPr bwMode="auto">
            <a:xfrm>
              <a:off x="370" y="680"/>
              <a:ext cx="226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0" marR="0" lvl="0" indent="0" defTabSz="895350" eaLnBrk="1" fontAlgn="auto" latinLnBrk="0" hangingPunct="1">
                <a:lnSpc>
                  <a:spcPct val="100000"/>
                </a:lnSpc>
                <a:spcBef>
                  <a:spcPts val="0"/>
                </a:spcBef>
                <a:spcAft>
                  <a:spcPts val="0"/>
                </a:spcAft>
                <a:buClrTx/>
                <a:buSzPct val="120000"/>
                <a:buFontTx/>
                <a:buNone/>
                <a:tabLst/>
                <a:defRPr/>
              </a:pPr>
              <a:r>
                <a:rPr kumimoji="0" lang="en-US" altLang="ko-KR" sz="1400" b="0" i="0" u="none" strike="noStrike" kern="0" cap="none" spc="0" normalizeH="0" baseline="0" noProof="0" dirty="0">
                  <a:ln>
                    <a:noFill/>
                  </a:ln>
                  <a:solidFill>
                    <a:srgbClr val="FFFFFF"/>
                  </a:solidFill>
                  <a:effectLst/>
                  <a:uLnTx/>
                  <a:uFillTx/>
                  <a:latin typeface="+mn-ea"/>
                  <a:ea typeface="+mn-ea"/>
                </a:rPr>
                <a:t>CQL(Conservative Q-Learning)</a:t>
              </a:r>
            </a:p>
          </p:txBody>
        </p:sp>
        <p:sp>
          <p:nvSpPr>
            <p:cNvPr id="52" name="Rectangle 13">
              <a:extLst>
                <a:ext uri="{FF2B5EF4-FFF2-40B4-BE49-F238E27FC236}">
                  <a16:creationId xmlns:a16="http://schemas.microsoft.com/office/drawing/2014/main" id="{250574B8-32D2-B136-3530-9697957562DD}"/>
                </a:ext>
              </a:extLst>
            </p:cNvPr>
            <p:cNvSpPr>
              <a:spLocks noChangeArrowheads="1"/>
            </p:cNvSpPr>
            <p:nvPr/>
          </p:nvSpPr>
          <p:spPr bwMode="auto">
            <a:xfrm>
              <a:off x="370" y="947"/>
              <a:ext cx="2264" cy="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44463" marR="0" lvl="1" indent="-142875" defTabSz="895350" eaLnBrk="1" fontAlgn="auto" latinLnBrk="0" hangingPunct="1">
                <a:lnSpc>
                  <a:spcPct val="100000"/>
                </a:lnSpc>
                <a:spcBef>
                  <a:spcPts val="0"/>
                </a:spcBef>
                <a:spcAft>
                  <a:spcPts val="0"/>
                </a:spcAft>
                <a:buClrTx/>
                <a:buSzPct val="120000"/>
                <a:buFontTx/>
                <a:buChar char="•"/>
                <a:tabLst/>
                <a:defRPr/>
              </a:pPr>
              <a:r>
                <a:rPr kumimoji="0" lang="en-US" altLang="ko-KR" sz="1400" b="0" i="0" u="none" strike="noStrike" kern="0" cap="none" spc="0" normalizeH="0" baseline="0" noProof="0" dirty="0">
                  <a:ln>
                    <a:noFill/>
                  </a:ln>
                  <a:solidFill>
                    <a:srgbClr val="000000"/>
                  </a:solidFill>
                  <a:effectLst/>
                  <a:uLnTx/>
                  <a:uFillTx/>
                  <a:latin typeface="+mn-ea"/>
                  <a:ea typeface="+mn-ea"/>
                </a:rPr>
                <a:t>Bellman equation</a:t>
              </a:r>
              <a:r>
                <a:rPr kumimoji="0" lang="ko-KR" altLang="en-US" sz="1400" b="0" i="0" u="none" strike="noStrike" kern="0" cap="none" spc="0" normalizeH="0" baseline="0" noProof="0" dirty="0">
                  <a:ln>
                    <a:noFill/>
                  </a:ln>
                  <a:solidFill>
                    <a:srgbClr val="000000"/>
                  </a:solidFill>
                  <a:effectLst/>
                  <a:uLnTx/>
                  <a:uFillTx/>
                  <a:latin typeface="+mn-ea"/>
                  <a:ea typeface="+mn-ea"/>
                </a:rPr>
                <a:t>으로 </a:t>
              </a:r>
              <a:r>
                <a:rPr kumimoji="0" lang="en-US" altLang="ko-KR" sz="1400" b="0" i="0" u="none" strike="noStrike" kern="0" cap="none" spc="0" normalizeH="0" baseline="0" noProof="0" dirty="0">
                  <a:ln>
                    <a:noFill/>
                  </a:ln>
                  <a:solidFill>
                    <a:srgbClr val="000000"/>
                  </a:solidFill>
                  <a:effectLst/>
                  <a:uLnTx/>
                  <a:uFillTx/>
                  <a:latin typeface="+mn-ea"/>
                  <a:ea typeface="+mn-ea"/>
                </a:rPr>
                <a:t>Q</a:t>
              </a:r>
              <a:r>
                <a:rPr kumimoji="0" lang="ko-KR" altLang="en-US" sz="1400" b="0" i="0" u="none" strike="noStrike" kern="0" cap="none" spc="0" normalizeH="0" baseline="0" noProof="0" dirty="0">
                  <a:ln>
                    <a:noFill/>
                  </a:ln>
                  <a:solidFill>
                    <a:srgbClr val="000000"/>
                  </a:solidFill>
                  <a:effectLst/>
                  <a:uLnTx/>
                  <a:uFillTx/>
                  <a:latin typeface="+mn-ea"/>
                  <a:ea typeface="+mn-ea"/>
                </a:rPr>
                <a:t>값을 학습하되 보수적으로 학습</a:t>
              </a:r>
              <a:r>
                <a:rPr kumimoji="0" lang="en-US" altLang="ko-KR" sz="1400" b="0" i="0" u="none" strike="noStrike" kern="0" cap="none" spc="0" normalizeH="0" baseline="0" noProof="0" dirty="0">
                  <a:ln>
                    <a:noFill/>
                  </a:ln>
                  <a:solidFill>
                    <a:srgbClr val="000000"/>
                  </a:solidFill>
                  <a:effectLst/>
                  <a:uLnTx/>
                  <a:uFillTx/>
                  <a:latin typeface="+mn-ea"/>
                  <a:ea typeface="+mn-ea"/>
                </a:rPr>
                <a:t>.</a:t>
              </a:r>
            </a:p>
            <a:p>
              <a:pPr marL="144463" marR="0" lvl="1" indent="-142875" defTabSz="895350" eaLnBrk="1" fontAlgn="auto" latinLnBrk="0" hangingPunct="1">
                <a:lnSpc>
                  <a:spcPct val="100000"/>
                </a:lnSpc>
                <a:spcBef>
                  <a:spcPts val="0"/>
                </a:spcBef>
                <a:spcAft>
                  <a:spcPts val="0"/>
                </a:spcAft>
                <a:buClrTx/>
                <a:buSzPct val="120000"/>
                <a:buFontTx/>
                <a:buChar char="•"/>
                <a:tabLst/>
                <a:defRPr/>
              </a:pPr>
              <a:r>
                <a:rPr kumimoji="0" lang="en-US" altLang="ko-KR" sz="1400" b="0" i="0" u="none" strike="noStrike" kern="0" cap="none" spc="0" normalizeH="0" baseline="0" noProof="0" dirty="0">
                  <a:ln>
                    <a:noFill/>
                  </a:ln>
                  <a:solidFill>
                    <a:srgbClr val="000000"/>
                  </a:solidFill>
                  <a:effectLst/>
                  <a:uLnTx/>
                  <a:uFillTx/>
                  <a:latin typeface="+mn-ea"/>
                  <a:ea typeface="+mn-ea"/>
                </a:rPr>
                <a:t>CQL</a:t>
              </a:r>
              <a:r>
                <a:rPr kumimoji="0" lang="ko-KR" altLang="en-US" sz="1400" b="0" i="0" u="none" strike="noStrike" kern="0" cap="none" spc="0" normalizeH="0" baseline="0" noProof="0" dirty="0">
                  <a:ln>
                    <a:noFill/>
                  </a:ln>
                  <a:solidFill>
                    <a:srgbClr val="000000"/>
                  </a:solidFill>
                  <a:effectLst/>
                  <a:uLnTx/>
                  <a:uFillTx/>
                  <a:latin typeface="+mn-ea"/>
                  <a:ea typeface="+mn-ea"/>
                </a:rPr>
                <a:t> 정규화를 통해 데이터에 없는 </a:t>
              </a:r>
              <a:r>
                <a:rPr kumimoji="0" lang="en-US" altLang="ko-KR" sz="1400" b="0" i="0" u="none" strike="noStrike" kern="0" cap="none" spc="0" normalizeH="0" baseline="0" noProof="0" dirty="0">
                  <a:ln>
                    <a:noFill/>
                  </a:ln>
                  <a:solidFill>
                    <a:srgbClr val="000000"/>
                  </a:solidFill>
                  <a:effectLst/>
                  <a:uLnTx/>
                  <a:uFillTx/>
                  <a:latin typeface="+mn-ea"/>
                  <a:ea typeface="+mn-ea"/>
                </a:rPr>
                <a:t>action</a:t>
              </a:r>
              <a:r>
                <a:rPr kumimoji="0" lang="ko-KR" altLang="en-US" sz="1400" b="0" i="0" u="none" strike="noStrike" kern="0" cap="none" spc="0" normalizeH="0" baseline="0" noProof="0" dirty="0">
                  <a:ln>
                    <a:noFill/>
                  </a:ln>
                  <a:solidFill>
                    <a:srgbClr val="000000"/>
                  </a:solidFill>
                  <a:effectLst/>
                  <a:uLnTx/>
                  <a:uFillTx/>
                  <a:latin typeface="+mn-ea"/>
                  <a:ea typeface="+mn-ea"/>
                </a:rPr>
                <a:t>의 </a:t>
              </a:r>
              <a:r>
                <a:rPr kumimoji="0" lang="en-US" altLang="ko-KR" sz="1400" b="0" i="0" u="none" strike="noStrike" kern="0" cap="none" spc="0" normalizeH="0" baseline="0" noProof="0" dirty="0">
                  <a:ln>
                    <a:noFill/>
                  </a:ln>
                  <a:solidFill>
                    <a:srgbClr val="000000"/>
                  </a:solidFill>
                  <a:effectLst/>
                  <a:uLnTx/>
                  <a:uFillTx/>
                  <a:latin typeface="+mn-ea"/>
                  <a:ea typeface="+mn-ea"/>
                </a:rPr>
                <a:t>Q</a:t>
              </a:r>
              <a:r>
                <a:rPr kumimoji="0" lang="ko-KR" altLang="en-US" sz="1400" b="0" i="0" u="none" strike="noStrike" kern="0" cap="none" spc="0" normalizeH="0" baseline="0" noProof="0" dirty="0">
                  <a:ln>
                    <a:noFill/>
                  </a:ln>
                  <a:solidFill>
                    <a:srgbClr val="000000"/>
                  </a:solidFill>
                  <a:effectLst/>
                  <a:uLnTx/>
                  <a:uFillTx/>
                  <a:latin typeface="+mn-ea"/>
                  <a:ea typeface="+mn-ea"/>
                </a:rPr>
                <a:t>값을 낮춤</a:t>
              </a:r>
              <a:r>
                <a:rPr kumimoji="0" lang="en-US" altLang="ko-KR" sz="1400" b="0" i="0" u="none" strike="noStrike" kern="0" cap="none" spc="0" normalizeH="0" baseline="0" noProof="0" dirty="0">
                  <a:ln>
                    <a:noFill/>
                  </a:ln>
                  <a:solidFill>
                    <a:srgbClr val="000000"/>
                  </a:solidFill>
                  <a:effectLst/>
                  <a:uLnTx/>
                  <a:uFillTx/>
                  <a:latin typeface="+mn-ea"/>
                  <a:ea typeface="+mn-ea"/>
                </a:rPr>
                <a:t>.</a:t>
              </a:r>
            </a:p>
            <a:p>
              <a:pPr marL="144463" marR="0" lvl="1" indent="-142875" defTabSz="895350" eaLnBrk="1" fontAlgn="auto" latinLnBrk="0" hangingPunct="1">
                <a:lnSpc>
                  <a:spcPct val="100000"/>
                </a:lnSpc>
                <a:spcBef>
                  <a:spcPts val="0"/>
                </a:spcBef>
                <a:spcAft>
                  <a:spcPts val="0"/>
                </a:spcAft>
                <a:buClrTx/>
                <a:buSzPct val="120000"/>
                <a:buFontTx/>
                <a:buChar char="•"/>
                <a:tabLst/>
                <a:defRPr/>
              </a:pPr>
              <a:r>
                <a:rPr kumimoji="0" lang="en-US" altLang="ko-KR" sz="1400" b="0" i="0" u="none" strike="noStrike" kern="0" cap="none" spc="0" normalizeH="0" baseline="0" noProof="0" dirty="0">
                  <a:ln>
                    <a:noFill/>
                  </a:ln>
                  <a:solidFill>
                    <a:srgbClr val="000000"/>
                  </a:solidFill>
                  <a:effectLst/>
                  <a:uLnTx/>
                  <a:uFillTx/>
                  <a:latin typeface="+mn-ea"/>
                  <a:ea typeface="+mn-ea"/>
                </a:rPr>
                <a:t>IQL</a:t>
              </a:r>
              <a:r>
                <a:rPr kumimoji="0" lang="ko-KR" altLang="en-US" sz="1400" b="0" i="0" u="none" strike="noStrike" kern="0" cap="none" spc="0" normalizeH="0" baseline="0" noProof="0" dirty="0">
                  <a:ln>
                    <a:noFill/>
                  </a:ln>
                  <a:solidFill>
                    <a:srgbClr val="000000"/>
                  </a:solidFill>
                  <a:effectLst/>
                  <a:uLnTx/>
                  <a:uFillTx/>
                  <a:latin typeface="+mn-ea"/>
                  <a:ea typeface="+mn-ea"/>
                </a:rPr>
                <a:t>에 비해 구현이 복잡하고 계산비용이 높음</a:t>
              </a:r>
              <a:r>
                <a:rPr kumimoji="0" lang="en-US" altLang="ko-KR" sz="1400" b="0" i="0" u="none" strike="noStrike" kern="0" cap="none" spc="0" normalizeH="0" baseline="0" noProof="0" dirty="0">
                  <a:ln>
                    <a:noFill/>
                  </a:ln>
                  <a:solidFill>
                    <a:srgbClr val="000000"/>
                  </a:solidFill>
                  <a:effectLst/>
                  <a:uLnTx/>
                  <a:uFillTx/>
                  <a:latin typeface="+mn-ea"/>
                  <a:ea typeface="+mn-ea"/>
                </a:rPr>
                <a:t>.</a:t>
              </a:r>
            </a:p>
          </p:txBody>
        </p:sp>
      </p:grpSp>
      <p:grpSp>
        <p:nvGrpSpPr>
          <p:cNvPr id="53" name="Group 14">
            <a:extLst>
              <a:ext uri="{FF2B5EF4-FFF2-40B4-BE49-F238E27FC236}">
                <a16:creationId xmlns:a16="http://schemas.microsoft.com/office/drawing/2014/main" id="{F571EC69-DA02-4099-996A-9E08EC5F2A21}"/>
              </a:ext>
            </a:extLst>
          </p:cNvPr>
          <p:cNvGrpSpPr>
            <a:grpSpLocks/>
          </p:cNvGrpSpPr>
          <p:nvPr/>
        </p:nvGrpSpPr>
        <p:grpSpPr bwMode="auto">
          <a:xfrm>
            <a:off x="622747" y="3952028"/>
            <a:ext cx="3870325" cy="2255838"/>
            <a:chOff x="292" y="630"/>
            <a:chExt cx="2438" cy="1586"/>
          </a:xfrm>
        </p:grpSpPr>
        <p:sp>
          <p:nvSpPr>
            <p:cNvPr id="54" name="Rectangle 15">
              <a:extLst>
                <a:ext uri="{FF2B5EF4-FFF2-40B4-BE49-F238E27FC236}">
                  <a16:creationId xmlns:a16="http://schemas.microsoft.com/office/drawing/2014/main" id="{CB078E22-3044-CACD-DAD8-9C0788C5F2A9}"/>
                </a:ext>
              </a:extLst>
            </p:cNvPr>
            <p:cNvSpPr>
              <a:spLocks noChangeArrowheads="1"/>
            </p:cNvSpPr>
            <p:nvPr/>
          </p:nvSpPr>
          <p:spPr bwMode="auto">
            <a:xfrm>
              <a:off x="292" y="630"/>
              <a:ext cx="2438" cy="1586"/>
            </a:xfrm>
            <a:prstGeom prst="rect">
              <a:avLst/>
            </a:prstGeom>
            <a:solidFill>
              <a:srgbClr val="FFFFFF"/>
            </a:solidFill>
            <a:ln w="9525">
              <a:solidFill>
                <a:srgbClr val="000000"/>
              </a:solidFill>
              <a:miter lim="800000"/>
              <a:headEnd/>
              <a:tailEnd/>
            </a:ln>
            <a:effectLst>
              <a:outerShdw dist="35921" dir="2700000" algn="ctr" rotWithShape="0">
                <a:srgbClr val="00000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dirty="0">
                <a:ln>
                  <a:noFill/>
                </a:ln>
                <a:solidFill>
                  <a:srgbClr val="000000"/>
                </a:solidFill>
                <a:effectLst/>
                <a:uLnTx/>
                <a:uFillTx/>
                <a:latin typeface="+mn-ea"/>
                <a:ea typeface="+mn-ea"/>
              </a:endParaRPr>
            </a:p>
          </p:txBody>
        </p:sp>
        <p:sp>
          <p:nvSpPr>
            <p:cNvPr id="55" name="Rectangle 16">
              <a:extLst>
                <a:ext uri="{FF2B5EF4-FFF2-40B4-BE49-F238E27FC236}">
                  <a16:creationId xmlns:a16="http://schemas.microsoft.com/office/drawing/2014/main" id="{8C3CB417-2F6E-64D5-0C2D-2DE8CEF43DC1}"/>
                </a:ext>
              </a:extLst>
            </p:cNvPr>
            <p:cNvSpPr>
              <a:spLocks noChangeArrowheads="1"/>
            </p:cNvSpPr>
            <p:nvPr/>
          </p:nvSpPr>
          <p:spPr bwMode="auto">
            <a:xfrm>
              <a:off x="292" y="630"/>
              <a:ext cx="2438" cy="25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b="0" i="0" u="none" strike="noStrike" kern="0" cap="none" spc="0" normalizeH="0" baseline="0" noProof="0" dirty="0">
                  <a:ln>
                    <a:noFill/>
                  </a:ln>
                  <a:solidFill>
                    <a:srgbClr val="000000"/>
                  </a:solidFill>
                  <a:effectLst/>
                  <a:uLnTx/>
                  <a:uFillTx/>
                  <a:latin typeface="+mn-ea"/>
                  <a:ea typeface="+mn-ea"/>
                </a:rPr>
                <a:t>(</a:t>
              </a:r>
              <a:endParaRPr kumimoji="0" lang="ko-KR" altLang="en-US" b="0" i="0" u="none" strike="noStrike" kern="0" cap="none" spc="0" normalizeH="0" baseline="0" noProof="0" dirty="0">
                <a:ln>
                  <a:noFill/>
                </a:ln>
                <a:solidFill>
                  <a:srgbClr val="000000"/>
                </a:solidFill>
                <a:effectLst/>
                <a:uLnTx/>
                <a:uFillTx/>
                <a:latin typeface="+mn-ea"/>
                <a:ea typeface="+mn-ea"/>
              </a:endParaRPr>
            </a:p>
          </p:txBody>
        </p:sp>
        <p:sp>
          <p:nvSpPr>
            <p:cNvPr id="56" name="Rectangle 17">
              <a:extLst>
                <a:ext uri="{FF2B5EF4-FFF2-40B4-BE49-F238E27FC236}">
                  <a16:creationId xmlns:a16="http://schemas.microsoft.com/office/drawing/2014/main" id="{C9581728-9C88-3AA3-D94A-775E17ACF881}"/>
                </a:ext>
              </a:extLst>
            </p:cNvPr>
            <p:cNvSpPr>
              <a:spLocks noChangeArrowheads="1"/>
            </p:cNvSpPr>
            <p:nvPr/>
          </p:nvSpPr>
          <p:spPr bwMode="auto">
            <a:xfrm>
              <a:off x="370" y="680"/>
              <a:ext cx="2264" cy="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0" marR="0" lvl="0" indent="0" defTabSz="895350" eaLnBrk="1" fontAlgn="auto" latinLnBrk="0" hangingPunct="1">
                <a:lnSpc>
                  <a:spcPct val="100000"/>
                </a:lnSpc>
                <a:spcBef>
                  <a:spcPts val="0"/>
                </a:spcBef>
                <a:spcAft>
                  <a:spcPts val="0"/>
                </a:spcAft>
                <a:buClrTx/>
                <a:buSzPct val="120000"/>
                <a:buFontTx/>
                <a:buNone/>
                <a:tabLst/>
                <a:defRPr/>
              </a:pPr>
              <a:r>
                <a:rPr kumimoji="0" lang="en-US" altLang="ko-KR" sz="1400" b="0" i="0" u="none" strike="noStrike" kern="0" cap="none" spc="0" normalizeH="0" baseline="0" noProof="0" dirty="0">
                  <a:ln>
                    <a:noFill/>
                  </a:ln>
                  <a:solidFill>
                    <a:srgbClr val="FFFFFF"/>
                  </a:solidFill>
                  <a:effectLst/>
                  <a:uLnTx/>
                  <a:uFillTx/>
                  <a:latin typeface="+mn-ea"/>
                  <a:ea typeface="+mn-ea"/>
                </a:rPr>
                <a:t>IQL</a:t>
              </a:r>
              <a:r>
                <a:rPr kumimoji="0" lang="en-US" altLang="ko-KR" sz="1400" b="0" kern="0" dirty="0">
                  <a:solidFill>
                    <a:srgbClr val="FFFFFF"/>
                  </a:solidFill>
                  <a:latin typeface="+mn-ea"/>
                  <a:ea typeface="+mn-ea"/>
                </a:rPr>
                <a:t>(Implicit Q-Learning)</a:t>
              </a:r>
              <a:endParaRPr kumimoji="0" lang="en-US" altLang="ko-KR" sz="1400" b="0" i="0" u="none" strike="noStrike" kern="0" cap="none" spc="0" normalizeH="0" baseline="0" noProof="0" dirty="0">
                <a:ln>
                  <a:noFill/>
                </a:ln>
                <a:solidFill>
                  <a:srgbClr val="FFFFFF"/>
                </a:solidFill>
                <a:effectLst/>
                <a:uLnTx/>
                <a:uFillTx/>
                <a:latin typeface="+mn-ea"/>
                <a:ea typeface="+mn-ea"/>
              </a:endParaRPr>
            </a:p>
          </p:txBody>
        </p:sp>
        <p:sp>
          <p:nvSpPr>
            <p:cNvPr id="57" name="Rectangle 18">
              <a:extLst>
                <a:ext uri="{FF2B5EF4-FFF2-40B4-BE49-F238E27FC236}">
                  <a16:creationId xmlns:a16="http://schemas.microsoft.com/office/drawing/2014/main" id="{F41979A2-94AC-5356-5A54-D571A8836A2C}"/>
                </a:ext>
              </a:extLst>
            </p:cNvPr>
            <p:cNvSpPr>
              <a:spLocks noChangeArrowheads="1"/>
            </p:cNvSpPr>
            <p:nvPr/>
          </p:nvSpPr>
          <p:spPr bwMode="auto">
            <a:xfrm>
              <a:off x="370" y="947"/>
              <a:ext cx="2264"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44463" marR="0" lvl="1" indent="-142875" defTabSz="895350" eaLnBrk="1" fontAlgn="auto" latinLnBrk="0" hangingPunct="1">
                <a:lnSpc>
                  <a:spcPct val="100000"/>
                </a:lnSpc>
                <a:spcBef>
                  <a:spcPts val="0"/>
                </a:spcBef>
                <a:spcAft>
                  <a:spcPts val="0"/>
                </a:spcAft>
                <a:buClrTx/>
                <a:buSzPct val="120000"/>
                <a:buFontTx/>
                <a:buChar char="•"/>
                <a:tabLst/>
                <a:defRPr/>
              </a:pPr>
              <a:r>
                <a:rPr kumimoji="0" lang="en-US" altLang="ko-KR" sz="1400" b="0" i="0" u="none" strike="noStrike" kern="0" cap="none" spc="0" normalizeH="0" baseline="0" noProof="0" dirty="0">
                  <a:ln>
                    <a:noFill/>
                  </a:ln>
                  <a:solidFill>
                    <a:srgbClr val="000000"/>
                  </a:solidFill>
                  <a:effectLst/>
                  <a:uLnTx/>
                  <a:uFillTx/>
                  <a:latin typeface="+mn-ea"/>
                  <a:ea typeface="+mn-ea"/>
                </a:rPr>
                <a:t>Q</a:t>
              </a:r>
              <a:r>
                <a:rPr kumimoji="0" lang="ko-KR" altLang="en-US" sz="1400" b="0" i="0" u="none" strike="noStrike" kern="0" cap="none" spc="0" normalizeH="0" baseline="0" noProof="0" dirty="0">
                  <a:ln>
                    <a:noFill/>
                  </a:ln>
                  <a:solidFill>
                    <a:srgbClr val="000000"/>
                  </a:solidFill>
                  <a:effectLst/>
                  <a:uLnTx/>
                  <a:uFillTx/>
                  <a:latin typeface="+mn-ea"/>
                  <a:ea typeface="+mn-ea"/>
                </a:rPr>
                <a:t>함수가 아닌 </a:t>
              </a:r>
              <a:r>
                <a:rPr kumimoji="0" lang="en-US" altLang="ko-KR" sz="1400" b="0" i="0" u="none" strike="noStrike" kern="0" cap="none" spc="0" normalizeH="0" baseline="0" noProof="0" dirty="0">
                  <a:ln>
                    <a:noFill/>
                  </a:ln>
                  <a:solidFill>
                    <a:srgbClr val="000000"/>
                  </a:solidFill>
                  <a:effectLst/>
                  <a:uLnTx/>
                  <a:uFillTx/>
                  <a:latin typeface="+mn-ea"/>
                  <a:ea typeface="+mn-ea"/>
                </a:rPr>
                <a:t>V</a:t>
              </a:r>
              <a:r>
                <a:rPr kumimoji="0" lang="ko-KR" altLang="en-US" sz="1400" b="0" i="0" u="none" strike="noStrike" kern="0" cap="none" spc="0" normalizeH="0" baseline="0" noProof="0" dirty="0">
                  <a:ln>
                    <a:noFill/>
                  </a:ln>
                  <a:solidFill>
                    <a:srgbClr val="000000"/>
                  </a:solidFill>
                  <a:effectLst/>
                  <a:uLnTx/>
                  <a:uFillTx/>
                  <a:latin typeface="+mn-ea"/>
                  <a:ea typeface="+mn-ea"/>
                </a:rPr>
                <a:t>함수를 먼저 추정하는 방식</a:t>
              </a:r>
              <a:endParaRPr kumimoji="0" lang="en-US" altLang="ko-KR" sz="1400" b="0" i="0" u="none" strike="noStrike" kern="0" cap="none" spc="0" normalizeH="0" baseline="0" noProof="0" dirty="0">
                <a:ln>
                  <a:noFill/>
                </a:ln>
                <a:solidFill>
                  <a:srgbClr val="000000"/>
                </a:solidFill>
                <a:effectLst/>
                <a:uLnTx/>
                <a:uFillTx/>
                <a:latin typeface="+mn-ea"/>
                <a:ea typeface="+mn-ea"/>
              </a:endParaRPr>
            </a:p>
            <a:p>
              <a:pPr marL="144463" marR="0" lvl="1" indent="-142875" defTabSz="895350" eaLnBrk="1" fontAlgn="auto" latinLnBrk="0" hangingPunct="1">
                <a:lnSpc>
                  <a:spcPct val="100000"/>
                </a:lnSpc>
                <a:spcBef>
                  <a:spcPts val="0"/>
                </a:spcBef>
                <a:spcAft>
                  <a:spcPts val="0"/>
                </a:spcAft>
                <a:buClrTx/>
                <a:buSzPct val="120000"/>
                <a:buFontTx/>
                <a:buChar char="•"/>
                <a:tabLst/>
                <a:defRPr/>
              </a:pPr>
              <a:r>
                <a:rPr kumimoji="0" lang="ko-KR" altLang="en-US" sz="1400" b="0" kern="0" dirty="0">
                  <a:solidFill>
                    <a:srgbClr val="000000"/>
                  </a:solidFill>
                  <a:latin typeface="+mn-ea"/>
                  <a:ea typeface="+mn-ea"/>
                </a:rPr>
                <a:t>구현이 직관적이고 안정적이며 단순하며 성능도 우수한 편</a:t>
              </a:r>
              <a:r>
                <a:rPr kumimoji="0" lang="en-US" altLang="ko-KR" sz="1400" b="0" kern="0" dirty="0">
                  <a:solidFill>
                    <a:srgbClr val="000000"/>
                  </a:solidFill>
                  <a:latin typeface="+mn-ea"/>
                  <a:ea typeface="+mn-ea"/>
                </a:rPr>
                <a:t>.</a:t>
              </a:r>
            </a:p>
          </p:txBody>
        </p:sp>
      </p:grpSp>
      <p:grpSp>
        <p:nvGrpSpPr>
          <p:cNvPr id="58" name="Group 19">
            <a:extLst>
              <a:ext uri="{FF2B5EF4-FFF2-40B4-BE49-F238E27FC236}">
                <a16:creationId xmlns:a16="http://schemas.microsoft.com/office/drawing/2014/main" id="{EEEA98BF-730F-B993-FB45-D5B0A9B33CD6}"/>
              </a:ext>
            </a:extLst>
          </p:cNvPr>
          <p:cNvGrpSpPr>
            <a:grpSpLocks/>
          </p:cNvGrpSpPr>
          <p:nvPr/>
        </p:nvGrpSpPr>
        <p:grpSpPr bwMode="auto">
          <a:xfrm>
            <a:off x="4797872" y="3950440"/>
            <a:ext cx="3870325" cy="2255838"/>
            <a:chOff x="292" y="630"/>
            <a:chExt cx="2438" cy="1586"/>
          </a:xfrm>
        </p:grpSpPr>
        <p:sp>
          <p:nvSpPr>
            <p:cNvPr id="59" name="Rectangle 20">
              <a:extLst>
                <a:ext uri="{FF2B5EF4-FFF2-40B4-BE49-F238E27FC236}">
                  <a16:creationId xmlns:a16="http://schemas.microsoft.com/office/drawing/2014/main" id="{A13868EE-4F94-3F49-62B6-491AACF2B4E4}"/>
                </a:ext>
              </a:extLst>
            </p:cNvPr>
            <p:cNvSpPr>
              <a:spLocks noChangeArrowheads="1"/>
            </p:cNvSpPr>
            <p:nvPr/>
          </p:nvSpPr>
          <p:spPr bwMode="auto">
            <a:xfrm>
              <a:off x="292" y="630"/>
              <a:ext cx="2438" cy="1586"/>
            </a:xfrm>
            <a:prstGeom prst="rect">
              <a:avLst/>
            </a:prstGeom>
            <a:solidFill>
              <a:srgbClr val="FFFFFF"/>
            </a:solidFill>
            <a:ln w="9525">
              <a:solidFill>
                <a:srgbClr val="000000"/>
              </a:solidFill>
              <a:miter lim="800000"/>
              <a:headEnd/>
              <a:tailEnd/>
            </a:ln>
            <a:effectLst>
              <a:outerShdw dist="35921" dir="2700000" algn="ctr" rotWithShape="0">
                <a:srgbClr val="000000"/>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a:ln>
                  <a:noFill/>
                </a:ln>
                <a:solidFill>
                  <a:srgbClr val="000000"/>
                </a:solidFill>
                <a:effectLst/>
                <a:uLnTx/>
                <a:uFillTx/>
                <a:latin typeface="+mn-ea"/>
                <a:ea typeface="+mn-ea"/>
              </a:endParaRPr>
            </a:p>
          </p:txBody>
        </p:sp>
        <p:sp>
          <p:nvSpPr>
            <p:cNvPr id="60" name="Rectangle 21">
              <a:extLst>
                <a:ext uri="{FF2B5EF4-FFF2-40B4-BE49-F238E27FC236}">
                  <a16:creationId xmlns:a16="http://schemas.microsoft.com/office/drawing/2014/main" id="{8C8B78EA-38BE-2A6E-A8EC-94817F2CA906}"/>
                </a:ext>
              </a:extLst>
            </p:cNvPr>
            <p:cNvSpPr>
              <a:spLocks noChangeArrowheads="1"/>
            </p:cNvSpPr>
            <p:nvPr/>
          </p:nvSpPr>
          <p:spPr bwMode="auto">
            <a:xfrm>
              <a:off x="292" y="630"/>
              <a:ext cx="2438" cy="25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b="0" i="0" u="none" strike="noStrike" kern="0" cap="none" spc="0" normalizeH="0" baseline="0" noProof="0">
                <a:ln>
                  <a:noFill/>
                </a:ln>
                <a:solidFill>
                  <a:srgbClr val="000000"/>
                </a:solidFill>
                <a:effectLst/>
                <a:uLnTx/>
                <a:uFillTx/>
                <a:latin typeface="+mn-ea"/>
                <a:ea typeface="+mn-ea"/>
              </a:endParaRPr>
            </a:p>
          </p:txBody>
        </p:sp>
        <p:sp>
          <p:nvSpPr>
            <p:cNvPr id="61" name="Rectangle 22">
              <a:extLst>
                <a:ext uri="{FF2B5EF4-FFF2-40B4-BE49-F238E27FC236}">
                  <a16:creationId xmlns:a16="http://schemas.microsoft.com/office/drawing/2014/main" id="{C637E3E1-EC09-3AB6-62D7-7D0365082991}"/>
                </a:ext>
              </a:extLst>
            </p:cNvPr>
            <p:cNvSpPr>
              <a:spLocks noChangeArrowheads="1"/>
            </p:cNvSpPr>
            <p:nvPr/>
          </p:nvSpPr>
          <p:spPr bwMode="auto">
            <a:xfrm>
              <a:off x="370" y="680"/>
              <a:ext cx="226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0" marR="0" lvl="0" indent="0" defTabSz="895350" eaLnBrk="1" fontAlgn="auto" latinLnBrk="0" hangingPunct="1">
                <a:lnSpc>
                  <a:spcPct val="100000"/>
                </a:lnSpc>
                <a:spcBef>
                  <a:spcPts val="0"/>
                </a:spcBef>
                <a:spcAft>
                  <a:spcPts val="0"/>
                </a:spcAft>
                <a:buClrTx/>
                <a:buSzPct val="120000"/>
                <a:buFontTx/>
                <a:buNone/>
                <a:tabLst/>
                <a:defRPr/>
              </a:pPr>
              <a:r>
                <a:rPr kumimoji="0" lang="en-US" altLang="ko-KR" sz="1400" b="0" kern="0" dirty="0">
                  <a:solidFill>
                    <a:srgbClr val="FFFFFF"/>
                  </a:solidFill>
                  <a:latin typeface="+mn-ea"/>
                  <a:ea typeface="+mn-ea"/>
                </a:rPr>
                <a:t>BCQ(Batch-</a:t>
              </a:r>
              <a:r>
                <a:rPr kumimoji="0" lang="en-US" altLang="ko-KR" sz="1400" b="0" kern="0" dirty="0" err="1">
                  <a:solidFill>
                    <a:srgbClr val="FFFFFF"/>
                  </a:solidFill>
                  <a:latin typeface="+mn-ea"/>
                  <a:ea typeface="+mn-ea"/>
                </a:rPr>
                <a:t>Consrained</a:t>
              </a:r>
              <a:r>
                <a:rPr kumimoji="0" lang="en-US" altLang="ko-KR" sz="1400" b="0" kern="0" dirty="0">
                  <a:solidFill>
                    <a:srgbClr val="FFFFFF"/>
                  </a:solidFill>
                  <a:latin typeface="+mn-ea"/>
                  <a:ea typeface="+mn-ea"/>
                </a:rPr>
                <a:t> deep-Q-learning)</a:t>
              </a:r>
              <a:endParaRPr kumimoji="0" lang="en-US" altLang="ko-KR" sz="1400" b="0" i="0" u="none" strike="noStrike" kern="0" cap="none" spc="0" normalizeH="0" baseline="0" noProof="0" dirty="0">
                <a:ln>
                  <a:noFill/>
                </a:ln>
                <a:solidFill>
                  <a:srgbClr val="FFFFFF"/>
                </a:solidFill>
                <a:effectLst/>
                <a:uLnTx/>
                <a:uFillTx/>
                <a:latin typeface="+mn-ea"/>
                <a:ea typeface="+mn-ea"/>
              </a:endParaRPr>
            </a:p>
          </p:txBody>
        </p:sp>
        <p:sp>
          <p:nvSpPr>
            <p:cNvPr id="62" name="Rectangle 23">
              <a:extLst>
                <a:ext uri="{FF2B5EF4-FFF2-40B4-BE49-F238E27FC236}">
                  <a16:creationId xmlns:a16="http://schemas.microsoft.com/office/drawing/2014/main" id="{5AA23077-A9FC-110F-48C0-803FDC8C6AD2}"/>
                </a:ext>
              </a:extLst>
            </p:cNvPr>
            <p:cNvSpPr>
              <a:spLocks noChangeArrowheads="1"/>
            </p:cNvSpPr>
            <p:nvPr/>
          </p:nvSpPr>
          <p:spPr bwMode="auto">
            <a:xfrm>
              <a:off x="370" y="947"/>
              <a:ext cx="2264" cy="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defTabSz="895350">
                <a:buSzPct val="120000"/>
                <a:defRPr sz="1600">
                  <a:solidFill>
                    <a:schemeClr val="tx1"/>
                  </a:solidFill>
                  <a:latin typeface="Arial" panose="020B0604020202020204" pitchFamily="34" charset="0"/>
                  <a:ea typeface="-윤고딕130" pitchFamily="18" charset="-127"/>
                </a:defRPr>
              </a:lvl1pPr>
              <a:lvl2pPr marL="144463" indent="-142875" defTabSz="895350">
                <a:buSzPct val="120000"/>
                <a:buChar char="•"/>
                <a:defRPr sz="1600">
                  <a:solidFill>
                    <a:schemeClr val="tx1"/>
                  </a:solidFill>
                  <a:latin typeface="Arial" panose="020B0604020202020204" pitchFamily="34" charset="0"/>
                  <a:ea typeface="-윤고딕130" pitchFamily="18" charset="-127"/>
                </a:defRPr>
              </a:lvl2pPr>
              <a:lvl3pPr marL="295275" indent="-149225" defTabSz="895350">
                <a:buChar char="–"/>
                <a:defRPr sz="1600">
                  <a:solidFill>
                    <a:schemeClr val="tx1"/>
                  </a:solidFill>
                  <a:latin typeface="Arial" panose="020B0604020202020204" pitchFamily="34" charset="0"/>
                  <a:ea typeface="-윤고딕130" pitchFamily="18" charset="-127"/>
                </a:defRPr>
              </a:lvl3pPr>
              <a:lvl4pPr marL="431800" indent="-134938" defTabSz="895350">
                <a:buSzPct val="89000"/>
                <a:buChar char="•"/>
                <a:defRPr sz="1600">
                  <a:solidFill>
                    <a:schemeClr val="tx1"/>
                  </a:solidFill>
                  <a:latin typeface="Arial" panose="020B0604020202020204" pitchFamily="34" charset="0"/>
                  <a:ea typeface="-윤고딕130" pitchFamily="18" charset="-127"/>
                </a:defRPr>
              </a:lvl4pPr>
              <a:lvl5pPr marL="582613" indent="-149225" defTabSz="895350">
                <a:buSzPct val="75000"/>
                <a:buChar char="–"/>
                <a:defRPr sz="1600">
                  <a:solidFill>
                    <a:schemeClr val="tx1"/>
                  </a:solidFill>
                  <a:latin typeface="Arial" panose="020B0604020202020204" pitchFamily="34" charset="0"/>
                  <a:ea typeface="-윤고딕130" pitchFamily="18" charset="-127"/>
                </a:defRPr>
              </a:lvl5pPr>
              <a:lvl6pPr marL="10398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6pPr>
              <a:lvl7pPr marL="14970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7pPr>
              <a:lvl8pPr marL="19542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8pPr>
              <a:lvl9pPr marL="2411413" indent="-149225" defTabSz="895350" fontAlgn="base">
                <a:spcBef>
                  <a:spcPct val="0"/>
                </a:spcBef>
                <a:spcAft>
                  <a:spcPct val="0"/>
                </a:spcAft>
                <a:buSzPct val="75000"/>
                <a:buChar char="–"/>
                <a:defRPr sz="1600">
                  <a:solidFill>
                    <a:schemeClr val="tx1"/>
                  </a:solidFill>
                  <a:latin typeface="Arial" panose="020B0604020202020204" pitchFamily="34" charset="0"/>
                  <a:ea typeface="-윤고딕130" pitchFamily="18" charset="-127"/>
                </a:defRPr>
              </a:lvl9pPr>
            </a:lstStyle>
            <a:p>
              <a:pPr marL="144463" marR="0" lvl="1" indent="-142875" defTabSz="895350" eaLnBrk="1" fontAlgn="auto" latinLnBrk="0" hangingPunct="1">
                <a:lnSpc>
                  <a:spcPct val="100000"/>
                </a:lnSpc>
                <a:spcBef>
                  <a:spcPts val="0"/>
                </a:spcBef>
                <a:spcAft>
                  <a:spcPts val="0"/>
                </a:spcAft>
                <a:buClrTx/>
                <a:buSzPct val="120000"/>
                <a:buFontTx/>
                <a:buChar char="•"/>
                <a:tabLst/>
                <a:defRPr/>
              </a:pPr>
              <a:r>
                <a:rPr kumimoji="0" lang="ko-KR" altLang="en-US" sz="1400" b="0" kern="0" dirty="0">
                  <a:solidFill>
                    <a:srgbClr val="000000"/>
                  </a:solidFill>
                  <a:latin typeface="+mn-ea"/>
                  <a:ea typeface="+mn-ea"/>
                </a:rPr>
                <a:t>데이터셋에 있는 액션들과 비슷한 액션만 선택하는 방식</a:t>
              </a:r>
              <a:r>
                <a:rPr kumimoji="0" lang="en-US" altLang="ko-KR" sz="1400" b="0" kern="0" dirty="0">
                  <a:solidFill>
                    <a:srgbClr val="000000"/>
                  </a:solidFill>
                  <a:latin typeface="+mn-ea"/>
                  <a:ea typeface="+mn-ea"/>
                </a:rPr>
                <a:t>.</a:t>
              </a:r>
            </a:p>
            <a:p>
              <a:pPr marL="144463" marR="0" lvl="1" indent="-142875" defTabSz="895350" eaLnBrk="1" fontAlgn="auto" latinLnBrk="0" hangingPunct="1">
                <a:lnSpc>
                  <a:spcPct val="100000"/>
                </a:lnSpc>
                <a:spcBef>
                  <a:spcPts val="0"/>
                </a:spcBef>
                <a:spcAft>
                  <a:spcPts val="0"/>
                </a:spcAft>
                <a:buClrTx/>
                <a:buSzPct val="120000"/>
                <a:buFontTx/>
                <a:buChar char="•"/>
                <a:tabLst/>
                <a:defRPr/>
              </a:pPr>
              <a:r>
                <a:rPr kumimoji="0" lang="ko-KR" altLang="en-US" sz="1400" b="0" i="0" u="none" strike="noStrike" kern="0" cap="none" spc="0" normalizeH="0" baseline="0" noProof="0" dirty="0" err="1">
                  <a:ln>
                    <a:noFill/>
                  </a:ln>
                  <a:solidFill>
                    <a:srgbClr val="000000"/>
                  </a:solidFill>
                  <a:effectLst/>
                  <a:uLnTx/>
                  <a:uFillTx/>
                  <a:latin typeface="+mn-ea"/>
                  <a:ea typeface="+mn-ea"/>
                </a:rPr>
                <a:t>과적합</a:t>
              </a:r>
              <a:r>
                <a:rPr kumimoji="0" lang="ko-KR" altLang="en-US" sz="1400" b="0" i="0" u="none" strike="noStrike" kern="0" cap="none" spc="0" normalizeH="0" baseline="0" noProof="0" dirty="0">
                  <a:ln>
                    <a:noFill/>
                  </a:ln>
                  <a:solidFill>
                    <a:srgbClr val="000000"/>
                  </a:solidFill>
                  <a:effectLst/>
                  <a:uLnTx/>
                  <a:uFillTx/>
                  <a:latin typeface="+mn-ea"/>
                  <a:ea typeface="+mn-ea"/>
                </a:rPr>
                <a:t> 문제가 쉽게 일어날 수 있음</a:t>
              </a:r>
              <a:r>
                <a:rPr kumimoji="0" lang="en-US" altLang="ko-KR" sz="1400" b="0" i="0" u="none" strike="noStrike" kern="0" cap="none" spc="0" normalizeH="0" baseline="0" noProof="0" dirty="0">
                  <a:ln>
                    <a:noFill/>
                  </a:ln>
                  <a:solidFill>
                    <a:srgbClr val="000000"/>
                  </a:solidFill>
                  <a:effectLst/>
                  <a:uLnTx/>
                  <a:uFillTx/>
                  <a:latin typeface="+mn-ea"/>
                  <a:ea typeface="+mn-ea"/>
                </a:rPr>
                <a:t>.</a:t>
              </a:r>
            </a:p>
          </p:txBody>
        </p:sp>
      </p:grpSp>
    </p:spTree>
    <p:extLst>
      <p:ext uri="{BB962C8B-B14F-4D97-AF65-F5344CB8AC3E}">
        <p14:creationId xmlns:p14="http://schemas.microsoft.com/office/powerpoint/2010/main" val="2087654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420EF-4182-A258-8FA9-3BF7B3958C0D}"/>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8DAD915F-D711-C79E-0687-01F3763C1D0D}"/>
              </a:ext>
            </a:extLst>
          </p:cNvPr>
          <p:cNvSpPr>
            <a:spLocks noGrp="1"/>
          </p:cNvSpPr>
          <p:nvPr>
            <p:ph type="body" sz="quarter" idx="10"/>
          </p:nvPr>
        </p:nvSpPr>
        <p:spPr/>
        <p:txBody>
          <a:bodyPr/>
          <a:lstStyle/>
          <a:p>
            <a:pPr marL="0" indent="0">
              <a:buNone/>
            </a:pPr>
            <a:r>
              <a:rPr lang="en-US" altLang="ko-KR" dirty="0"/>
              <a:t>BC(behavior cloning, </a:t>
            </a:r>
            <a:r>
              <a:rPr lang="ko-KR" altLang="en-US" dirty="0"/>
              <a:t>변형버전</a:t>
            </a:r>
            <a:r>
              <a:rPr lang="en-US" altLang="ko-KR" dirty="0"/>
              <a:t>)</a:t>
            </a:r>
            <a:endParaRPr lang="ko-KR" altLang="en-US" dirty="0"/>
          </a:p>
        </p:txBody>
      </p:sp>
      <p:sp>
        <p:nvSpPr>
          <p:cNvPr id="4" name="제목 3">
            <a:extLst>
              <a:ext uri="{FF2B5EF4-FFF2-40B4-BE49-F238E27FC236}">
                <a16:creationId xmlns:a16="http://schemas.microsoft.com/office/drawing/2014/main" id="{AED06291-BE77-9438-9D79-389DA79126F9}"/>
              </a:ext>
            </a:extLst>
          </p:cNvPr>
          <p:cNvSpPr>
            <a:spLocks noGrp="1"/>
          </p:cNvSpPr>
          <p:nvPr>
            <p:ph type="title"/>
          </p:nvPr>
        </p:nvSpPr>
        <p:spPr/>
        <p:txBody>
          <a:bodyPr/>
          <a:lstStyle/>
          <a:p>
            <a:r>
              <a:rPr lang="en-US" altLang="ko-KR" dirty="0"/>
              <a:t>2.3 </a:t>
            </a:r>
            <a:r>
              <a:rPr lang="ko-KR" altLang="en-US" dirty="0"/>
              <a:t>서부발전 강화학습 적용 </a:t>
            </a:r>
            <a:r>
              <a:rPr lang="en-US" altLang="ko-KR" dirty="0"/>
              <a:t>: Behavior Cloning</a:t>
            </a:r>
            <a:endParaRPr lang="ko-KR" altLang="en-US" dirty="0"/>
          </a:p>
        </p:txBody>
      </p:sp>
      <p:sp>
        <p:nvSpPr>
          <p:cNvPr id="5" name="텍스트 개체 틀 4">
            <a:extLst>
              <a:ext uri="{FF2B5EF4-FFF2-40B4-BE49-F238E27FC236}">
                <a16:creationId xmlns:a16="http://schemas.microsoft.com/office/drawing/2014/main" id="{62978898-5139-CEB8-67C3-3CB5918D459F}"/>
              </a:ext>
            </a:extLst>
          </p:cNvPr>
          <p:cNvSpPr>
            <a:spLocks noGrp="1"/>
          </p:cNvSpPr>
          <p:nvPr>
            <p:ph type="body" sz="quarter" idx="12"/>
          </p:nvPr>
        </p:nvSpPr>
        <p:spPr/>
        <p:txBody>
          <a:bodyPr/>
          <a:lstStyle/>
          <a:p>
            <a:r>
              <a:rPr lang="ko-KR" altLang="en-US" dirty="0"/>
              <a:t>서부발전</a:t>
            </a:r>
          </a:p>
        </p:txBody>
      </p:sp>
      <mc:AlternateContent xmlns:mc="http://schemas.openxmlformats.org/markup-compatibility/2006" xmlns:a14="http://schemas.microsoft.com/office/drawing/2010/main">
        <mc:Choice Requires="a14">
          <p:sp>
            <p:nvSpPr>
              <p:cNvPr id="7" name="텍스트 개체 틀 6">
                <a:extLst>
                  <a:ext uri="{FF2B5EF4-FFF2-40B4-BE49-F238E27FC236}">
                    <a16:creationId xmlns:a16="http://schemas.microsoft.com/office/drawing/2014/main" id="{CD9022C0-57D7-24E2-5BFF-E57A7455D79B}"/>
                  </a:ext>
                </a:extLst>
              </p:cNvPr>
              <p:cNvSpPr>
                <a:spLocks noGrp="1"/>
              </p:cNvSpPr>
              <p:nvPr>
                <p:ph type="body" sz="quarter" idx="11"/>
              </p:nvPr>
            </p:nvSpPr>
            <p:spPr/>
            <p:txBody>
              <a:bodyPr/>
              <a:lstStyle/>
              <a:p>
                <a:r>
                  <a:rPr lang="en-US" altLang="ko-KR" dirty="0"/>
                  <a:t>historical</a:t>
                </a:r>
                <a:r>
                  <a:rPr lang="ko-KR" altLang="en-US" dirty="0"/>
                  <a:t> </a:t>
                </a:r>
                <a:r>
                  <a:rPr lang="en-US" altLang="ko-KR" dirty="0"/>
                  <a:t>data</a:t>
                </a:r>
                <a:r>
                  <a:rPr lang="ko-KR" altLang="en-US" dirty="0"/>
                  <a:t>는 </a:t>
                </a:r>
                <a14:m>
                  <m:oMath xmlns:m="http://schemas.openxmlformats.org/officeDocument/2006/math">
                    <m:r>
                      <a:rPr lang="en-US" altLang="ko-KR" i="1" dirty="0" smtClean="0">
                        <a:latin typeface="Cambria Math" panose="02040503050406030204" pitchFamily="18" charset="0"/>
                      </a:rPr>
                      <m:t>(</m:t>
                    </m:r>
                    <m:r>
                      <a:rPr lang="en-US" altLang="ko-KR" i="1" dirty="0" err="1" smtClean="0">
                        <a:latin typeface="Cambria Math" panose="02040503050406030204" pitchFamily="18" charset="0"/>
                      </a:rPr>
                      <m:t>𝑠</m:t>
                    </m:r>
                    <m:r>
                      <a:rPr lang="en-US" altLang="ko-KR" i="1" dirty="0" err="1" smtClean="0">
                        <a:latin typeface="Cambria Math" panose="02040503050406030204" pitchFamily="18" charset="0"/>
                      </a:rPr>
                      <m:t>,</m:t>
                    </m:r>
                    <m:r>
                      <a:rPr lang="en-US" altLang="ko-KR" i="1" dirty="0" err="1" smtClean="0">
                        <a:latin typeface="Cambria Math" panose="02040503050406030204" pitchFamily="18" charset="0"/>
                      </a:rPr>
                      <m:t>𝑎</m:t>
                    </m:r>
                    <m:r>
                      <a:rPr lang="en-US" altLang="ko-KR" i="1" dirty="0" err="1" smtClean="0">
                        <a:latin typeface="Cambria Math" panose="02040503050406030204" pitchFamily="18" charset="0"/>
                      </a:rPr>
                      <m:t>,</m:t>
                    </m:r>
                    <m:r>
                      <a:rPr lang="en-US" altLang="ko-KR" i="1" dirty="0" err="1" smtClean="0">
                        <a:latin typeface="Cambria Math" panose="02040503050406030204" pitchFamily="18" charset="0"/>
                      </a:rPr>
                      <m:t>𝑟</m:t>
                    </m:r>
                    <m:r>
                      <a:rPr lang="en-US" altLang="ko-KR" i="1" dirty="0">
                        <a:latin typeface="Cambria Math" panose="02040503050406030204" pitchFamily="18" charset="0"/>
                      </a:rPr>
                      <m:t>)</m:t>
                    </m:r>
                  </m:oMath>
                </a14:m>
                <a:r>
                  <a:rPr lang="ko-KR" altLang="en-US" dirty="0"/>
                  <a:t> 나열이다</a:t>
                </a:r>
                <a:r>
                  <a:rPr lang="en-US" altLang="ko-KR" dirty="0"/>
                  <a:t>. </a:t>
                </a:r>
                <a14:m>
                  <m:oMath xmlns:m="http://schemas.openxmlformats.org/officeDocument/2006/math">
                    <m:r>
                      <a:rPr lang="en-US" altLang="ko-KR" i="1" dirty="0" smtClean="0">
                        <a:latin typeface="Cambria Math" panose="02040503050406030204" pitchFamily="18" charset="0"/>
                      </a:rPr>
                      <m:t>𝑟</m:t>
                    </m:r>
                  </m:oMath>
                </a14:m>
                <a:r>
                  <a:rPr lang="ko-KR" altLang="en-US" dirty="0"/>
                  <a:t>의 값이 일정 값 이상인 행들의 </a:t>
                </a:r>
                <a:r>
                  <a:rPr lang="en-US" altLang="ko-KR" dirty="0"/>
                  <a:t>(</a:t>
                </a:r>
                <a:r>
                  <a:rPr lang="en-US" altLang="ko-KR" dirty="0" err="1"/>
                  <a:t>s,a</a:t>
                </a:r>
                <a:r>
                  <a:rPr lang="en-US" altLang="ko-KR" dirty="0"/>
                  <a:t>)</a:t>
                </a:r>
                <a:r>
                  <a:rPr lang="ko-KR" altLang="en-US" dirty="0"/>
                  <a:t>를 모아서 함수 </a:t>
                </a:r>
                <a14:m>
                  <m:oMath xmlns:m="http://schemas.openxmlformats.org/officeDocument/2006/math">
                    <m:r>
                      <a:rPr lang="en-US" altLang="ko-KR" i="1" dirty="0" smtClean="0">
                        <a:latin typeface="Cambria Math" panose="02040503050406030204" pitchFamily="18" charset="0"/>
                      </a:rPr>
                      <m:t>𝑎</m:t>
                    </m:r>
                    <m:r>
                      <a:rPr lang="en-US" altLang="ko-KR" i="1" dirty="0" smtClean="0">
                        <a:latin typeface="Cambria Math" panose="02040503050406030204" pitchFamily="18" charset="0"/>
                      </a:rPr>
                      <m:t>=</m:t>
                    </m:r>
                    <m:r>
                      <a:rPr lang="en-US" altLang="ko-KR" i="1" dirty="0" smtClean="0">
                        <a:latin typeface="Cambria Math" panose="02040503050406030204" pitchFamily="18" charset="0"/>
                      </a:rPr>
                      <m:t>𝑓</m:t>
                    </m:r>
                    <m:r>
                      <a:rPr lang="en-US" altLang="ko-KR" i="1" dirty="0" smtClean="0">
                        <a:latin typeface="Cambria Math" panose="02040503050406030204" pitchFamily="18" charset="0"/>
                      </a:rPr>
                      <m:t>(</m:t>
                    </m:r>
                    <m:r>
                      <a:rPr lang="en-US" altLang="ko-KR" i="1" dirty="0" smtClean="0">
                        <a:latin typeface="Cambria Math" panose="02040503050406030204" pitchFamily="18" charset="0"/>
                      </a:rPr>
                      <m:t>𝑠</m:t>
                    </m:r>
                    <m:r>
                      <a:rPr lang="en-US" altLang="ko-KR" i="1" dirty="0" smtClean="0">
                        <a:latin typeface="Cambria Math" panose="02040503050406030204" pitchFamily="18" charset="0"/>
                      </a:rPr>
                      <m:t>)</m:t>
                    </m:r>
                  </m:oMath>
                </a14:m>
                <a:r>
                  <a:rPr lang="ko-KR" altLang="en-US" dirty="0"/>
                  <a:t>를 추정할 수 있다</a:t>
                </a:r>
                <a:r>
                  <a:rPr lang="en-US" altLang="ko-KR" dirty="0"/>
                  <a:t>. </a:t>
                </a:r>
                <a:r>
                  <a:rPr lang="ko-KR" altLang="en-US" dirty="0"/>
                  <a:t>조금 더 강화학습적으로 적용하려면</a:t>
                </a:r>
                <a:r>
                  <a:rPr lang="en-US" altLang="ko-KR" dirty="0"/>
                  <a:t>, r</a:t>
                </a:r>
                <a:r>
                  <a:rPr lang="ko-KR" altLang="en-US" dirty="0"/>
                  <a:t>의 </a:t>
                </a:r>
                <a:r>
                  <a:rPr lang="en-US" altLang="ko-KR" dirty="0"/>
                  <a:t>discounted sum (of length M)</a:t>
                </a:r>
                <a:r>
                  <a:rPr lang="ko-KR" altLang="en-US" dirty="0"/>
                  <a:t>이 일정 값 이상인 행들의 </a:t>
                </a:r>
                <a14:m>
                  <m:oMath xmlns:m="http://schemas.openxmlformats.org/officeDocument/2006/math">
                    <m:r>
                      <a:rPr lang="en-US" altLang="ko-KR" i="1" dirty="0" smtClean="0">
                        <a:latin typeface="Cambria Math" panose="02040503050406030204" pitchFamily="18" charset="0"/>
                      </a:rPr>
                      <m:t>(</m:t>
                    </m:r>
                    <m:r>
                      <a:rPr lang="en-US" altLang="ko-KR" i="1" dirty="0" err="1" smtClean="0">
                        <a:latin typeface="Cambria Math" panose="02040503050406030204" pitchFamily="18" charset="0"/>
                      </a:rPr>
                      <m:t>𝑠</m:t>
                    </m:r>
                    <m:r>
                      <a:rPr lang="en-US" altLang="ko-KR" i="1" dirty="0" err="1" smtClean="0">
                        <a:latin typeface="Cambria Math" panose="02040503050406030204" pitchFamily="18" charset="0"/>
                      </a:rPr>
                      <m:t>,</m:t>
                    </m:r>
                    <m:r>
                      <a:rPr lang="en-US" altLang="ko-KR" i="1" dirty="0" err="1" smtClean="0">
                        <a:latin typeface="Cambria Math" panose="02040503050406030204" pitchFamily="18" charset="0"/>
                      </a:rPr>
                      <m:t>𝑎</m:t>
                    </m:r>
                    <m:r>
                      <a:rPr lang="en-US" altLang="ko-KR" i="1" dirty="0" smtClean="0">
                        <a:latin typeface="Cambria Math" panose="02040503050406030204" pitchFamily="18" charset="0"/>
                      </a:rPr>
                      <m:t>)</m:t>
                    </m:r>
                  </m:oMath>
                </a14:m>
                <a:r>
                  <a:rPr lang="ko-KR" altLang="en-US" dirty="0"/>
                  <a:t>를 모아서 그것으로 지도학습을 진행하여 함수 </a:t>
                </a:r>
                <a14:m>
                  <m:oMath xmlns:m="http://schemas.openxmlformats.org/officeDocument/2006/math">
                    <m:r>
                      <a:rPr lang="en-US" altLang="ko-KR" i="1" dirty="0" smtClean="0">
                        <a:latin typeface="Cambria Math" panose="02040503050406030204" pitchFamily="18" charset="0"/>
                      </a:rPr>
                      <m:t>𝑎</m:t>
                    </m:r>
                    <m:r>
                      <a:rPr lang="en-US" altLang="ko-KR" i="1" dirty="0" smtClean="0">
                        <a:latin typeface="Cambria Math" panose="02040503050406030204" pitchFamily="18" charset="0"/>
                      </a:rPr>
                      <m:t>=</m:t>
                    </m:r>
                    <m:r>
                      <a:rPr lang="en-US" altLang="ko-KR" i="1" dirty="0" smtClean="0">
                        <a:latin typeface="Cambria Math" panose="02040503050406030204" pitchFamily="18" charset="0"/>
                      </a:rPr>
                      <m:t>𝑓</m:t>
                    </m:r>
                    <m:r>
                      <a:rPr lang="en-US" altLang="ko-KR" i="1" dirty="0" smtClean="0">
                        <a:latin typeface="Cambria Math" panose="02040503050406030204" pitchFamily="18" charset="0"/>
                      </a:rPr>
                      <m:t>(</m:t>
                    </m:r>
                    <m:r>
                      <a:rPr lang="en-US" altLang="ko-KR" i="1" dirty="0" smtClean="0">
                        <a:latin typeface="Cambria Math" panose="02040503050406030204" pitchFamily="18" charset="0"/>
                      </a:rPr>
                      <m:t>𝑠</m:t>
                    </m:r>
                    <m:r>
                      <a:rPr lang="en-US" altLang="ko-KR" i="1" dirty="0" smtClean="0">
                        <a:latin typeface="Cambria Math" panose="02040503050406030204" pitchFamily="18" charset="0"/>
                      </a:rPr>
                      <m:t>)</m:t>
                    </m:r>
                  </m:oMath>
                </a14:m>
                <a:r>
                  <a:rPr lang="ko-KR" altLang="en-US" dirty="0"/>
                  <a:t>를</a:t>
                </a:r>
                <a:r>
                  <a:rPr lang="en-US" altLang="ko-KR" dirty="0"/>
                  <a:t> </a:t>
                </a:r>
                <a:r>
                  <a:rPr lang="ko-KR" altLang="en-US" dirty="0"/>
                  <a:t>추정할 수 있다</a:t>
                </a:r>
                <a:r>
                  <a:rPr lang="en-US" altLang="ko-KR" dirty="0"/>
                  <a:t>. </a:t>
                </a:r>
                <a:r>
                  <a:rPr lang="ko-KR" altLang="en-US" dirty="0"/>
                  <a:t>자세한 사항은 아래 설명 참고</a:t>
                </a:r>
                <a:r>
                  <a:rPr lang="en-US" altLang="ko-KR" dirty="0"/>
                  <a:t>.</a:t>
                </a:r>
                <a:endParaRPr lang="ko-KR" altLang="en-US" dirty="0"/>
              </a:p>
            </p:txBody>
          </p:sp>
        </mc:Choice>
        <mc:Fallback xmlns="">
          <p:sp>
            <p:nvSpPr>
              <p:cNvPr id="7" name="텍스트 개체 틀 6">
                <a:extLst>
                  <a:ext uri="{FF2B5EF4-FFF2-40B4-BE49-F238E27FC236}">
                    <a16:creationId xmlns:a16="http://schemas.microsoft.com/office/drawing/2014/main" id="{CD9022C0-57D7-24E2-5BFF-E57A7455D79B}"/>
                  </a:ext>
                </a:extLst>
              </p:cNvPr>
              <p:cNvSpPr>
                <a:spLocks noGrp="1" noRot="1" noChangeAspect="1" noMove="1" noResize="1" noEditPoints="1" noAdjustHandles="1" noChangeArrowheads="1" noChangeShapeType="1" noTextEdit="1"/>
              </p:cNvSpPr>
              <p:nvPr>
                <p:ph type="body" sz="quarter" idx="11"/>
              </p:nvPr>
            </p:nvSpPr>
            <p:spPr>
              <a:blipFill>
                <a:blip r:embed="rId2"/>
                <a:stretch>
                  <a:fillRect l="-394" t="-2564" b="-10256"/>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8" name="텍스트 개체 틀 2">
                <a:extLst>
                  <a:ext uri="{FF2B5EF4-FFF2-40B4-BE49-F238E27FC236}">
                    <a16:creationId xmlns:a16="http://schemas.microsoft.com/office/drawing/2014/main" id="{6E54E1E6-B7A9-C4FA-EFC8-B8601519170F}"/>
                  </a:ext>
                </a:extLst>
              </p:cNvPr>
              <p:cNvSpPr txBox="1">
                <a:spLocks/>
              </p:cNvSpPr>
              <p:nvPr/>
            </p:nvSpPr>
            <p:spPr>
              <a:xfrm>
                <a:off x="362309" y="2199952"/>
                <a:ext cx="9270641" cy="3830350"/>
              </a:xfrm>
              <a:prstGeom prst="rect">
                <a:avLst/>
              </a:prstGeom>
              <a:ln w="38100">
                <a:solidFill>
                  <a:schemeClr val="tx1"/>
                </a:solidFill>
              </a:ln>
            </p:spPr>
            <p:txBody>
              <a:bodyPr lIns="72000" tIns="36000"/>
              <a:lstStyle>
                <a:lvl1pPr marL="0" indent="0" algn="l" rtl="0" eaLnBrk="0" fontAlgn="base" latinLnBrk="0" hangingPunct="0">
                  <a:lnSpc>
                    <a:spcPct val="100000"/>
                  </a:lnSpc>
                  <a:spcBef>
                    <a:spcPts val="0"/>
                  </a:spcBef>
                  <a:spcAft>
                    <a:spcPct val="0"/>
                  </a:spcAft>
                  <a:buFont typeface="Arial" charset="0"/>
                  <a:buNone/>
                  <a:defRPr sz="1400" kern="1200">
                    <a:solidFill>
                      <a:schemeClr val="tx1"/>
                    </a:solidFill>
                    <a:latin typeface="+mn-lt"/>
                    <a:ea typeface="+mn-ea"/>
                    <a:cs typeface="+mn-cs"/>
                  </a:defRPr>
                </a:lvl1pPr>
                <a:lvl2pPr marL="742950" indent="-285750" algn="l" rtl="0" eaLnBrk="0" fontAlgn="base" latinLnBrk="1"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latinLnBrk="1"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latinLnBrk="1"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r>
                  <a:rPr kumimoji="0" lang="ko-KR" altLang="en-US" sz="1200" b="0" dirty="0"/>
                  <a:t>지도학습은 데이터 </a:t>
                </a:r>
                <a14:m>
                  <m:oMath xmlns:m="http://schemas.openxmlformats.org/officeDocument/2006/math">
                    <m:r>
                      <a:rPr kumimoji="0" lang="en-US" altLang="ko-KR" sz="1200" b="0" i="1">
                        <a:latin typeface="Cambria Math" panose="02040503050406030204" pitchFamily="18" charset="0"/>
                      </a:rPr>
                      <m:t>𝐷</m:t>
                    </m:r>
                    <m:r>
                      <a:rPr kumimoji="0" lang="en-US" altLang="ko-KR" sz="1200" b="0" i="1">
                        <a:latin typeface="Cambria Math" panose="02040503050406030204" pitchFamily="18" charset="0"/>
                      </a:rPr>
                      <m:t>={</m:t>
                    </m:r>
                    <m:d>
                      <m:dPr>
                        <m:ctrlPr>
                          <a:rPr kumimoji="0" lang="en-US" altLang="ko-KR" sz="1200" b="0" i="1">
                            <a:latin typeface="Cambria Math" panose="02040503050406030204" pitchFamily="18" charset="0"/>
                          </a:rPr>
                        </m:ctrlPr>
                      </m:dPr>
                      <m:e>
                        <m:sSub>
                          <m:sSubPr>
                            <m:ctrlPr>
                              <a:rPr kumimoji="0" lang="en-US" altLang="ko-KR" sz="1200" b="0" i="1">
                                <a:latin typeface="Cambria Math" panose="02040503050406030204" pitchFamily="18" charset="0"/>
                              </a:rPr>
                            </m:ctrlPr>
                          </m:sSubPr>
                          <m:e>
                            <m:r>
                              <a:rPr kumimoji="0" lang="en-US" altLang="ko-KR" sz="1200" b="0" i="1">
                                <a:latin typeface="Cambria Math" panose="02040503050406030204" pitchFamily="18" charset="0"/>
                              </a:rPr>
                              <m:t>𝑥</m:t>
                            </m:r>
                          </m:e>
                          <m:sub>
                            <m:r>
                              <a:rPr kumimoji="0" lang="en-US" altLang="ko-KR" sz="1200" b="0" i="1">
                                <a:latin typeface="Cambria Math" panose="02040503050406030204" pitchFamily="18" charset="0"/>
                              </a:rPr>
                              <m:t>𝑖</m:t>
                            </m:r>
                          </m:sub>
                        </m:sSub>
                        <m:r>
                          <a:rPr kumimoji="0" lang="en-US" altLang="ko-KR" sz="1200" b="0" i="1">
                            <a:latin typeface="Cambria Math" panose="02040503050406030204" pitchFamily="18" charset="0"/>
                          </a:rPr>
                          <m:t>, </m:t>
                        </m:r>
                        <m:sSub>
                          <m:sSubPr>
                            <m:ctrlPr>
                              <a:rPr kumimoji="0" lang="en-US" altLang="ko-KR" sz="1200" b="0" i="1">
                                <a:latin typeface="Cambria Math" panose="02040503050406030204" pitchFamily="18" charset="0"/>
                              </a:rPr>
                            </m:ctrlPr>
                          </m:sSubPr>
                          <m:e>
                            <m:r>
                              <a:rPr kumimoji="0" lang="en-US" altLang="ko-KR" sz="1200" b="0" i="1">
                                <a:latin typeface="Cambria Math" panose="02040503050406030204" pitchFamily="18" charset="0"/>
                              </a:rPr>
                              <m:t>𝑦</m:t>
                            </m:r>
                          </m:e>
                          <m:sub>
                            <m:r>
                              <a:rPr kumimoji="0" lang="en-US" altLang="ko-KR" sz="1200" b="0" i="1">
                                <a:latin typeface="Cambria Math" panose="02040503050406030204" pitchFamily="18" charset="0"/>
                              </a:rPr>
                              <m:t>𝑖</m:t>
                            </m:r>
                          </m:sub>
                        </m:sSub>
                      </m:e>
                    </m:d>
                    <m:r>
                      <a:rPr kumimoji="0" lang="en-US" altLang="ko-KR" sz="1200" b="0" i="1">
                        <a:latin typeface="Cambria Math" panose="02040503050406030204" pitchFamily="18" charset="0"/>
                      </a:rPr>
                      <m:t>:0≤</m:t>
                    </m:r>
                    <m:r>
                      <a:rPr kumimoji="0" lang="en-US" altLang="ko-KR" sz="1200" b="0" i="1">
                        <a:latin typeface="Cambria Math" panose="02040503050406030204" pitchFamily="18" charset="0"/>
                      </a:rPr>
                      <m:t>𝑖</m:t>
                    </m:r>
                    <m:r>
                      <a:rPr kumimoji="0" lang="en-US" altLang="ko-KR" sz="1200" b="0" i="1">
                        <a:latin typeface="Cambria Math" panose="02040503050406030204" pitchFamily="18" charset="0"/>
                      </a:rPr>
                      <m:t>≤</m:t>
                    </m:r>
                    <m:r>
                      <a:rPr kumimoji="0" lang="en-US" altLang="ko-KR" sz="1200" b="0" i="1">
                        <a:latin typeface="Cambria Math" panose="02040503050406030204" pitchFamily="18" charset="0"/>
                      </a:rPr>
                      <m:t>𝐼</m:t>
                    </m:r>
                    <m:r>
                      <a:rPr kumimoji="0" lang="en-US" altLang="ko-KR" sz="1200" b="0" i="1">
                        <a:latin typeface="Cambria Math" panose="02040503050406030204" pitchFamily="18" charset="0"/>
                      </a:rPr>
                      <m:t>}</m:t>
                    </m:r>
                    <m:r>
                      <a:rPr kumimoji="0" lang="ko-KR" altLang="en-US" sz="1200" b="0" i="1">
                        <a:latin typeface="Cambria Math" panose="02040503050406030204" pitchFamily="18" charset="0"/>
                      </a:rPr>
                      <m:t>와</m:t>
                    </m:r>
                  </m:oMath>
                </a14:m>
                <a:r>
                  <a:rPr kumimoji="0" lang="ko-KR" altLang="en-US" sz="1200" b="0" dirty="0"/>
                  <a:t> 같은 데이터셋을 가지고 함수 </a:t>
                </a:r>
                <a14:m>
                  <m:oMath xmlns:m="http://schemas.openxmlformats.org/officeDocument/2006/math">
                    <m:r>
                      <a:rPr kumimoji="0" lang="en-US" altLang="ko-KR" sz="1200" b="0" i="1">
                        <a:latin typeface="Cambria Math" panose="02040503050406030204" pitchFamily="18" charset="0"/>
                      </a:rPr>
                      <m:t>𝑦</m:t>
                    </m:r>
                    <m:r>
                      <a:rPr kumimoji="0" lang="en-US" altLang="ko-KR" sz="1200" b="0" i="1">
                        <a:latin typeface="Cambria Math" panose="02040503050406030204" pitchFamily="18" charset="0"/>
                      </a:rPr>
                      <m:t>=</m:t>
                    </m:r>
                    <m:r>
                      <a:rPr kumimoji="0" lang="en-US" altLang="ko-KR" sz="1200" b="0" i="1">
                        <a:latin typeface="Cambria Math" panose="02040503050406030204" pitchFamily="18" charset="0"/>
                      </a:rPr>
                      <m:t>𝑓</m:t>
                    </m:r>
                    <m:r>
                      <a:rPr kumimoji="0" lang="en-US" altLang="ko-KR" sz="1200" b="0" i="1">
                        <a:latin typeface="Cambria Math" panose="02040503050406030204" pitchFamily="18" charset="0"/>
                      </a:rPr>
                      <m:t>(</m:t>
                    </m:r>
                    <m:r>
                      <a:rPr kumimoji="0" lang="en-US" altLang="ko-KR" sz="1200" b="0" i="1">
                        <a:latin typeface="Cambria Math" panose="02040503050406030204" pitchFamily="18" charset="0"/>
                      </a:rPr>
                      <m:t>𝑥</m:t>
                    </m:r>
                    <m:r>
                      <a:rPr kumimoji="0" lang="en-US" altLang="ko-KR" sz="1200" b="0" i="1">
                        <a:latin typeface="Cambria Math" panose="02040503050406030204" pitchFamily="18" charset="0"/>
                      </a:rPr>
                      <m:t>)</m:t>
                    </m:r>
                  </m:oMath>
                </a14:m>
                <a:r>
                  <a:rPr kumimoji="0" lang="ko-KR" altLang="en-US" sz="1200" b="0" dirty="0"/>
                  <a:t>를 학습하는 방식이다</a:t>
                </a:r>
                <a:r>
                  <a:rPr kumimoji="0" lang="en-US" altLang="ko-KR" sz="1200" b="0" dirty="0"/>
                  <a:t>. </a:t>
                </a:r>
                <a:r>
                  <a:rPr kumimoji="0" lang="ko-KR" altLang="en-US" sz="1200" b="0" dirty="0" err="1"/>
                  <a:t>주어져있는</a:t>
                </a:r>
                <a:r>
                  <a:rPr kumimoji="0" lang="ko-KR" altLang="en-US" sz="1200" b="0" dirty="0"/>
                  <a:t> 집합은</a:t>
                </a:r>
                <a:endParaRPr kumimoji="0" lang="en-US" altLang="ko-KR" sz="1200" b="0" dirty="0"/>
              </a:p>
              <a:p>
                <a:pPr/>
                <a14:m>
                  <m:oMathPara xmlns:m="http://schemas.openxmlformats.org/officeDocument/2006/math">
                    <m:oMathParaPr>
                      <m:jc m:val="centerGroup"/>
                    </m:oMathParaPr>
                    <m:oMath xmlns:m="http://schemas.openxmlformats.org/officeDocument/2006/math">
                      <m:r>
                        <a:rPr kumimoji="0" lang="en-US" altLang="ko-KR" sz="1200" b="0" i="1" smtClean="0">
                          <a:latin typeface="Cambria Math" panose="02040503050406030204" pitchFamily="18" charset="0"/>
                        </a:rPr>
                        <m:t>𝑇</m:t>
                      </m:r>
                      <m:r>
                        <a:rPr kumimoji="0" lang="en-US" altLang="ko-KR" sz="1200" b="0" i="1" smtClean="0">
                          <a:latin typeface="Cambria Math" panose="02040503050406030204" pitchFamily="18" charset="0"/>
                        </a:rPr>
                        <m:t>=</m:t>
                      </m:r>
                      <m:d>
                        <m:dPr>
                          <m:begChr m:val="{"/>
                          <m:endChr m:val="}"/>
                          <m:ctrlPr>
                            <a:rPr kumimoji="0" lang="en-US" altLang="ko-KR" sz="1200" b="0" i="1" smtClean="0">
                              <a:latin typeface="Cambria Math" panose="02040503050406030204" pitchFamily="18" charset="0"/>
                            </a:rPr>
                          </m:ctrlPr>
                        </m:dPr>
                        <m:e>
                          <m:d>
                            <m:dPr>
                              <m:ctrlPr>
                                <a:rPr kumimoji="0" lang="en-US" altLang="ko-KR" sz="1200" b="0" i="1" smtClean="0">
                                  <a:latin typeface="Cambria Math" panose="02040503050406030204" pitchFamily="18" charset="0"/>
                                </a:rPr>
                              </m:ctrlPr>
                            </m:dPr>
                            <m:e>
                              <m:d>
                                <m:dPr>
                                  <m:ctrlPr>
                                    <a:rPr kumimoji="0" lang="en-US" altLang="ko-KR" sz="1200" b="0" i="1">
                                      <a:latin typeface="Cambria Math" panose="02040503050406030204" pitchFamily="18" charset="0"/>
                                    </a:rPr>
                                  </m:ctrlPr>
                                </m:dPr>
                                <m:e>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1</m:t>
                                          </m:r>
                                        </m:e>
                                      </m:d>
                                    </m:sup>
                                  </m:sSubSup>
                                  <m:r>
                                    <a:rPr kumimoji="0" lang="en-US" altLang="ko-KR" sz="1200" b="0" i="1">
                                      <a:latin typeface="Cambria Math" panose="02040503050406030204" pitchFamily="18" charset="0"/>
                                    </a:rPr>
                                    <m:t>,</m:t>
                                  </m:r>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smtClean="0">
                                              <a:latin typeface="Cambria Math" panose="02040503050406030204" pitchFamily="18" charset="0"/>
                                            </a:rPr>
                                            <m:t>2</m:t>
                                          </m:r>
                                        </m:e>
                                      </m:d>
                                    </m:sup>
                                  </m:sSubSup>
                                  <m:r>
                                    <a:rPr kumimoji="0" lang="en-US" altLang="ko-KR" sz="1200" b="0" i="1">
                                      <a:latin typeface="Cambria Math" panose="02040503050406030204" pitchFamily="18" charset="0"/>
                                    </a:rPr>
                                    <m:t>,</m:t>
                                  </m:r>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smtClean="0">
                                              <a:latin typeface="Cambria Math" panose="02040503050406030204" pitchFamily="18" charset="0"/>
                                            </a:rPr>
                                            <m:t>3</m:t>
                                          </m:r>
                                        </m:e>
                                      </m:d>
                                    </m:sup>
                                  </m:sSubSup>
                                </m:e>
                              </m:d>
                              <m:r>
                                <a:rPr kumimoji="0" lang="en-US" altLang="ko-KR" sz="1200" b="0" i="1">
                                  <a:latin typeface="Cambria Math" panose="02040503050406030204" pitchFamily="18" charset="0"/>
                                </a:rPr>
                                <m:t>,</m:t>
                              </m:r>
                              <m:sSub>
                                <m:sSubPr>
                                  <m:ctrlPr>
                                    <a:rPr kumimoji="0" lang="en-US" altLang="ko-KR" sz="1200" b="0" i="1">
                                      <a:latin typeface="Cambria Math" panose="02040503050406030204" pitchFamily="18" charset="0"/>
                                    </a:rPr>
                                  </m:ctrlPr>
                                </m:sSubPr>
                                <m:e>
                                  <m:r>
                                    <a:rPr kumimoji="0" lang="en-US" altLang="ko-KR" sz="1200" b="0" i="1">
                                      <a:latin typeface="Cambria Math" panose="02040503050406030204" pitchFamily="18" charset="0"/>
                                    </a:rPr>
                                    <m:t>𝑎</m:t>
                                  </m:r>
                                </m:e>
                                <m:sub>
                                  <m:r>
                                    <a:rPr kumimoji="0" lang="en-US" altLang="ko-KR" sz="1200" b="0" i="1">
                                      <a:latin typeface="Cambria Math" panose="02040503050406030204" pitchFamily="18" charset="0"/>
                                    </a:rPr>
                                    <m:t>𝑡</m:t>
                                  </m:r>
                                </m:sub>
                              </m:sSub>
                              <m:r>
                                <a:rPr kumimoji="0" lang="en-US" altLang="ko-KR" sz="1200" b="0" i="1">
                                  <a:latin typeface="Cambria Math" panose="02040503050406030204" pitchFamily="18" charset="0"/>
                                </a:rPr>
                                <m:t>,</m:t>
                              </m:r>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𝑟</m:t>
                                  </m:r>
                                </m:e>
                                <m:sub>
                                  <m:r>
                                    <a:rPr kumimoji="0" lang="en-US" altLang="ko-KR" sz="1200" b="0" i="1" smtClean="0">
                                      <a:latin typeface="Cambria Math" panose="02040503050406030204" pitchFamily="18" charset="0"/>
                                    </a:rPr>
                                    <m:t>𝑡</m:t>
                                  </m:r>
                                </m:sub>
                              </m:sSub>
                            </m:e>
                          </m:d>
                          <m:r>
                            <a:rPr kumimoji="0" lang="en-US" altLang="ko-KR" sz="1200" b="0" i="1" smtClean="0">
                              <a:latin typeface="Cambria Math" panose="02040503050406030204" pitchFamily="18" charset="0"/>
                            </a:rPr>
                            <m:t>:1≤</m:t>
                          </m:r>
                          <m:r>
                            <a:rPr kumimoji="0" lang="en-US" altLang="ko-KR" sz="1200" b="0" i="1" smtClean="0">
                              <a:latin typeface="Cambria Math" panose="02040503050406030204" pitchFamily="18" charset="0"/>
                            </a:rPr>
                            <m:t>𝑡</m:t>
                          </m:r>
                          <m:r>
                            <a:rPr kumimoji="0" lang="en-US" altLang="ko-KR" sz="1200" b="0" i="1" smtClean="0">
                              <a:latin typeface="Cambria Math" panose="02040503050406030204" pitchFamily="18" charset="0"/>
                            </a:rPr>
                            <m:t>≤</m:t>
                          </m:r>
                          <m:r>
                            <a:rPr kumimoji="0" lang="en-US" altLang="ko-KR" sz="1200" b="0" i="1" smtClean="0">
                              <a:latin typeface="Cambria Math" panose="02040503050406030204" pitchFamily="18" charset="0"/>
                            </a:rPr>
                            <m:t>𝑁</m:t>
                          </m:r>
                        </m:e>
                      </m:d>
                    </m:oMath>
                  </m:oMathPara>
                </a14:m>
                <a:endParaRPr kumimoji="0" lang="en-US" altLang="ko-KR" sz="1200" b="0" dirty="0"/>
              </a:p>
              <a:p>
                <a:r>
                  <a:rPr kumimoji="0" lang="ko-KR" altLang="en-US" sz="1200" b="0" dirty="0"/>
                  <a:t>이다</a:t>
                </a:r>
                <a:r>
                  <a:rPr kumimoji="0" lang="en-US" altLang="ko-KR" sz="1200" b="0" dirty="0"/>
                  <a:t>. (</a:t>
                </a:r>
                <a:r>
                  <a:rPr kumimoji="0" lang="ko-KR" altLang="en-US" sz="1200" b="0" dirty="0"/>
                  <a:t>단 </a:t>
                </a:r>
                <a14:m>
                  <m:oMath xmlns:m="http://schemas.openxmlformats.org/officeDocument/2006/math">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smtClean="0">
                                <a:latin typeface="Cambria Math" panose="02040503050406030204" pitchFamily="18" charset="0"/>
                              </a:rPr>
                              <m:t>𝑗</m:t>
                            </m:r>
                          </m:e>
                        </m:d>
                      </m:sup>
                    </m:sSubSup>
                  </m:oMath>
                </a14:m>
                <a:r>
                  <a:rPr kumimoji="0" lang="ko-KR" altLang="en-US" sz="1200" b="0" dirty="0"/>
                  <a:t>는</a:t>
                </a:r>
                <a:r>
                  <a:rPr kumimoji="0" lang="en-US" altLang="ko-KR" sz="1200" b="0" dirty="0"/>
                  <a:t> </a:t>
                </a:r>
                <a14:m>
                  <m:oMath xmlns:m="http://schemas.openxmlformats.org/officeDocument/2006/math">
                    <m:r>
                      <a:rPr kumimoji="0" lang="en-US" altLang="ko-KR" sz="1200" b="0" i="1" smtClean="0">
                        <a:latin typeface="Cambria Math" panose="02040503050406030204" pitchFamily="18" charset="0"/>
                      </a:rPr>
                      <m:t>𝑗</m:t>
                    </m:r>
                  </m:oMath>
                </a14:m>
                <a:r>
                  <a:rPr kumimoji="0" lang="ko-KR" altLang="en-US" sz="1200" b="0" dirty="0"/>
                  <a:t>번째 </a:t>
                </a:r>
                <a:r>
                  <a:rPr kumimoji="0" lang="en-US" altLang="ko-KR" sz="1200" b="0" dirty="0"/>
                  <a:t>state) </a:t>
                </a:r>
                <a:r>
                  <a:rPr kumimoji="0" lang="ko-KR" altLang="en-US" sz="1200" b="0" dirty="0"/>
                  <a:t>여기에 </a:t>
                </a:r>
                <a:r>
                  <a:rPr kumimoji="0" lang="en-US" altLang="ko-KR" sz="1200" b="0" dirty="0"/>
                  <a:t>state</a:t>
                </a:r>
                <a:r>
                  <a:rPr kumimoji="0" lang="ko-KR" altLang="en-US" sz="1200" b="0" dirty="0"/>
                  <a:t>들의 </a:t>
                </a:r>
                <a:r>
                  <a:rPr kumimoji="0" lang="en-US" altLang="ko-KR" sz="1200" b="0" dirty="0"/>
                  <a:t>difference</a:t>
                </a:r>
                <a:r>
                  <a:rPr kumimoji="0" lang="ko-KR" altLang="en-US" sz="1200" b="0" dirty="0"/>
                  <a:t>로서 </a:t>
                </a:r>
                <a14:m>
                  <m:oMath xmlns:m="http://schemas.openxmlformats.org/officeDocument/2006/math">
                    <m:sSubSup>
                      <m:sSubSupPr>
                        <m:ctrlPr>
                          <a:rPr kumimoji="0" lang="en-US" altLang="ko-KR" sz="1200" b="0" i="1">
                            <a:latin typeface="Cambria Math" panose="02040503050406030204" pitchFamily="18" charset="0"/>
                          </a:rPr>
                        </m:ctrlPr>
                      </m:sSubSupPr>
                      <m:e>
                        <m:r>
                          <m:rPr>
                            <m:sty m:val="p"/>
                          </m:rPr>
                          <a:rPr kumimoji="0" lang="en-US" altLang="ko-KR" sz="1200" b="0" smtClean="0">
                            <a:latin typeface="Cambria Math" panose="02040503050406030204" pitchFamily="18" charset="0"/>
                          </a:rPr>
                          <m:t>Δ</m:t>
                        </m:r>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𝑗</m:t>
                            </m:r>
                          </m:e>
                        </m:d>
                      </m:sup>
                    </m:sSubSup>
                    <m:r>
                      <a:rPr kumimoji="0" lang="en-US" altLang="ko-KR" sz="1200" b="0" i="1" smtClean="0">
                        <a:latin typeface="Cambria Math" panose="02040503050406030204" pitchFamily="18" charset="0"/>
                      </a:rPr>
                      <m:t>=</m:t>
                    </m:r>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𝑗</m:t>
                            </m:r>
                          </m:e>
                        </m:d>
                      </m:sup>
                    </m:sSubSup>
                  </m:oMath>
                </a14:m>
                <a:r>
                  <a:rPr kumimoji="0" lang="en-US" altLang="ko-KR" sz="1200" b="0" dirty="0"/>
                  <a:t>- </a:t>
                </a:r>
                <a14:m>
                  <m:oMath xmlns:m="http://schemas.openxmlformats.org/officeDocument/2006/math">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r>
                          <a:rPr kumimoji="0" lang="en-US" altLang="ko-KR" sz="1200" b="0" i="1" smtClean="0">
                            <a:latin typeface="Cambria Math" panose="02040503050406030204" pitchFamily="18" charset="0"/>
                          </a:rPr>
                          <m:t>−1</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𝑗</m:t>
                            </m:r>
                          </m:e>
                        </m:d>
                      </m:sup>
                    </m:sSubSup>
                  </m:oMath>
                </a14:m>
                <a:r>
                  <a:rPr kumimoji="0" lang="ko-KR" altLang="en-US" sz="1200" b="0" dirty="0"/>
                  <a:t>을 계산해내어 이용할 수 있고</a:t>
                </a:r>
                <a:r>
                  <a:rPr kumimoji="0" lang="en-US" altLang="ko-KR" sz="1200" b="0" dirty="0"/>
                  <a:t>, reward </a:t>
                </a:r>
                <a:r>
                  <a:rPr kumimoji="0" lang="ko-KR" altLang="en-US" sz="1200" b="0" dirty="0"/>
                  <a:t>대신에 향후 </a:t>
                </a:r>
                <a:r>
                  <a:rPr kumimoji="0" lang="en-US" altLang="ko-KR" sz="1200" b="0" dirty="0"/>
                  <a:t>M</a:t>
                </a:r>
                <a:r>
                  <a:rPr kumimoji="0" lang="ko-KR" altLang="en-US" sz="1200" b="0" dirty="0"/>
                  <a:t>번까지의 </a:t>
                </a:r>
                <a:r>
                  <a:rPr kumimoji="0" lang="en-US" altLang="ko-KR" sz="1200" b="0" dirty="0"/>
                  <a:t>discounted sum</a:t>
                </a:r>
                <a:r>
                  <a:rPr kumimoji="0" lang="ko-KR" altLang="en-US" sz="1200" b="0" dirty="0"/>
                  <a:t>을 생각할 수 있다</a:t>
                </a:r>
                <a:r>
                  <a:rPr kumimoji="0" lang="en-US" altLang="ko-KR" sz="1200" b="0" dirty="0"/>
                  <a:t>. </a:t>
                </a:r>
                <a:r>
                  <a:rPr kumimoji="0" lang="ko-KR" altLang="en-US" sz="1200" b="0" dirty="0"/>
                  <a:t>즉</a:t>
                </a:r>
                <a:r>
                  <a:rPr kumimoji="0" lang="en-US" altLang="ko-KR" sz="1200" b="0" dirty="0"/>
                  <a:t>,</a:t>
                </a:r>
                <a:r>
                  <a:rPr kumimoji="0" lang="ko-KR" altLang="en-US" sz="1200" b="0" dirty="0"/>
                  <a:t> 집합 </a:t>
                </a:r>
                <a:endParaRPr kumimoji="0" lang="en-US" altLang="ko-KR" sz="1200" b="0" dirty="0"/>
              </a:p>
              <a:p>
                <a:pPr/>
                <a14:m>
                  <m:oMathPara xmlns:m="http://schemas.openxmlformats.org/officeDocument/2006/math">
                    <m:oMathParaPr>
                      <m:jc m:val="centerGroup"/>
                    </m:oMathParaPr>
                    <m:oMath xmlns:m="http://schemas.openxmlformats.org/officeDocument/2006/math">
                      <m:r>
                        <a:rPr kumimoji="0" lang="en-US" altLang="ko-KR" sz="1200" b="0" i="1">
                          <a:latin typeface="Cambria Math" panose="02040503050406030204" pitchFamily="18" charset="0"/>
                        </a:rPr>
                        <m:t>𝑇</m:t>
                      </m:r>
                      <m:r>
                        <a:rPr kumimoji="0" lang="en-US" altLang="ko-KR" sz="1200" b="0" i="1" smtClean="0">
                          <a:latin typeface="Cambria Math" panose="02040503050406030204" pitchFamily="18" charset="0"/>
                        </a:rPr>
                        <m:t>′</m:t>
                      </m:r>
                      <m:r>
                        <a:rPr kumimoji="0" lang="en-US" altLang="ko-KR" sz="1200" b="0" i="1">
                          <a:latin typeface="Cambria Math" panose="02040503050406030204" pitchFamily="18" charset="0"/>
                        </a:rPr>
                        <m:t>=</m:t>
                      </m:r>
                      <m:d>
                        <m:dPr>
                          <m:begChr m:val="{"/>
                          <m:endChr m:val="}"/>
                          <m:ctrlPr>
                            <a:rPr kumimoji="0" lang="en-US" altLang="ko-KR" sz="1200" b="0" i="1">
                              <a:latin typeface="Cambria Math" panose="02040503050406030204" pitchFamily="18" charset="0"/>
                            </a:rPr>
                          </m:ctrlPr>
                        </m:dPr>
                        <m:e>
                          <m:d>
                            <m:dPr>
                              <m:ctrlPr>
                                <a:rPr kumimoji="0" lang="en-US" altLang="ko-KR" sz="1200" b="0" i="1">
                                  <a:latin typeface="Cambria Math" panose="02040503050406030204" pitchFamily="18" charset="0"/>
                                </a:rPr>
                              </m:ctrlPr>
                            </m:dPr>
                            <m:e>
                              <m:d>
                                <m:dPr>
                                  <m:ctrlPr>
                                    <a:rPr kumimoji="0" lang="en-US" altLang="ko-KR" sz="1200" b="0" i="1">
                                      <a:latin typeface="Cambria Math" panose="02040503050406030204" pitchFamily="18" charset="0"/>
                                    </a:rPr>
                                  </m:ctrlPr>
                                </m:dPr>
                                <m:e>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1</m:t>
                                          </m:r>
                                        </m:e>
                                      </m:d>
                                    </m:sup>
                                  </m:sSubSup>
                                  <m:r>
                                    <a:rPr kumimoji="0" lang="en-US" altLang="ko-KR" sz="1200" b="0" i="1">
                                      <a:latin typeface="Cambria Math" panose="02040503050406030204" pitchFamily="18" charset="0"/>
                                    </a:rPr>
                                    <m:t>,</m:t>
                                  </m:r>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2</m:t>
                                          </m:r>
                                        </m:e>
                                      </m:d>
                                    </m:sup>
                                  </m:sSubSup>
                                  <m:r>
                                    <a:rPr kumimoji="0" lang="en-US" altLang="ko-KR" sz="1200" b="0" i="1">
                                      <a:latin typeface="Cambria Math" panose="02040503050406030204" pitchFamily="18" charset="0"/>
                                    </a:rPr>
                                    <m:t>,</m:t>
                                  </m:r>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3</m:t>
                                          </m:r>
                                        </m:e>
                                      </m:d>
                                    </m:sup>
                                  </m:sSubSup>
                                  <m:r>
                                    <a:rPr kumimoji="0" lang="en-US" altLang="ko-KR" sz="1200" b="0" i="1" smtClean="0">
                                      <a:latin typeface="Cambria Math" panose="02040503050406030204" pitchFamily="18" charset="0"/>
                                    </a:rPr>
                                    <m:t>,</m:t>
                                  </m:r>
                                  <m:sSubSup>
                                    <m:sSubSupPr>
                                      <m:ctrlPr>
                                        <a:rPr kumimoji="0" lang="en-US" altLang="ko-KR" sz="1200" b="0" i="1">
                                          <a:latin typeface="Cambria Math" panose="02040503050406030204" pitchFamily="18" charset="0"/>
                                        </a:rPr>
                                      </m:ctrlPr>
                                    </m:sSubSupPr>
                                    <m:e>
                                      <m:r>
                                        <m:rPr>
                                          <m:sty m:val="p"/>
                                        </m:rPr>
                                        <a:rPr kumimoji="0" lang="en-US" altLang="ko-KR" sz="1200" b="0" smtClean="0">
                                          <a:latin typeface="Cambria Math" panose="02040503050406030204" pitchFamily="18" charset="0"/>
                                        </a:rPr>
                                        <m:t>Δ</m:t>
                                      </m:r>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1</m:t>
                                          </m:r>
                                        </m:e>
                                      </m:d>
                                    </m:sup>
                                  </m:sSubSup>
                                  <m:r>
                                    <a:rPr kumimoji="0" lang="en-US" altLang="ko-KR" sz="1200" b="0" i="1">
                                      <a:latin typeface="Cambria Math" panose="02040503050406030204" pitchFamily="18" charset="0"/>
                                    </a:rPr>
                                    <m:t>,</m:t>
                                  </m:r>
                                  <m:r>
                                    <m:rPr>
                                      <m:sty m:val="p"/>
                                    </m:rPr>
                                    <a:rPr kumimoji="0" lang="en-US" altLang="ko-KR" sz="1200" b="0">
                                      <a:latin typeface="Cambria Math" panose="02040503050406030204" pitchFamily="18" charset="0"/>
                                    </a:rPr>
                                    <m:t>Δ</m:t>
                                  </m:r>
                                  <m:sSubSup>
                                    <m:sSubSupPr>
                                      <m:ctrlPr>
                                        <a:rPr kumimoji="0" lang="en-US" altLang="ko-KR" sz="1200" b="0" i="1">
                                          <a:latin typeface="Cambria Math" panose="02040503050406030204" pitchFamily="18" charset="0"/>
                                        </a:rPr>
                                      </m:ctrlPr>
                                    </m:sSubSup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2</m:t>
                                          </m:r>
                                        </m:e>
                                      </m:d>
                                    </m:sup>
                                  </m:sSubSup>
                                  <m:r>
                                    <a:rPr kumimoji="0" lang="en-US" altLang="ko-KR" sz="1200" b="0" i="1">
                                      <a:latin typeface="Cambria Math" panose="02040503050406030204" pitchFamily="18" charset="0"/>
                                    </a:rPr>
                                    <m:t>,</m:t>
                                  </m:r>
                                  <m:sSubSup>
                                    <m:sSubSupPr>
                                      <m:ctrlPr>
                                        <a:rPr kumimoji="0" lang="en-US" altLang="ko-KR" sz="1200" b="0" i="1">
                                          <a:latin typeface="Cambria Math" panose="02040503050406030204" pitchFamily="18" charset="0"/>
                                        </a:rPr>
                                      </m:ctrlPr>
                                    </m:sSubSupPr>
                                    <m:e>
                                      <m:r>
                                        <m:rPr>
                                          <m:sty m:val="p"/>
                                        </m:rPr>
                                        <a:rPr kumimoji="0" lang="en-US" altLang="ko-KR" sz="1200" b="0">
                                          <a:latin typeface="Cambria Math" panose="02040503050406030204" pitchFamily="18" charset="0"/>
                                        </a:rPr>
                                        <m:t>Δ</m:t>
                                      </m:r>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up>
                                      <m:d>
                                        <m:dPr>
                                          <m:ctrlPr>
                                            <a:rPr kumimoji="0" lang="en-US" altLang="ko-KR" sz="1200" b="0" i="1">
                                              <a:latin typeface="Cambria Math" panose="02040503050406030204" pitchFamily="18" charset="0"/>
                                            </a:rPr>
                                          </m:ctrlPr>
                                        </m:dPr>
                                        <m:e>
                                          <m:r>
                                            <a:rPr kumimoji="0" lang="en-US" altLang="ko-KR" sz="1200" b="0" i="1">
                                              <a:latin typeface="Cambria Math" panose="02040503050406030204" pitchFamily="18" charset="0"/>
                                            </a:rPr>
                                            <m:t>3</m:t>
                                          </m:r>
                                        </m:e>
                                      </m:d>
                                    </m:sup>
                                  </m:sSubSup>
                                </m:e>
                              </m:d>
                              <m:r>
                                <a:rPr kumimoji="0" lang="en-US" altLang="ko-KR" sz="1200" b="0" i="1">
                                  <a:latin typeface="Cambria Math" panose="02040503050406030204" pitchFamily="18" charset="0"/>
                                </a:rPr>
                                <m:t>,</m:t>
                              </m:r>
                              <m:sSub>
                                <m:sSubPr>
                                  <m:ctrlPr>
                                    <a:rPr kumimoji="0" lang="en-US" altLang="ko-KR" sz="1200" b="0" i="1">
                                      <a:latin typeface="Cambria Math" panose="02040503050406030204" pitchFamily="18" charset="0"/>
                                    </a:rPr>
                                  </m:ctrlPr>
                                </m:sSubPr>
                                <m:e>
                                  <m:r>
                                    <a:rPr kumimoji="0" lang="en-US" altLang="ko-KR" sz="1200" b="0" i="1">
                                      <a:latin typeface="Cambria Math" panose="02040503050406030204" pitchFamily="18" charset="0"/>
                                    </a:rPr>
                                    <m:t>𝑎</m:t>
                                  </m:r>
                                </m:e>
                                <m:sub>
                                  <m:r>
                                    <a:rPr kumimoji="0" lang="en-US" altLang="ko-KR" sz="1200" b="0" i="1">
                                      <a:latin typeface="Cambria Math" panose="02040503050406030204" pitchFamily="18" charset="0"/>
                                    </a:rPr>
                                    <m:t>𝑡</m:t>
                                  </m:r>
                                </m:sub>
                              </m:sSub>
                              <m:r>
                                <a:rPr kumimoji="0" lang="en-US" altLang="ko-KR" sz="1200" b="0" i="1">
                                  <a:latin typeface="Cambria Math" panose="02040503050406030204" pitchFamily="18" charset="0"/>
                                </a:rPr>
                                <m:t>,</m:t>
                              </m:r>
                              <m:sSub>
                                <m:sSubPr>
                                  <m:ctrlPr>
                                    <a:rPr kumimoji="0" lang="en-US" altLang="ko-KR" sz="1200" b="0" i="1">
                                      <a:latin typeface="Cambria Math" panose="02040503050406030204" pitchFamily="18" charset="0"/>
                                    </a:rPr>
                                  </m:ctrlPr>
                                </m:sSubPr>
                                <m:e>
                                  <m:nary>
                                    <m:naryPr>
                                      <m:chr m:val="∑"/>
                                      <m:ctrlPr>
                                        <a:rPr kumimoji="0" lang="en-US" altLang="ko-KR" sz="1200" b="0" i="1">
                                          <a:latin typeface="Cambria Math" panose="02040503050406030204" pitchFamily="18" charset="0"/>
                                        </a:rPr>
                                      </m:ctrlPr>
                                    </m:naryPr>
                                    <m:sub>
                                      <m:r>
                                        <m:rPr>
                                          <m:brk m:alnAt="23"/>
                                        </m:rPr>
                                        <a:rPr kumimoji="0" lang="en-US" altLang="ko-KR" sz="1200" b="0" i="1">
                                          <a:latin typeface="Cambria Math" panose="02040503050406030204" pitchFamily="18" charset="0"/>
                                        </a:rPr>
                                        <m:t>𝑖</m:t>
                                      </m:r>
                                      <m:r>
                                        <a:rPr kumimoji="0" lang="en-US" altLang="ko-KR" sz="1200" b="0" i="1">
                                          <a:latin typeface="Cambria Math" panose="02040503050406030204" pitchFamily="18" charset="0"/>
                                        </a:rPr>
                                        <m:t>=0</m:t>
                                      </m:r>
                                    </m:sub>
                                    <m:sup>
                                      <m:r>
                                        <a:rPr kumimoji="0" lang="en-US" altLang="ko-KR" sz="1200" b="0" i="1">
                                          <a:latin typeface="Cambria Math" panose="02040503050406030204" pitchFamily="18" charset="0"/>
                                        </a:rPr>
                                        <m:t>𝑀</m:t>
                                      </m:r>
                                    </m:sup>
                                    <m:e>
                                      <m:sSup>
                                        <m:sSupPr>
                                          <m:ctrlPr>
                                            <a:rPr kumimoji="0" lang="en-US" altLang="ko-KR" sz="1200" b="0" i="1" smtClean="0">
                                              <a:latin typeface="Cambria Math" panose="02040503050406030204" pitchFamily="18" charset="0"/>
                                            </a:rPr>
                                          </m:ctrlPr>
                                        </m:sSupPr>
                                        <m:e>
                                          <m:r>
                                            <a:rPr kumimoji="0" lang="en-US" altLang="ko-KR" sz="1200" b="0" i="1" smtClean="0">
                                              <a:latin typeface="Cambria Math" panose="02040503050406030204" pitchFamily="18" charset="0"/>
                                            </a:rPr>
                                            <m:t>𝛾</m:t>
                                          </m:r>
                                        </m:e>
                                        <m:sup>
                                          <m:r>
                                            <a:rPr kumimoji="0" lang="en-US" altLang="ko-KR" sz="1200" b="0" i="1" smtClean="0">
                                              <a:latin typeface="Cambria Math" panose="02040503050406030204" pitchFamily="18" charset="0"/>
                                            </a:rPr>
                                            <m:t>𝑖</m:t>
                                          </m:r>
                                        </m:sup>
                                      </m:sSup>
                                      <m:r>
                                        <a:rPr kumimoji="0" lang="en-US" altLang="ko-KR" sz="1200" b="0" i="1" smtClean="0">
                                          <a:latin typeface="Cambria Math" panose="02040503050406030204" pitchFamily="18" charset="0"/>
                                        </a:rPr>
                                        <m:t>𝑟</m:t>
                                      </m:r>
                                    </m:e>
                                  </m:nary>
                                </m:e>
                                <m:sub>
                                  <m:r>
                                    <a:rPr kumimoji="0" lang="en-US" altLang="ko-KR" sz="1200" b="0" i="1">
                                      <a:latin typeface="Cambria Math" panose="02040503050406030204" pitchFamily="18" charset="0"/>
                                    </a:rPr>
                                    <m:t>𝑡</m:t>
                                  </m:r>
                                </m:sub>
                              </m:sSub>
                            </m:e>
                          </m:d>
                          <m:r>
                            <a:rPr kumimoji="0" lang="en-US" altLang="ko-KR" sz="1200" b="0" i="1">
                              <a:latin typeface="Cambria Math" panose="02040503050406030204" pitchFamily="18" charset="0"/>
                            </a:rPr>
                            <m:t>:1≤</m:t>
                          </m:r>
                          <m:r>
                            <a:rPr kumimoji="0" lang="en-US" altLang="ko-KR" sz="1200" b="0" i="1">
                              <a:latin typeface="Cambria Math" panose="02040503050406030204" pitchFamily="18" charset="0"/>
                            </a:rPr>
                            <m:t>𝑡</m:t>
                          </m:r>
                          <m:r>
                            <a:rPr kumimoji="0" lang="en-US" altLang="ko-KR" sz="1200" b="0" i="1">
                              <a:latin typeface="Cambria Math" panose="02040503050406030204" pitchFamily="18" charset="0"/>
                            </a:rPr>
                            <m:t>≤</m:t>
                          </m:r>
                          <m:r>
                            <a:rPr kumimoji="0" lang="en-US" altLang="ko-KR" sz="1200" b="0" i="1">
                              <a:latin typeface="Cambria Math" panose="02040503050406030204" pitchFamily="18" charset="0"/>
                            </a:rPr>
                            <m:t>𝑁</m:t>
                          </m:r>
                        </m:e>
                      </m:d>
                    </m:oMath>
                  </m:oMathPara>
                </a14:m>
                <a:endParaRPr kumimoji="0" lang="en-US" altLang="ko-KR" sz="1200" b="0" dirty="0"/>
              </a:p>
              <a:p>
                <a:r>
                  <a:rPr kumimoji="0" lang="ko-KR" altLang="en-US" sz="1200" b="0" dirty="0"/>
                  <a:t>을 생각할 수 있다</a:t>
                </a:r>
                <a:r>
                  <a:rPr kumimoji="0" lang="en-US" altLang="ko-KR" sz="1200" b="0" dirty="0"/>
                  <a:t>. </a:t>
                </a:r>
                <a:r>
                  <a:rPr kumimoji="0" lang="ko-KR" altLang="en-US" sz="1200" b="0" dirty="0"/>
                  <a:t>이것을 축약하여</a:t>
                </a:r>
                <a:endParaRPr kumimoji="0" lang="en-US" altLang="ko-KR" sz="1200" b="0" dirty="0"/>
              </a:p>
              <a:p>
                <a:pPr/>
                <a14:m>
                  <m:oMathPara xmlns:m="http://schemas.openxmlformats.org/officeDocument/2006/math">
                    <m:oMathParaPr>
                      <m:jc m:val="centerGroup"/>
                    </m:oMathParaPr>
                    <m:oMath xmlns:m="http://schemas.openxmlformats.org/officeDocument/2006/math">
                      <m:r>
                        <a:rPr kumimoji="0" lang="en-US" altLang="ko-KR" sz="1200" b="0" i="1">
                          <a:latin typeface="Cambria Math" panose="02040503050406030204" pitchFamily="18" charset="0"/>
                        </a:rPr>
                        <m:t>𝑇</m:t>
                      </m:r>
                      <m:r>
                        <a:rPr kumimoji="0" lang="en-US" altLang="ko-KR" sz="1200" b="0" i="1">
                          <a:latin typeface="Cambria Math" panose="02040503050406030204" pitchFamily="18" charset="0"/>
                        </a:rPr>
                        <m:t>′=</m:t>
                      </m:r>
                      <m:d>
                        <m:dPr>
                          <m:begChr m:val="{"/>
                          <m:endChr m:val="}"/>
                          <m:ctrlPr>
                            <a:rPr kumimoji="0" lang="en-US" altLang="ko-KR" sz="1200" b="0" i="1">
                              <a:latin typeface="Cambria Math" panose="02040503050406030204" pitchFamily="18" charset="0"/>
                            </a:rPr>
                          </m:ctrlPr>
                        </m:dPr>
                        <m:e>
                          <m:d>
                            <m:dPr>
                              <m:ctrlPr>
                                <a:rPr kumimoji="0" lang="en-US" altLang="ko-KR" sz="1200" b="0" i="1" smtClean="0">
                                  <a:latin typeface="Cambria Math" panose="02040503050406030204" pitchFamily="18" charset="0"/>
                                </a:rPr>
                              </m:ctrlPr>
                            </m:dPr>
                            <m:e>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𝑠</m:t>
                                  </m:r>
                                </m:e>
                                <m:sub>
                                  <m:r>
                                    <a:rPr kumimoji="0" lang="en-US" altLang="ko-KR" sz="1200" b="0" i="1" smtClean="0">
                                      <a:latin typeface="Cambria Math" panose="02040503050406030204" pitchFamily="18" charset="0"/>
                                    </a:rPr>
                                    <m:t>𝑡</m:t>
                                  </m:r>
                                </m:sub>
                              </m:sSub>
                              <m:r>
                                <a:rPr kumimoji="0" lang="en-US" altLang="ko-KR" sz="1200" b="0" i="1">
                                  <a:latin typeface="Cambria Math" panose="02040503050406030204" pitchFamily="18" charset="0"/>
                                </a:rPr>
                                <m:t>,</m:t>
                              </m:r>
                              <m:sSub>
                                <m:sSubPr>
                                  <m:ctrlPr>
                                    <a:rPr kumimoji="0" lang="en-US" altLang="ko-KR" sz="1200" b="0" i="1">
                                      <a:latin typeface="Cambria Math" panose="02040503050406030204" pitchFamily="18" charset="0"/>
                                    </a:rPr>
                                  </m:ctrlPr>
                                </m:sSubPr>
                                <m:e>
                                  <m:r>
                                    <a:rPr kumimoji="0" lang="en-US" altLang="ko-KR" sz="1200" b="0" i="1">
                                      <a:latin typeface="Cambria Math" panose="02040503050406030204" pitchFamily="18" charset="0"/>
                                    </a:rPr>
                                    <m:t>𝑎</m:t>
                                  </m:r>
                                </m:e>
                                <m:sub>
                                  <m:r>
                                    <a:rPr kumimoji="0" lang="en-US" altLang="ko-KR" sz="1200" b="0" i="1">
                                      <a:latin typeface="Cambria Math" panose="02040503050406030204" pitchFamily="18" charset="0"/>
                                    </a:rPr>
                                    <m:t>𝑡</m:t>
                                  </m:r>
                                </m:sub>
                              </m:sSub>
                              <m:r>
                                <a:rPr kumimoji="0" lang="en-US" altLang="ko-KR" sz="1200" b="0" i="1">
                                  <a:latin typeface="Cambria Math" panose="02040503050406030204" pitchFamily="18" charset="0"/>
                                </a:rPr>
                                <m:t>,</m:t>
                              </m:r>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𝐺</m:t>
                                  </m:r>
                                </m:e>
                                <m:sub>
                                  <m:r>
                                    <a:rPr kumimoji="0" lang="en-US" altLang="ko-KR" sz="1200" b="0" i="1" smtClean="0">
                                      <a:latin typeface="Cambria Math" panose="02040503050406030204" pitchFamily="18" charset="0"/>
                                    </a:rPr>
                                    <m:t>𝑡</m:t>
                                  </m:r>
                                </m:sub>
                              </m:sSub>
                            </m:e>
                          </m:d>
                          <m:r>
                            <a:rPr kumimoji="0" lang="en-US" altLang="ko-KR" sz="1200" b="0" i="1">
                              <a:latin typeface="Cambria Math" panose="02040503050406030204" pitchFamily="18" charset="0"/>
                            </a:rPr>
                            <m:t>:1≤</m:t>
                          </m:r>
                          <m:r>
                            <a:rPr kumimoji="0" lang="en-US" altLang="ko-KR" sz="1200" b="0" i="1">
                              <a:latin typeface="Cambria Math" panose="02040503050406030204" pitchFamily="18" charset="0"/>
                            </a:rPr>
                            <m:t>𝑡</m:t>
                          </m:r>
                          <m:r>
                            <a:rPr kumimoji="0" lang="en-US" altLang="ko-KR" sz="1200" b="0" i="1">
                              <a:latin typeface="Cambria Math" panose="02040503050406030204" pitchFamily="18" charset="0"/>
                            </a:rPr>
                            <m:t>≤</m:t>
                          </m:r>
                          <m:r>
                            <a:rPr kumimoji="0" lang="en-US" altLang="ko-KR" sz="1200" b="0" i="1">
                              <a:latin typeface="Cambria Math" panose="02040503050406030204" pitchFamily="18" charset="0"/>
                            </a:rPr>
                            <m:t>𝑁</m:t>
                          </m:r>
                        </m:e>
                      </m:d>
                    </m:oMath>
                  </m:oMathPara>
                </a14:m>
                <a:endParaRPr kumimoji="0" lang="en-US" altLang="ko-KR" sz="1200" b="0" dirty="0"/>
              </a:p>
              <a:p>
                <a:r>
                  <a:rPr kumimoji="0" lang="ko-KR" altLang="en-US" sz="1200" b="0" dirty="0"/>
                  <a:t>라고 쓰자</a:t>
                </a:r>
                <a:r>
                  <a:rPr kumimoji="0" lang="en-US" altLang="ko-KR" sz="1200" b="0" dirty="0"/>
                  <a:t>. (</a:t>
                </a:r>
                <a:r>
                  <a:rPr kumimoji="0" lang="ko-KR" altLang="en-US" sz="1200" b="0" dirty="0"/>
                  <a:t>즉</a:t>
                </a:r>
                <a:r>
                  <a:rPr kumimoji="0" lang="en-US" altLang="ko-KR" sz="1200" b="0" dirty="0"/>
                  <a:t> </a:t>
                </a:r>
                <a14:m>
                  <m:oMath xmlns:m="http://schemas.openxmlformats.org/officeDocument/2006/math">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𝑠</m:t>
                        </m:r>
                      </m:e>
                      <m:sub>
                        <m:r>
                          <a:rPr kumimoji="0" lang="en-US" altLang="ko-KR" sz="1200" b="0" i="1" smtClean="0">
                            <a:latin typeface="Cambria Math" panose="02040503050406030204" pitchFamily="18" charset="0"/>
                          </a:rPr>
                          <m:t>𝑡</m:t>
                        </m:r>
                      </m:sub>
                    </m:sSub>
                  </m:oMath>
                </a14:m>
                <a:r>
                  <a:rPr kumimoji="0" lang="ko-KR" altLang="en-US" sz="1200" b="0" dirty="0"/>
                  <a:t>는 </a:t>
                </a:r>
                <a:r>
                  <a:rPr kumimoji="0" lang="en-US" altLang="ko-KR" sz="1200" b="0" dirty="0"/>
                  <a:t>6</a:t>
                </a:r>
                <a:r>
                  <a:rPr kumimoji="0" lang="ko-KR" altLang="en-US" sz="1200" b="0" dirty="0"/>
                  <a:t>차원 벡터</a:t>
                </a:r>
                <a:r>
                  <a:rPr kumimoji="0" lang="en-US" altLang="ko-KR" sz="1200" b="0" dirty="0"/>
                  <a:t>)</a:t>
                </a:r>
                <a:r>
                  <a:rPr kumimoji="0" lang="ko-KR" altLang="en-US" sz="1200" b="0" dirty="0"/>
                  <a:t>이것은 서부발전의 </a:t>
                </a:r>
                <a:r>
                  <a:rPr kumimoji="0" lang="en-US" altLang="ko-KR" sz="1200" b="0" dirty="0"/>
                  <a:t>csv </a:t>
                </a:r>
                <a:r>
                  <a:rPr kumimoji="0" lang="ko-KR" altLang="en-US" sz="1200" b="0" dirty="0"/>
                  <a:t>파일에 기록된 현재 상태 </a:t>
                </a:r>
                <a14:m>
                  <m:oMath xmlns:m="http://schemas.openxmlformats.org/officeDocument/2006/math">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𝑠</m:t>
                        </m:r>
                      </m:e>
                      <m:sub>
                        <m:r>
                          <a:rPr kumimoji="0" lang="en-US" altLang="ko-KR" sz="1200" b="0" i="1" smtClean="0">
                            <a:latin typeface="Cambria Math" panose="02040503050406030204" pitchFamily="18" charset="0"/>
                          </a:rPr>
                          <m:t>𝑡</m:t>
                        </m:r>
                      </m:sub>
                    </m:sSub>
                  </m:oMath>
                </a14:m>
                <a:r>
                  <a:rPr kumimoji="0" lang="ko-KR" altLang="en-US" sz="1200" b="0" dirty="0"/>
                  <a:t>에서 행동 </a:t>
                </a:r>
                <a14:m>
                  <m:oMath xmlns:m="http://schemas.openxmlformats.org/officeDocument/2006/math">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𝑎</m:t>
                        </m:r>
                      </m:e>
                      <m:sub>
                        <m:r>
                          <a:rPr kumimoji="0" lang="en-US" altLang="ko-KR" sz="1200" b="0" i="1" smtClean="0">
                            <a:latin typeface="Cambria Math" panose="02040503050406030204" pitchFamily="18" charset="0"/>
                          </a:rPr>
                          <m:t>𝑡</m:t>
                        </m:r>
                      </m:sub>
                    </m:sSub>
                  </m:oMath>
                </a14:m>
                <a:r>
                  <a:rPr kumimoji="0" lang="ko-KR" altLang="en-US" sz="1200" b="0" dirty="0"/>
                  <a:t>을</a:t>
                </a:r>
                <a:r>
                  <a:rPr kumimoji="0" lang="en-US" altLang="ko-KR" sz="1200" b="0" dirty="0"/>
                  <a:t> </a:t>
                </a:r>
                <a:r>
                  <a:rPr kumimoji="0" lang="ko-KR" altLang="en-US" sz="1200" b="0" dirty="0"/>
                  <a:t>선택했을 때 향후 </a:t>
                </a:r>
                <a:r>
                  <a:rPr kumimoji="0" lang="en-US" altLang="ko-KR" sz="1200" b="0" dirty="0"/>
                  <a:t>M</a:t>
                </a:r>
                <a:r>
                  <a:rPr kumimoji="0" lang="ko-KR" altLang="en-US" sz="1200" b="0" dirty="0"/>
                  <a:t>번까지의 보상의 합이 </a:t>
                </a:r>
                <a14:m>
                  <m:oMath xmlns:m="http://schemas.openxmlformats.org/officeDocument/2006/math">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𝐺</m:t>
                        </m:r>
                      </m:e>
                      <m:sub>
                        <m:r>
                          <a:rPr kumimoji="0" lang="en-US" altLang="ko-KR" sz="1200" b="0" i="1" smtClean="0">
                            <a:latin typeface="Cambria Math" panose="02040503050406030204" pitchFamily="18" charset="0"/>
                          </a:rPr>
                          <m:t>𝑡</m:t>
                        </m:r>
                      </m:sub>
                    </m:sSub>
                    <m:r>
                      <a:rPr kumimoji="0" lang="ko-KR" altLang="en-US" sz="1200" b="0" i="1">
                        <a:latin typeface="Cambria Math" panose="02040503050406030204" pitchFamily="18" charset="0"/>
                      </a:rPr>
                      <m:t>라</m:t>
                    </m:r>
                  </m:oMath>
                </a14:m>
                <a:r>
                  <a:rPr kumimoji="0" lang="ko-KR" altLang="en-US" sz="1200" b="0" dirty="0"/>
                  <a:t>는 것이다</a:t>
                </a:r>
                <a:r>
                  <a:rPr kumimoji="0" lang="en-US" altLang="ko-KR" sz="1200" b="0" dirty="0"/>
                  <a:t>. </a:t>
                </a:r>
                <a:r>
                  <a:rPr kumimoji="0" lang="ko-KR" altLang="en-US" sz="1200" b="0" dirty="0"/>
                  <a:t>이중 </a:t>
                </a:r>
                <a14:m>
                  <m:oMath xmlns:m="http://schemas.openxmlformats.org/officeDocument/2006/math">
                    <m:sSub>
                      <m:sSubPr>
                        <m:ctrlPr>
                          <a:rPr kumimoji="0" lang="en-US" altLang="ko-KR" sz="1200" b="0" i="1" dirty="0" smtClean="0">
                            <a:latin typeface="Cambria Math" panose="02040503050406030204" pitchFamily="18" charset="0"/>
                          </a:rPr>
                        </m:ctrlPr>
                      </m:sSubPr>
                      <m:e>
                        <m:r>
                          <a:rPr kumimoji="0" lang="en-US" altLang="ko-KR" sz="1200" b="0" i="1" dirty="0" smtClean="0">
                            <a:latin typeface="Cambria Math" panose="02040503050406030204" pitchFamily="18" charset="0"/>
                          </a:rPr>
                          <m:t>𝐺</m:t>
                        </m:r>
                      </m:e>
                      <m:sub>
                        <m:r>
                          <a:rPr kumimoji="0" lang="en-US" altLang="ko-KR" sz="1200" b="0" i="1" dirty="0" smtClean="0">
                            <a:latin typeface="Cambria Math" panose="02040503050406030204" pitchFamily="18" charset="0"/>
                          </a:rPr>
                          <m:t>𝑡</m:t>
                        </m:r>
                      </m:sub>
                    </m:sSub>
                  </m:oMath>
                </a14:m>
                <a:r>
                  <a:rPr kumimoji="0" lang="ko-KR" altLang="en-US" sz="1200" b="0" dirty="0"/>
                  <a:t>가 일정정도 높은 경우만을 추리면</a:t>
                </a:r>
                <a:r>
                  <a:rPr kumimoji="0" lang="en-US" altLang="ko-KR" sz="1200" b="0" dirty="0"/>
                  <a:t>, </a:t>
                </a:r>
                <a:r>
                  <a:rPr kumimoji="0" lang="ko-KR" altLang="en-US" sz="1200" b="0" dirty="0"/>
                  <a:t>향후 </a:t>
                </a:r>
                <a:r>
                  <a:rPr kumimoji="0" lang="en-US" altLang="ko-KR" sz="1200" b="0" dirty="0"/>
                  <a:t>M</a:t>
                </a:r>
                <a:r>
                  <a:rPr kumimoji="0" lang="ko-KR" altLang="en-US" sz="1200" b="0" dirty="0"/>
                  <a:t>번까지의 보상이 높은 상태</a:t>
                </a:r>
                <a:r>
                  <a:rPr kumimoji="0" lang="en-US" altLang="ko-KR" sz="1200" b="0" dirty="0"/>
                  <a:t>-</a:t>
                </a:r>
                <a:r>
                  <a:rPr kumimoji="0" lang="ko-KR" altLang="en-US" sz="1200" b="0" dirty="0"/>
                  <a:t>행동의 순서쌍 조합을 얻는다</a:t>
                </a:r>
                <a:r>
                  <a:rPr kumimoji="0" lang="en-US" altLang="ko-KR" sz="1200" b="0" dirty="0"/>
                  <a:t>. </a:t>
                </a:r>
                <a:r>
                  <a:rPr kumimoji="0" lang="ko-KR" altLang="en-US" sz="1200" b="0" dirty="0"/>
                  <a:t>즉</a:t>
                </a:r>
                <a:r>
                  <a:rPr kumimoji="0" lang="en-US" altLang="ko-KR" sz="1200" b="0" dirty="0"/>
                  <a:t>,</a:t>
                </a:r>
                <a:r>
                  <a:rPr kumimoji="0" lang="ko-KR" altLang="en-US" sz="1200" b="0" dirty="0"/>
                  <a:t> 데이터 </a:t>
                </a:r>
                <a:endParaRPr kumimoji="0" lang="en-US" altLang="ko-KR" sz="1200" b="0" dirty="0"/>
              </a:p>
              <a:p>
                <a:pPr/>
                <a14:m>
                  <m:oMathPara xmlns:m="http://schemas.openxmlformats.org/officeDocument/2006/math">
                    <m:oMathParaPr>
                      <m:jc m:val="centerGroup"/>
                    </m:oMathParaPr>
                    <m:oMath xmlns:m="http://schemas.openxmlformats.org/officeDocument/2006/math">
                      <m:r>
                        <a:rPr kumimoji="0" lang="en-US" altLang="ko-KR" sz="1200" b="0" i="1">
                          <a:latin typeface="Cambria Math" panose="02040503050406030204" pitchFamily="18" charset="0"/>
                        </a:rPr>
                        <m:t>𝐷</m:t>
                      </m:r>
                      <m:r>
                        <a:rPr kumimoji="0" lang="en-US" altLang="ko-KR" sz="1200" b="0" i="1">
                          <a:latin typeface="Cambria Math" panose="02040503050406030204" pitchFamily="18" charset="0"/>
                        </a:rPr>
                        <m:t>=</m:t>
                      </m:r>
                      <m:d>
                        <m:dPr>
                          <m:begChr m:val="{"/>
                          <m:endChr m:val="}"/>
                          <m:ctrlPr>
                            <a:rPr kumimoji="0" lang="en-US" altLang="ko-KR" sz="1200" b="0" i="1">
                              <a:latin typeface="Cambria Math" panose="02040503050406030204" pitchFamily="18" charset="0"/>
                            </a:rPr>
                          </m:ctrlPr>
                        </m:dPr>
                        <m:e>
                          <m:d>
                            <m:dPr>
                              <m:ctrlPr>
                                <a:rPr kumimoji="0" lang="en-US" altLang="ko-KR" sz="1200" b="0" i="1">
                                  <a:latin typeface="Cambria Math" panose="02040503050406030204" pitchFamily="18" charset="0"/>
                                </a:rPr>
                              </m:ctrlPr>
                            </m:dPr>
                            <m:e>
                              <m:sSub>
                                <m:sSubPr>
                                  <m:ctrlPr>
                                    <a:rPr kumimoji="0" lang="en-US" altLang="ko-KR" sz="1200" b="0" i="1">
                                      <a:latin typeface="Cambria Math" panose="02040503050406030204" pitchFamily="18" charset="0"/>
                                    </a:rPr>
                                  </m:ctrlPr>
                                </m:sSubPr>
                                <m:e>
                                  <m:r>
                                    <a:rPr kumimoji="0" lang="en-US" altLang="ko-KR" sz="1200" b="0" i="1" smtClean="0">
                                      <a:latin typeface="Cambria Math" panose="02040503050406030204" pitchFamily="18" charset="0"/>
                                    </a:rPr>
                                    <m:t>𝑠</m:t>
                                  </m:r>
                                </m:e>
                                <m:sub>
                                  <m:r>
                                    <a:rPr kumimoji="0" lang="en-US" altLang="ko-KR" sz="1200" b="0" i="1" smtClean="0">
                                      <a:latin typeface="Cambria Math" panose="02040503050406030204" pitchFamily="18" charset="0"/>
                                    </a:rPr>
                                    <m:t>𝑡</m:t>
                                  </m:r>
                                </m:sub>
                              </m:sSub>
                              <m:r>
                                <a:rPr kumimoji="0" lang="en-US" altLang="ko-KR" sz="1200" b="0" i="1">
                                  <a:latin typeface="Cambria Math" panose="02040503050406030204" pitchFamily="18" charset="0"/>
                                </a:rPr>
                                <m:t>, </m:t>
                              </m:r>
                              <m:sSub>
                                <m:sSubPr>
                                  <m:ctrlPr>
                                    <a:rPr kumimoji="0" lang="en-US" altLang="ko-KR" sz="1200" b="0" i="1">
                                      <a:latin typeface="Cambria Math" panose="02040503050406030204" pitchFamily="18" charset="0"/>
                                    </a:rPr>
                                  </m:ctrlPr>
                                </m:sSubPr>
                                <m:e>
                                  <m:r>
                                    <a:rPr kumimoji="0" lang="en-US" altLang="ko-KR" sz="1200" b="0" i="1" smtClean="0">
                                      <a:latin typeface="Cambria Math" panose="02040503050406030204" pitchFamily="18" charset="0"/>
                                    </a:rPr>
                                    <m:t>𝑎</m:t>
                                  </m:r>
                                </m:e>
                                <m:sub>
                                  <m:r>
                                    <a:rPr kumimoji="0" lang="en-US" altLang="ko-KR" sz="1200" b="0" i="1" smtClean="0">
                                      <a:latin typeface="Cambria Math" panose="02040503050406030204" pitchFamily="18" charset="0"/>
                                    </a:rPr>
                                    <m:t>𝑡</m:t>
                                  </m:r>
                                </m:sub>
                              </m:sSub>
                            </m:e>
                          </m:d>
                          <m:r>
                            <a:rPr kumimoji="0" lang="en-US" altLang="ko-KR" sz="1200" b="0" i="1">
                              <a:latin typeface="Cambria Math" panose="02040503050406030204" pitchFamily="18" charset="0"/>
                            </a:rPr>
                            <m:t>:</m:t>
                          </m:r>
                          <m:d>
                            <m:dPr>
                              <m:ctrlPr>
                                <a:rPr kumimoji="0" lang="en-US" altLang="ko-KR" sz="1200" b="0" i="1" smtClean="0">
                                  <a:latin typeface="Cambria Math" panose="02040503050406030204" pitchFamily="18" charset="0"/>
                                </a:rPr>
                              </m:ctrlPr>
                            </m:dPr>
                            <m:e>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𝑠</m:t>
                                  </m:r>
                                </m:e>
                                <m:sub>
                                  <m:r>
                                    <a:rPr kumimoji="0" lang="en-US" altLang="ko-KR" sz="1200" b="0" i="1" smtClean="0">
                                      <a:latin typeface="Cambria Math" panose="02040503050406030204" pitchFamily="18" charset="0"/>
                                    </a:rPr>
                                    <m:t>𝑡</m:t>
                                  </m:r>
                                </m:sub>
                              </m:sSub>
                              <m:r>
                                <a:rPr kumimoji="0" lang="en-US" altLang="ko-KR" sz="1200" b="0" i="1" smtClean="0">
                                  <a:latin typeface="Cambria Math" panose="02040503050406030204" pitchFamily="18" charset="0"/>
                                </a:rPr>
                                <m:t>, </m:t>
                              </m:r>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𝑎</m:t>
                                  </m:r>
                                </m:e>
                                <m:sub>
                                  <m:r>
                                    <a:rPr kumimoji="0" lang="en-US" altLang="ko-KR" sz="1200" b="0" i="1" smtClean="0">
                                      <a:latin typeface="Cambria Math" panose="02040503050406030204" pitchFamily="18" charset="0"/>
                                    </a:rPr>
                                    <m:t>𝑡</m:t>
                                  </m:r>
                                </m:sub>
                              </m:sSub>
                              <m:r>
                                <a:rPr kumimoji="0" lang="en-US" altLang="ko-KR" sz="1200" b="0" i="1" smtClean="0">
                                  <a:latin typeface="Cambria Math" panose="02040503050406030204" pitchFamily="18" charset="0"/>
                                </a:rPr>
                                <m:t>, </m:t>
                              </m:r>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𝐺</m:t>
                                  </m:r>
                                </m:e>
                                <m:sub>
                                  <m:r>
                                    <a:rPr kumimoji="0" lang="en-US" altLang="ko-KR" sz="1200" b="0" i="1" smtClean="0">
                                      <a:latin typeface="Cambria Math" panose="02040503050406030204" pitchFamily="18" charset="0"/>
                                    </a:rPr>
                                    <m:t>𝑡</m:t>
                                  </m:r>
                                </m:sub>
                              </m:sSub>
                            </m:e>
                          </m:d>
                          <m:r>
                            <a:rPr kumimoji="0" lang="en-US" altLang="ko-KR" sz="1200" b="0" i="1" smtClean="0">
                              <a:latin typeface="Cambria Math" panose="02040503050406030204" pitchFamily="18" charset="0"/>
                            </a:rPr>
                            <m:t>∈</m:t>
                          </m:r>
                          <m:sSup>
                            <m:sSupPr>
                              <m:ctrlPr>
                                <a:rPr kumimoji="0" lang="en-US" altLang="ko-KR" sz="1200" b="0" i="1" smtClean="0">
                                  <a:latin typeface="Cambria Math" panose="02040503050406030204" pitchFamily="18" charset="0"/>
                                </a:rPr>
                              </m:ctrlPr>
                            </m:sSupPr>
                            <m:e>
                              <m:r>
                                <a:rPr kumimoji="0" lang="en-US" altLang="ko-KR" sz="1200" b="0" i="1" smtClean="0">
                                  <a:latin typeface="Cambria Math" panose="02040503050406030204" pitchFamily="18" charset="0"/>
                                </a:rPr>
                                <m:t>𝑇</m:t>
                              </m:r>
                            </m:e>
                            <m:sup>
                              <m:r>
                                <a:rPr kumimoji="0" lang="en-US" altLang="ko-KR" sz="1200" b="0" i="1" smtClean="0">
                                  <a:latin typeface="Cambria Math" panose="02040503050406030204" pitchFamily="18" charset="0"/>
                                </a:rPr>
                                <m:t>′</m:t>
                              </m:r>
                            </m:sup>
                          </m:sSup>
                          <m:r>
                            <a:rPr kumimoji="0" lang="en-US" altLang="ko-KR" sz="1200" b="0" i="1" smtClean="0">
                              <a:latin typeface="Cambria Math" panose="02040503050406030204" pitchFamily="18" charset="0"/>
                            </a:rPr>
                            <m:t>, </m:t>
                          </m:r>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𝐺</m:t>
                              </m:r>
                            </m:e>
                            <m:sub>
                              <m:r>
                                <a:rPr kumimoji="0" lang="en-US" altLang="ko-KR" sz="1200" b="0" i="1" smtClean="0">
                                  <a:latin typeface="Cambria Math" panose="02040503050406030204" pitchFamily="18" charset="0"/>
                                </a:rPr>
                                <m:t>𝑡</m:t>
                              </m:r>
                            </m:sub>
                          </m:sSub>
                          <m:r>
                            <a:rPr kumimoji="0" lang="en-US" altLang="ko-KR" sz="1200" b="0" i="1" smtClean="0">
                              <a:latin typeface="Cambria Math" panose="02040503050406030204" pitchFamily="18" charset="0"/>
                            </a:rPr>
                            <m:t>≥</m:t>
                          </m:r>
                          <m:r>
                            <a:rPr kumimoji="0" lang="en-US" altLang="ko-KR" sz="1200" b="0" i="1" smtClean="0">
                              <a:latin typeface="Cambria Math" panose="02040503050406030204" pitchFamily="18" charset="0"/>
                            </a:rPr>
                            <m:t>𝜏</m:t>
                          </m:r>
                        </m:e>
                      </m:d>
                    </m:oMath>
                  </m:oMathPara>
                </a14:m>
                <a:endParaRPr kumimoji="0" lang="en-US" altLang="ko-KR" sz="1200" b="0" dirty="0"/>
              </a:p>
              <a:p>
                <a:r>
                  <a:rPr kumimoji="0" lang="ko-KR" altLang="en-US" sz="1200" b="0" dirty="0" err="1"/>
                  <a:t>를</a:t>
                </a:r>
                <a:r>
                  <a:rPr kumimoji="0" lang="ko-KR" altLang="en-US" sz="1200" b="0" dirty="0"/>
                  <a:t> 얻는 것이며</a:t>
                </a:r>
                <a:r>
                  <a:rPr kumimoji="0" lang="en-US" altLang="ko-KR" sz="1200" b="0" dirty="0"/>
                  <a:t>, </a:t>
                </a:r>
                <a:r>
                  <a:rPr kumimoji="0" lang="ko-KR" altLang="en-US" sz="1200" b="0" dirty="0"/>
                  <a:t>적당히 </a:t>
                </a:r>
                <a:r>
                  <a:rPr kumimoji="0" lang="en-US" altLang="ko-KR" sz="1200" b="0" dirty="0"/>
                  <a:t>rearrange</a:t>
                </a:r>
                <a:r>
                  <a:rPr kumimoji="0" lang="ko-KR" altLang="en-US" sz="1200" b="0" dirty="0"/>
                  <a:t>하여 </a:t>
                </a:r>
                <a:endParaRPr kumimoji="0" lang="en-US" altLang="ko-KR" sz="1200" b="0" dirty="0"/>
              </a:p>
              <a:p>
                <a:r>
                  <a:rPr kumimoji="0" lang="ko-KR" altLang="en-US" sz="1200" b="0" dirty="0"/>
                  <a:t> </a:t>
                </a:r>
                <a:endParaRPr kumimoji="0" lang="en-US" altLang="ko-KR" sz="1200" b="0" dirty="0"/>
              </a:p>
              <a:p>
                <a:pPr/>
                <a14:m>
                  <m:oMathPara xmlns:m="http://schemas.openxmlformats.org/officeDocument/2006/math">
                    <m:oMathParaPr>
                      <m:jc m:val="centerGroup"/>
                    </m:oMathParaPr>
                    <m:oMath xmlns:m="http://schemas.openxmlformats.org/officeDocument/2006/math">
                      <m:r>
                        <a:rPr kumimoji="0" lang="en-US" altLang="ko-KR" sz="1200" b="0" i="1">
                          <a:latin typeface="Cambria Math" panose="02040503050406030204" pitchFamily="18" charset="0"/>
                        </a:rPr>
                        <m:t>𝐷</m:t>
                      </m:r>
                      <m:r>
                        <a:rPr kumimoji="0" lang="en-US" altLang="ko-KR" sz="1200" b="0" i="1">
                          <a:latin typeface="Cambria Math" panose="02040503050406030204" pitchFamily="18" charset="0"/>
                        </a:rPr>
                        <m:t>=</m:t>
                      </m:r>
                      <m:d>
                        <m:dPr>
                          <m:begChr m:val="{"/>
                          <m:endChr m:val="}"/>
                          <m:ctrlPr>
                            <a:rPr kumimoji="0" lang="en-US" altLang="ko-KR" sz="1200" b="0" i="1">
                              <a:latin typeface="Cambria Math" panose="02040503050406030204" pitchFamily="18" charset="0"/>
                            </a:rPr>
                          </m:ctrlPr>
                        </m:dPr>
                        <m:e>
                          <m:d>
                            <m:dPr>
                              <m:ctrlPr>
                                <a:rPr kumimoji="0" lang="en-US" altLang="ko-KR" sz="1200" b="0" i="1">
                                  <a:latin typeface="Cambria Math" panose="02040503050406030204" pitchFamily="18" charset="0"/>
                                </a:rPr>
                              </m:ctrlPr>
                            </m:dPr>
                            <m:e>
                              <m:sSub>
                                <m:sSubPr>
                                  <m:ctrlPr>
                                    <a:rPr kumimoji="0" lang="en-US" altLang="ko-KR" sz="1200" b="0" i="1">
                                      <a:latin typeface="Cambria Math" panose="02040503050406030204" pitchFamily="18" charset="0"/>
                                    </a:rPr>
                                  </m:ctrlPr>
                                </m:sSubPr>
                                <m:e>
                                  <m:r>
                                    <a:rPr kumimoji="0" lang="en-US" altLang="ko-KR" sz="1200" b="0" i="1">
                                      <a:latin typeface="Cambria Math" panose="02040503050406030204" pitchFamily="18" charset="0"/>
                                    </a:rPr>
                                    <m:t>𝑠</m:t>
                                  </m:r>
                                </m:e>
                                <m:sub>
                                  <m:r>
                                    <a:rPr kumimoji="0" lang="en-US" altLang="ko-KR" sz="1200" b="0" i="1">
                                      <a:latin typeface="Cambria Math" panose="02040503050406030204" pitchFamily="18" charset="0"/>
                                    </a:rPr>
                                    <m:t>𝑡</m:t>
                                  </m:r>
                                </m:sub>
                              </m:sSub>
                              <m:r>
                                <a:rPr kumimoji="0" lang="en-US" altLang="ko-KR" sz="1200" b="0" i="1">
                                  <a:latin typeface="Cambria Math" panose="02040503050406030204" pitchFamily="18" charset="0"/>
                                </a:rPr>
                                <m:t>, </m:t>
                              </m:r>
                              <m:sSub>
                                <m:sSubPr>
                                  <m:ctrlPr>
                                    <a:rPr kumimoji="0" lang="en-US" altLang="ko-KR" sz="1200" b="0" i="1">
                                      <a:latin typeface="Cambria Math" panose="02040503050406030204" pitchFamily="18" charset="0"/>
                                    </a:rPr>
                                  </m:ctrlPr>
                                </m:sSubPr>
                                <m:e>
                                  <m:r>
                                    <a:rPr kumimoji="0" lang="en-US" altLang="ko-KR" sz="1200" b="0" i="1">
                                      <a:latin typeface="Cambria Math" panose="02040503050406030204" pitchFamily="18" charset="0"/>
                                    </a:rPr>
                                    <m:t>𝑎</m:t>
                                  </m:r>
                                </m:e>
                                <m:sub>
                                  <m:r>
                                    <a:rPr kumimoji="0" lang="en-US" altLang="ko-KR" sz="1200" b="0" i="1">
                                      <a:latin typeface="Cambria Math" panose="02040503050406030204" pitchFamily="18" charset="0"/>
                                    </a:rPr>
                                    <m:t>𝑡</m:t>
                                  </m:r>
                                </m:sub>
                              </m:sSub>
                            </m:e>
                          </m:d>
                          <m:r>
                            <a:rPr kumimoji="0" lang="en-US" altLang="ko-KR" sz="1200" b="0" i="1">
                              <a:latin typeface="Cambria Math" panose="02040503050406030204" pitchFamily="18" charset="0"/>
                            </a:rPr>
                            <m:t>:</m:t>
                          </m:r>
                          <m:r>
                            <a:rPr kumimoji="0" lang="en-US" altLang="ko-KR" sz="1200" b="0" i="1" smtClean="0">
                              <a:latin typeface="Cambria Math" panose="02040503050406030204" pitchFamily="18" charset="0"/>
                            </a:rPr>
                            <m:t>1≤</m:t>
                          </m:r>
                          <m:r>
                            <a:rPr kumimoji="0" lang="en-US" altLang="ko-KR" sz="1200" b="0" i="1" smtClean="0">
                              <a:latin typeface="Cambria Math" panose="02040503050406030204" pitchFamily="18" charset="0"/>
                            </a:rPr>
                            <m:t>𝑡</m:t>
                          </m:r>
                          <m:r>
                            <a:rPr kumimoji="0" lang="en-US" altLang="ko-KR" sz="1200" b="0" i="1" smtClean="0">
                              <a:latin typeface="Cambria Math" panose="02040503050406030204" pitchFamily="18" charset="0"/>
                            </a:rPr>
                            <m:t>≤</m:t>
                          </m:r>
                          <m:r>
                            <a:rPr kumimoji="0" lang="en-US" altLang="ko-KR" sz="1200" b="0" i="1" smtClean="0">
                              <a:latin typeface="Cambria Math" panose="02040503050406030204" pitchFamily="18" charset="0"/>
                            </a:rPr>
                            <m:t>𝑁</m:t>
                          </m:r>
                          <m:r>
                            <a:rPr kumimoji="0" lang="en-US" altLang="ko-KR" sz="1200" b="0" i="1" smtClean="0">
                              <a:latin typeface="Cambria Math" panose="02040503050406030204" pitchFamily="18" charset="0"/>
                            </a:rPr>
                            <m:t>′</m:t>
                          </m:r>
                        </m:e>
                      </m:d>
                    </m:oMath>
                  </m:oMathPara>
                </a14:m>
                <a:endParaRPr kumimoji="0" lang="en-US" altLang="ko-KR" sz="1200" b="0" dirty="0"/>
              </a:p>
              <a:p>
                <a:r>
                  <a:rPr kumimoji="0" lang="ko-KR" altLang="en-US" sz="1200" b="0" dirty="0" err="1"/>
                  <a:t>으로</a:t>
                </a:r>
                <a:r>
                  <a:rPr kumimoji="0" lang="ko-KR" altLang="en-US" sz="1200" b="0" dirty="0"/>
                  <a:t> 쓰면 이것은 정확히 지도학습 문제에서 필요한 데이터가 된다</a:t>
                </a:r>
                <a:r>
                  <a:rPr kumimoji="0" lang="en-US" altLang="ko-KR" sz="1200" b="0" dirty="0"/>
                  <a:t>. </a:t>
                </a:r>
                <a14:m>
                  <m:oMath xmlns:m="http://schemas.openxmlformats.org/officeDocument/2006/math">
                    <m:sSub>
                      <m:sSubPr>
                        <m:ctrlPr>
                          <a:rPr kumimoji="0" lang="en-US" altLang="ko-KR" sz="1200" b="0" i="1" dirty="0" smtClean="0">
                            <a:latin typeface="Cambria Math" panose="02040503050406030204" pitchFamily="18" charset="0"/>
                          </a:rPr>
                        </m:ctrlPr>
                      </m:sSubPr>
                      <m:e>
                        <m:r>
                          <a:rPr kumimoji="0" lang="en-US" altLang="ko-KR" sz="1200" b="0" i="1" dirty="0" smtClean="0">
                            <a:latin typeface="Cambria Math" panose="02040503050406030204" pitchFamily="18" charset="0"/>
                          </a:rPr>
                          <m:t>𝑠</m:t>
                        </m:r>
                      </m:e>
                      <m:sub>
                        <m:r>
                          <a:rPr kumimoji="0" lang="en-US" altLang="ko-KR" sz="1200" b="0" i="1" dirty="0" smtClean="0">
                            <a:latin typeface="Cambria Math" panose="02040503050406030204" pitchFamily="18" charset="0"/>
                          </a:rPr>
                          <m:t>𝑡</m:t>
                        </m:r>
                      </m:sub>
                    </m:sSub>
                  </m:oMath>
                </a14:m>
                <a:r>
                  <a:rPr kumimoji="0" lang="en-US" altLang="ko-KR" sz="1200" b="0" dirty="0"/>
                  <a:t>, </a:t>
                </a:r>
                <a14:m>
                  <m:oMath xmlns:m="http://schemas.openxmlformats.org/officeDocument/2006/math">
                    <m:sSub>
                      <m:sSubPr>
                        <m:ctrlPr>
                          <a:rPr kumimoji="0" lang="en-US" altLang="ko-KR" sz="1200" b="0" i="1" smtClean="0">
                            <a:latin typeface="Cambria Math" panose="02040503050406030204" pitchFamily="18" charset="0"/>
                          </a:rPr>
                        </m:ctrlPr>
                      </m:sSubPr>
                      <m:e>
                        <m:r>
                          <a:rPr kumimoji="0" lang="en-US" altLang="ko-KR" sz="1200" b="0" i="1" smtClean="0">
                            <a:latin typeface="Cambria Math" panose="02040503050406030204" pitchFamily="18" charset="0"/>
                          </a:rPr>
                          <m:t>𝑎</m:t>
                        </m:r>
                      </m:e>
                      <m:sub>
                        <m:r>
                          <a:rPr kumimoji="0" lang="en-US" altLang="ko-KR" sz="1200" b="0" i="1" smtClean="0">
                            <a:latin typeface="Cambria Math" panose="02040503050406030204" pitchFamily="18" charset="0"/>
                          </a:rPr>
                          <m:t>𝑡</m:t>
                        </m:r>
                      </m:sub>
                    </m:sSub>
                    <m:r>
                      <a:rPr kumimoji="0" lang="ko-KR" altLang="en-US" sz="1200" b="0" i="1">
                        <a:latin typeface="Cambria Math" panose="02040503050406030204" pitchFamily="18" charset="0"/>
                      </a:rPr>
                      <m:t>는</m:t>
                    </m:r>
                  </m:oMath>
                </a14:m>
                <a:r>
                  <a:rPr kumimoji="0" lang="ko-KR" altLang="en-US" sz="1200" b="0" dirty="0"/>
                  <a:t> 모두 실수이므로 </a:t>
                </a:r>
                <a:r>
                  <a:rPr kumimoji="0" lang="en-US" altLang="ko-KR" sz="1200" b="0" dirty="0"/>
                  <a:t>6</a:t>
                </a:r>
                <a:r>
                  <a:rPr kumimoji="0" lang="ko-KR" altLang="en-US" sz="1200" b="0" dirty="0"/>
                  <a:t>차원에서 </a:t>
                </a:r>
                <a:r>
                  <a:rPr kumimoji="0" lang="en-US" altLang="ko-KR" sz="1200" b="0" dirty="0"/>
                  <a:t>1</a:t>
                </a:r>
                <a:r>
                  <a:rPr kumimoji="0" lang="ko-KR" altLang="en-US" sz="1200" b="0" dirty="0"/>
                  <a:t>차원으로 가는 함수 </a:t>
                </a:r>
                <a14:m>
                  <m:oMath xmlns:m="http://schemas.openxmlformats.org/officeDocument/2006/math">
                    <m:r>
                      <a:rPr kumimoji="0" lang="en-US" altLang="ko-KR" sz="1200" b="0" i="1" smtClean="0">
                        <a:latin typeface="Cambria Math" panose="02040503050406030204" pitchFamily="18" charset="0"/>
                      </a:rPr>
                      <m:t>𝑎</m:t>
                    </m:r>
                    <m:r>
                      <a:rPr kumimoji="0" lang="en-US" altLang="ko-KR" sz="1200" b="0" i="1" smtClean="0">
                        <a:latin typeface="Cambria Math" panose="02040503050406030204" pitchFamily="18" charset="0"/>
                      </a:rPr>
                      <m:t>=</m:t>
                    </m:r>
                    <m:r>
                      <a:rPr kumimoji="0" lang="en-US" altLang="ko-KR" sz="1200" b="0" i="1" smtClean="0">
                        <a:latin typeface="Cambria Math" panose="02040503050406030204" pitchFamily="18" charset="0"/>
                      </a:rPr>
                      <m:t>𝑓</m:t>
                    </m:r>
                    <m:d>
                      <m:dPr>
                        <m:ctrlPr>
                          <a:rPr kumimoji="0" lang="en-US" altLang="ko-KR" sz="1200" b="0" i="1" smtClean="0">
                            <a:latin typeface="Cambria Math" panose="02040503050406030204" pitchFamily="18" charset="0"/>
                          </a:rPr>
                        </m:ctrlPr>
                      </m:dPr>
                      <m:e>
                        <m:r>
                          <a:rPr kumimoji="0" lang="en-US" altLang="ko-KR" sz="1200" b="0" i="1" smtClean="0">
                            <a:latin typeface="Cambria Math" panose="02040503050406030204" pitchFamily="18" charset="0"/>
                          </a:rPr>
                          <m:t>𝑠</m:t>
                        </m:r>
                      </m:e>
                    </m:d>
                  </m:oMath>
                </a14:m>
                <a:r>
                  <a:rPr kumimoji="0" lang="ko-KR" altLang="en-US" sz="1200" b="0" dirty="0"/>
                  <a:t>를 추정하면 되고 이것은 간단히 신경망을 통해 모델링할 수 있다</a:t>
                </a:r>
                <a:r>
                  <a:rPr kumimoji="0" lang="en-US" altLang="ko-KR" sz="1200" b="0" dirty="0"/>
                  <a:t>.</a:t>
                </a:r>
                <a:endParaRPr kumimoji="0" lang="ko-KR" altLang="en-US" sz="1200" b="0" dirty="0"/>
              </a:p>
            </p:txBody>
          </p:sp>
        </mc:Choice>
        <mc:Fallback xmlns="">
          <p:sp>
            <p:nvSpPr>
              <p:cNvPr id="8" name="텍스트 개체 틀 2">
                <a:extLst>
                  <a:ext uri="{FF2B5EF4-FFF2-40B4-BE49-F238E27FC236}">
                    <a16:creationId xmlns:a16="http://schemas.microsoft.com/office/drawing/2014/main" id="{6E54E1E6-B7A9-C4FA-EFC8-B8601519170F}"/>
                  </a:ext>
                </a:extLst>
              </p:cNvPr>
              <p:cNvSpPr txBox="1">
                <a:spLocks noRot="1" noChangeAspect="1" noMove="1" noResize="1" noEditPoints="1" noAdjustHandles="1" noChangeArrowheads="1" noChangeShapeType="1" noTextEdit="1"/>
              </p:cNvSpPr>
              <p:nvPr/>
            </p:nvSpPr>
            <p:spPr>
              <a:xfrm>
                <a:off x="362309" y="2199952"/>
                <a:ext cx="9270641" cy="3830350"/>
              </a:xfrm>
              <a:prstGeom prst="rect">
                <a:avLst/>
              </a:prstGeom>
              <a:blipFill>
                <a:blip r:embed="rId3"/>
                <a:stretch>
                  <a:fillRect/>
                </a:stretch>
              </a:blipFill>
              <a:ln w="38100">
                <a:solidFill>
                  <a:schemeClr val="tx1"/>
                </a:solidFill>
              </a:ln>
            </p:spPr>
            <p:txBody>
              <a:bodyPr/>
              <a:lstStyle/>
              <a:p>
                <a:r>
                  <a:rPr lang="ko-KR" altLang="en-US">
                    <a:noFill/>
                  </a:rPr>
                  <a:t> </a:t>
                </a:r>
              </a:p>
            </p:txBody>
          </p:sp>
        </mc:Fallback>
      </mc:AlternateContent>
    </p:spTree>
    <p:extLst>
      <p:ext uri="{BB962C8B-B14F-4D97-AF65-F5344CB8AC3E}">
        <p14:creationId xmlns:p14="http://schemas.microsoft.com/office/powerpoint/2010/main" val="37265755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2DBF2-0D68-F1CC-D563-FE8CB1F8690B}"/>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44AFA4BB-807E-1E9E-2542-478838EB26C1}"/>
              </a:ext>
            </a:extLst>
          </p:cNvPr>
          <p:cNvSpPr>
            <a:spLocks noGrp="1"/>
          </p:cNvSpPr>
          <p:nvPr>
            <p:ph type="body" sz="quarter" idx="10"/>
          </p:nvPr>
        </p:nvSpPr>
        <p:spPr/>
        <p:txBody>
          <a:bodyPr/>
          <a:lstStyle/>
          <a:p>
            <a:pPr marL="0" indent="0">
              <a:buNone/>
            </a:pPr>
            <a:r>
              <a:rPr lang="en-US" altLang="ko-KR" dirty="0"/>
              <a:t>IQL(Implicit Q-learning)</a:t>
            </a:r>
            <a:endParaRPr lang="ko-KR" altLang="en-US" dirty="0"/>
          </a:p>
        </p:txBody>
      </p:sp>
      <p:sp>
        <p:nvSpPr>
          <p:cNvPr id="4" name="제목 3">
            <a:extLst>
              <a:ext uri="{FF2B5EF4-FFF2-40B4-BE49-F238E27FC236}">
                <a16:creationId xmlns:a16="http://schemas.microsoft.com/office/drawing/2014/main" id="{A0205E14-ADC8-313D-7E5A-EB520FDB58D6}"/>
              </a:ext>
            </a:extLst>
          </p:cNvPr>
          <p:cNvSpPr>
            <a:spLocks noGrp="1"/>
          </p:cNvSpPr>
          <p:nvPr>
            <p:ph type="title"/>
          </p:nvPr>
        </p:nvSpPr>
        <p:spPr/>
        <p:txBody>
          <a:bodyPr/>
          <a:lstStyle/>
          <a:p>
            <a:r>
              <a:rPr lang="en-US" altLang="ko-KR" dirty="0"/>
              <a:t>2.3 </a:t>
            </a:r>
            <a:r>
              <a:rPr lang="ko-KR" altLang="en-US" dirty="0"/>
              <a:t>서부발전 강화학습 적용 </a:t>
            </a:r>
            <a:r>
              <a:rPr lang="en-US" altLang="ko-KR" dirty="0"/>
              <a:t>: IQL</a:t>
            </a:r>
            <a:endParaRPr lang="ko-KR" altLang="en-US" dirty="0"/>
          </a:p>
        </p:txBody>
      </p:sp>
      <p:sp>
        <p:nvSpPr>
          <p:cNvPr id="5" name="텍스트 개체 틀 4">
            <a:extLst>
              <a:ext uri="{FF2B5EF4-FFF2-40B4-BE49-F238E27FC236}">
                <a16:creationId xmlns:a16="http://schemas.microsoft.com/office/drawing/2014/main" id="{F011555A-2C00-688B-C8C4-3F3AA58D1ED8}"/>
              </a:ext>
            </a:extLst>
          </p:cNvPr>
          <p:cNvSpPr>
            <a:spLocks noGrp="1"/>
          </p:cNvSpPr>
          <p:nvPr>
            <p:ph type="body" sz="quarter" idx="12"/>
          </p:nvPr>
        </p:nvSpPr>
        <p:spPr/>
        <p:txBody>
          <a:bodyPr/>
          <a:lstStyle/>
          <a:p>
            <a:r>
              <a:rPr lang="ko-KR" altLang="en-US" dirty="0"/>
              <a:t>서부발전</a:t>
            </a:r>
          </a:p>
        </p:txBody>
      </p:sp>
      <p:sp>
        <p:nvSpPr>
          <p:cNvPr id="7" name="텍스트 개체 틀 6">
            <a:extLst>
              <a:ext uri="{FF2B5EF4-FFF2-40B4-BE49-F238E27FC236}">
                <a16:creationId xmlns:a16="http://schemas.microsoft.com/office/drawing/2014/main" id="{9A53D4EA-E459-E2CD-50EA-324D52EC92D0}"/>
              </a:ext>
            </a:extLst>
          </p:cNvPr>
          <p:cNvSpPr>
            <a:spLocks noGrp="1"/>
          </p:cNvSpPr>
          <p:nvPr>
            <p:ph type="body" sz="quarter" idx="11"/>
          </p:nvPr>
        </p:nvSpPr>
        <p:spPr/>
        <p:txBody>
          <a:bodyPr/>
          <a:lstStyle/>
          <a:p>
            <a:r>
              <a:rPr lang="en-US" altLang="ko-KR" dirty="0"/>
              <a:t>CQL</a:t>
            </a:r>
            <a:r>
              <a:rPr lang="ko-KR" altLang="en-US" dirty="0"/>
              <a:t>에 비해 간단한 알고리즘이기 때문에 적용해볼만 함</a:t>
            </a:r>
            <a:r>
              <a:rPr lang="en-US" altLang="ko-KR" dirty="0"/>
              <a:t>. </a:t>
            </a:r>
            <a:r>
              <a:rPr lang="ko-KR" altLang="en-US" dirty="0"/>
              <a:t>아직 상세한 사항은 숙지하지 못했음</a:t>
            </a:r>
            <a:r>
              <a:rPr lang="en-US" altLang="ko-KR" dirty="0"/>
              <a:t>.</a:t>
            </a:r>
            <a:endParaRPr lang="ko-KR" altLang="en-US" dirty="0"/>
          </a:p>
        </p:txBody>
      </p:sp>
    </p:spTree>
    <p:extLst>
      <p:ext uri="{BB962C8B-B14F-4D97-AF65-F5344CB8AC3E}">
        <p14:creationId xmlns:p14="http://schemas.microsoft.com/office/powerpoint/2010/main" val="2137858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46D8B-C9FA-48B5-936A-61C638439135}"/>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B4E88E88-D1F1-2A71-275A-0300AABC5E96}"/>
              </a:ext>
            </a:extLst>
          </p:cNvPr>
          <p:cNvSpPr>
            <a:spLocks noGrp="1"/>
          </p:cNvSpPr>
          <p:nvPr>
            <p:ph type="body" sz="quarter" idx="10"/>
          </p:nvPr>
        </p:nvSpPr>
        <p:spPr/>
        <p:txBody>
          <a:bodyPr/>
          <a:lstStyle/>
          <a:p>
            <a:pPr marL="0" indent="0">
              <a:buNone/>
            </a:pPr>
            <a:r>
              <a:rPr lang="ko-KR" altLang="en-US" dirty="0"/>
              <a:t>노드 테스트 지원</a:t>
            </a:r>
          </a:p>
        </p:txBody>
      </p:sp>
      <p:sp>
        <p:nvSpPr>
          <p:cNvPr id="4" name="제목 3">
            <a:extLst>
              <a:ext uri="{FF2B5EF4-FFF2-40B4-BE49-F238E27FC236}">
                <a16:creationId xmlns:a16="http://schemas.microsoft.com/office/drawing/2014/main" id="{C7E1C3C7-CAC0-C035-ADF4-2551D0064CB7}"/>
              </a:ext>
            </a:extLst>
          </p:cNvPr>
          <p:cNvSpPr>
            <a:spLocks noGrp="1"/>
          </p:cNvSpPr>
          <p:nvPr>
            <p:ph type="title"/>
          </p:nvPr>
        </p:nvSpPr>
        <p:spPr/>
        <p:txBody>
          <a:bodyPr/>
          <a:lstStyle/>
          <a:p>
            <a:r>
              <a:rPr lang="en-US" altLang="ko-KR" dirty="0"/>
              <a:t>2.4 </a:t>
            </a:r>
            <a:r>
              <a:rPr lang="ko-KR" altLang="en-US" dirty="0"/>
              <a:t>수정된 </a:t>
            </a:r>
            <a:r>
              <a:rPr lang="en-US" altLang="ko-KR" dirty="0"/>
              <a:t>IMS </a:t>
            </a:r>
            <a:r>
              <a:rPr lang="ko-KR" altLang="en-US" dirty="0"/>
              <a:t>노드</a:t>
            </a:r>
            <a:r>
              <a:rPr lang="en-US" altLang="ko-KR" dirty="0"/>
              <a:t>(DDPG)</a:t>
            </a:r>
            <a:r>
              <a:rPr lang="ko-KR" altLang="en-US" dirty="0"/>
              <a:t> 테스트 지원</a:t>
            </a:r>
          </a:p>
        </p:txBody>
      </p:sp>
      <p:sp>
        <p:nvSpPr>
          <p:cNvPr id="5" name="텍스트 개체 틀 4">
            <a:extLst>
              <a:ext uri="{FF2B5EF4-FFF2-40B4-BE49-F238E27FC236}">
                <a16:creationId xmlns:a16="http://schemas.microsoft.com/office/drawing/2014/main" id="{E0C5D4F4-F367-4D92-F8B0-494E1BB10032}"/>
              </a:ext>
            </a:extLst>
          </p:cNvPr>
          <p:cNvSpPr>
            <a:spLocks noGrp="1"/>
          </p:cNvSpPr>
          <p:nvPr>
            <p:ph type="body" sz="quarter" idx="12"/>
          </p:nvPr>
        </p:nvSpPr>
        <p:spPr/>
        <p:txBody>
          <a:bodyPr/>
          <a:lstStyle/>
          <a:p>
            <a:r>
              <a:rPr lang="ko-KR" altLang="en-US" dirty="0"/>
              <a:t>서부발전</a:t>
            </a:r>
          </a:p>
        </p:txBody>
      </p:sp>
      <p:sp>
        <p:nvSpPr>
          <p:cNvPr id="7" name="텍스트 개체 틀 6">
            <a:extLst>
              <a:ext uri="{FF2B5EF4-FFF2-40B4-BE49-F238E27FC236}">
                <a16:creationId xmlns:a16="http://schemas.microsoft.com/office/drawing/2014/main" id="{C942AA65-1644-F0BA-0C7D-FEA654116973}"/>
              </a:ext>
            </a:extLst>
          </p:cNvPr>
          <p:cNvSpPr>
            <a:spLocks noGrp="1"/>
          </p:cNvSpPr>
          <p:nvPr>
            <p:ph type="body" sz="quarter" idx="11"/>
          </p:nvPr>
        </p:nvSpPr>
        <p:spPr/>
        <p:txBody>
          <a:bodyPr/>
          <a:lstStyle/>
          <a:p>
            <a:r>
              <a:rPr lang="ko-KR" altLang="en-US" dirty="0"/>
              <a:t>현재 </a:t>
            </a:r>
            <a:r>
              <a:rPr lang="en-US" altLang="ko-KR" dirty="0"/>
              <a:t>DDPG</a:t>
            </a:r>
            <a:r>
              <a:rPr lang="ko-KR" altLang="en-US" dirty="0"/>
              <a:t>를 비롯한 강화학습 알고리즘들은 몇몇 데이터셋에 대해서만 테스트가 진행되었다</a:t>
            </a:r>
            <a:r>
              <a:rPr lang="en-US" altLang="ko-KR" dirty="0"/>
              <a:t>. </a:t>
            </a:r>
            <a:r>
              <a:rPr lang="ko-KR" altLang="en-US" dirty="0"/>
              <a:t>여기서 테스트라 함은</a:t>
            </a:r>
            <a:r>
              <a:rPr lang="en-US" altLang="ko-KR" dirty="0"/>
              <a:t>, agent</a:t>
            </a:r>
            <a:r>
              <a:rPr lang="ko-KR" altLang="en-US" dirty="0"/>
              <a:t>의 훈련 이후에 </a:t>
            </a:r>
            <a:r>
              <a:rPr lang="en-US" altLang="ko-KR" dirty="0"/>
              <a:t>agent</a:t>
            </a:r>
            <a:r>
              <a:rPr lang="ko-KR" altLang="en-US" dirty="0"/>
              <a:t>를 테스트하는 것이 아니라</a:t>
            </a:r>
            <a:r>
              <a:rPr lang="en-US" altLang="ko-KR" dirty="0"/>
              <a:t>, agent</a:t>
            </a:r>
            <a:r>
              <a:rPr lang="ko-KR" altLang="en-US" dirty="0"/>
              <a:t>의 훈련이 잘 되는지를 테스트하는 것을 말한다</a:t>
            </a:r>
            <a:r>
              <a:rPr lang="en-US" altLang="ko-KR" dirty="0"/>
              <a:t>. </a:t>
            </a:r>
            <a:r>
              <a:rPr lang="ko-KR" altLang="en-US" dirty="0"/>
              <a:t>다양한 조업 데이터 및 </a:t>
            </a:r>
            <a:r>
              <a:rPr lang="en-US" altLang="ko-KR" dirty="0"/>
              <a:t>tabular data</a:t>
            </a:r>
            <a:r>
              <a:rPr lang="ko-KR" altLang="en-US" dirty="0"/>
              <a:t>를 통해 연구소 팀의 </a:t>
            </a:r>
            <a:r>
              <a:rPr lang="en-US" altLang="ko-KR" dirty="0"/>
              <a:t>IMS </a:t>
            </a:r>
            <a:r>
              <a:rPr lang="ko-KR" altLang="en-US" dirty="0"/>
              <a:t>노드 테스트 지원을 할 예정</a:t>
            </a:r>
            <a:r>
              <a:rPr lang="en-US" altLang="ko-KR"/>
              <a:t>.</a:t>
            </a:r>
            <a:endParaRPr lang="ko-KR" altLang="en-US" dirty="0"/>
          </a:p>
        </p:txBody>
      </p:sp>
    </p:spTree>
    <p:extLst>
      <p:ext uri="{BB962C8B-B14F-4D97-AF65-F5344CB8AC3E}">
        <p14:creationId xmlns:p14="http://schemas.microsoft.com/office/powerpoint/2010/main" val="2486822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5842A-1982-9B79-4C4B-4674FF14239A}"/>
            </a:ext>
          </a:extLst>
        </p:cNvPr>
        <p:cNvGrpSpPr/>
        <p:nvPr/>
      </p:nvGrpSpPr>
      <p:grpSpPr>
        <a:xfrm>
          <a:off x="0" y="0"/>
          <a:ext cx="0" cy="0"/>
          <a:chOff x="0" y="0"/>
          <a:chExt cx="0" cy="0"/>
        </a:xfrm>
      </p:grpSpPr>
    </p:spTree>
    <p:extLst>
      <p:ext uri="{BB962C8B-B14F-4D97-AF65-F5344CB8AC3E}">
        <p14:creationId xmlns:p14="http://schemas.microsoft.com/office/powerpoint/2010/main" val="823893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AME" val="SingleBoatShape"/>
</p:tagLst>
</file>

<file path=ppt/tags/tag2.xml><?xml version="1.0" encoding="utf-8"?>
<p:tagLst xmlns:a="http://schemas.openxmlformats.org/drawingml/2006/main" xmlns:r="http://schemas.openxmlformats.org/officeDocument/2006/relationships" xmlns:p="http://schemas.openxmlformats.org/presentationml/2006/main">
  <p:tag name="NAME" val="SingleBoatText"/>
</p:tagLst>
</file>

<file path=ppt/tags/tag3.xml><?xml version="1.0" encoding="utf-8"?>
<p:tagLst xmlns:a="http://schemas.openxmlformats.org/drawingml/2006/main" xmlns:r="http://schemas.openxmlformats.org/officeDocument/2006/relationships" xmlns:p="http://schemas.openxmlformats.org/presentationml/2006/main">
  <p:tag name="NAME" val="SingleBoatShape"/>
</p:tagLst>
</file>

<file path=ppt/tags/tag4.xml><?xml version="1.0" encoding="utf-8"?>
<p:tagLst xmlns:a="http://schemas.openxmlformats.org/drawingml/2006/main" xmlns:r="http://schemas.openxmlformats.org/officeDocument/2006/relationships" xmlns:p="http://schemas.openxmlformats.org/presentationml/2006/main">
  <p:tag name="NAME" val="SingleBoatText"/>
</p:tagLst>
</file>

<file path=ppt/tags/tag5.xml><?xml version="1.0" encoding="utf-8"?>
<p:tagLst xmlns:a="http://schemas.openxmlformats.org/drawingml/2006/main" xmlns:r="http://schemas.openxmlformats.org/officeDocument/2006/relationships" xmlns:p="http://schemas.openxmlformats.org/presentationml/2006/main">
  <p:tag name="NAME" val="SingleBoatShape"/>
</p:tagLst>
</file>

<file path=ppt/tags/tag6.xml><?xml version="1.0" encoding="utf-8"?>
<p:tagLst xmlns:a="http://schemas.openxmlformats.org/drawingml/2006/main" xmlns:r="http://schemas.openxmlformats.org/officeDocument/2006/relationships" xmlns:p="http://schemas.openxmlformats.org/presentationml/2006/main">
  <p:tag name="NAME" val="SingleBoatText"/>
</p:tagLst>
</file>

<file path=ppt/theme/theme1.xml><?xml version="1.0" encoding="utf-8"?>
<a:theme xmlns:a="http://schemas.openxmlformats.org/drawingml/2006/main" name="1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1AA0CA"/>
        </a:solidFill>
        <a:ln>
          <a:noFill/>
        </a:ln>
        <a:effectLst/>
      </a:spPr>
      <a:bodyPr rtlCol="0" anchor="ctr"/>
      <a:lstStyle>
        <a:defPPr algn="ctr" defTabSz="911896">
          <a:defRPr dirty="0">
            <a:solidFill>
              <a:prstClr val="white"/>
            </a:solidFill>
            <a:latin typeface="맑은 고딕" panose="020B0503020000020004" pitchFamily="50" charset="-127"/>
            <a:ea typeface="맑은 고딕" panose="020B0503020000020004" pitchFamily="50" charset="-127"/>
          </a:defRPr>
        </a:defPPr>
      </a:lstStyle>
      <a:style>
        <a:lnRef idx="2">
          <a:schemeClr val="accent2">
            <a:shade val="50000"/>
          </a:schemeClr>
        </a:lnRef>
        <a:fillRef idx="1">
          <a:schemeClr val="accent2"/>
        </a:fillRef>
        <a:effectRef idx="0">
          <a:schemeClr val="accent2"/>
        </a:effectRef>
        <a:fontRef idx="minor">
          <a:schemeClr val="lt1"/>
        </a:fontRef>
      </a:style>
    </a:spDef>
    <a:txDef>
      <a:spPr>
        <a:noFill/>
      </a:spPr>
      <a:bodyPr wrap="square" rtlCol="0">
        <a:spAutoFit/>
      </a:bodyPr>
      <a:lstStyle>
        <a:defPPr algn="l">
          <a:defRPr b="0" smtClean="0">
            <a:latin typeface="+mn-ea"/>
            <a:ea typeface="+mn-ea"/>
          </a:defRPr>
        </a:defPPr>
      </a:lstStyle>
    </a:txDef>
  </a:objectDefaults>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제조분야 사업 실적_수정안</Template>
  <TotalTime>92830</TotalTime>
  <Words>2194</Words>
  <Application>Microsoft Office PowerPoint</Application>
  <PresentationFormat>A4 용지(210x297mm)</PresentationFormat>
  <Paragraphs>242</Paragraphs>
  <Slides>20</Slides>
  <Notes>5</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20</vt:i4>
      </vt:variant>
    </vt:vector>
  </HeadingPairs>
  <TitlesOfParts>
    <vt:vector size="27" baseType="lpstr">
      <vt:lpstr>굴림</vt:lpstr>
      <vt:lpstr>맑은 고딕</vt:lpstr>
      <vt:lpstr>Arial</vt:lpstr>
      <vt:lpstr>Cambria Math</vt:lpstr>
      <vt:lpstr>Times New Roman</vt:lpstr>
      <vt:lpstr>Wingdings</vt:lpstr>
      <vt:lpstr>1_디자인 사용자 지정</vt:lpstr>
      <vt:lpstr>PowerPoint 프레젠테이션</vt:lpstr>
      <vt:lpstr>PowerPoint 프레젠테이션</vt:lpstr>
      <vt:lpstr>PowerPoint 프레젠테이션</vt:lpstr>
      <vt:lpstr>1.1 강화학습 이론 파악</vt:lpstr>
      <vt:lpstr>1.1 강화학습 이론 파악</vt:lpstr>
      <vt:lpstr>1.1 강화학습 이론 파악</vt:lpstr>
      <vt:lpstr>1.1 강화학습 이론 파악</vt:lpstr>
      <vt:lpstr>1.2 강화학습 예제 코드 작성 : Q-learning - 온도제어</vt:lpstr>
      <vt:lpstr>1.2 강화학습 예제 코드 작성 : DDPG - MountainCar</vt:lpstr>
      <vt:lpstr>1.3 서부발전 문제 적용 : 해결방안</vt:lpstr>
      <vt:lpstr>1.3 서부발전 문제 적용 : Offline RL</vt:lpstr>
      <vt:lpstr>PowerPoint 프레젠테이션</vt:lpstr>
      <vt:lpstr>2.1 강화학습 testbed 환경 구축 및 실험 : testbed 환경의 필요성</vt:lpstr>
      <vt:lpstr>2.1 강화학습 testbed 환경 구축 및 실험 : testbed 환경의 필요성</vt:lpstr>
      <vt:lpstr>2.1 강화학습 testbed 환경 구축 및 실험</vt:lpstr>
      <vt:lpstr>2.2 서부발전 문제에 맞는 알고리즘 case-study</vt:lpstr>
      <vt:lpstr>2.3 서부발전 강화학습 적용 : Behavior Cloning</vt:lpstr>
      <vt:lpstr>2.3 서부발전 강화학습 적용 : IQL</vt:lpstr>
      <vt:lpstr>2.4 수정된 IMS 노드(DDPG) 테스트 지원</vt:lpstr>
      <vt:lpstr>PowerPoint 프레젠테이션</vt:lpstr>
    </vt:vector>
  </TitlesOfParts>
  <Company>ECMIner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0</dc:title>
  <dc:creator>ECMiner</dc:creator>
  <cp:lastModifiedBy>ECM</cp:lastModifiedBy>
  <cp:revision>6313</cp:revision>
  <cp:lastPrinted>2025-07-14T07:44:34Z</cp:lastPrinted>
  <dcterms:created xsi:type="dcterms:W3CDTF">2011-12-28T05:39:44Z</dcterms:created>
  <dcterms:modified xsi:type="dcterms:W3CDTF">2025-11-05T00:18:27Z</dcterms:modified>
</cp:coreProperties>
</file>